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5" r:id="rId2"/>
    <p:sldId id="408" r:id="rId3"/>
    <p:sldId id="355" r:id="rId4"/>
    <p:sldId id="428" r:id="rId5"/>
    <p:sldId id="432" r:id="rId6"/>
    <p:sldId id="379" r:id="rId7"/>
    <p:sldId id="433" r:id="rId8"/>
    <p:sldId id="431" r:id="rId9"/>
    <p:sldId id="429" r:id="rId10"/>
    <p:sldId id="256" r:id="rId11"/>
    <p:sldId id="430" r:id="rId12"/>
    <p:sldId id="427" r:id="rId13"/>
    <p:sldId id="402" r:id="rId14"/>
    <p:sldId id="403" r:id="rId15"/>
    <p:sldId id="354" r:id="rId16"/>
    <p:sldId id="413" r:id="rId17"/>
  </p:sldIdLst>
  <p:sldSz cx="12192000" cy="6858000"/>
  <p:notesSz cx="6797675" cy="992663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Памятка" id="{9DC1EB48-7A23-4D47-AFCD-712C6EC1BF11}">
          <p14:sldIdLst>
            <p14:sldId id="265"/>
            <p14:sldId id="408"/>
            <p14:sldId id="355"/>
            <p14:sldId id="428"/>
            <p14:sldId id="432"/>
            <p14:sldId id="379"/>
            <p14:sldId id="433"/>
            <p14:sldId id="431"/>
            <p14:sldId id="429"/>
            <p14:sldId id="256"/>
            <p14:sldId id="430"/>
            <p14:sldId id="427"/>
            <p14:sldId id="402"/>
            <p14:sldId id="403"/>
            <p14:sldId id="354"/>
            <p14:sldId id="413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1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F2EF0"/>
    <a:srgbClr val="FF5001"/>
    <a:srgbClr val="F48052"/>
    <a:srgbClr val="171831"/>
    <a:srgbClr val="1C125C"/>
    <a:srgbClr val="9E89C1"/>
    <a:srgbClr val="CBC0DE"/>
    <a:srgbClr val="FAC5B0"/>
    <a:srgbClr val="F15E23"/>
    <a:srgbClr val="70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25" autoAdjust="0"/>
    <p:restoredTop sz="92926" autoAdjust="0"/>
  </p:normalViewPr>
  <p:slideViewPr>
    <p:cSldViewPr snapToGrid="0">
      <p:cViewPr varScale="1">
        <p:scale>
          <a:sx n="108" d="100"/>
          <a:sy n="108" d="100"/>
        </p:scale>
        <p:origin x="660" y="126"/>
      </p:cViewPr>
      <p:guideLst>
        <p:guide pos="3840"/>
        <p:guide orient="horz" pos="211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82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synology-sigir.box.corp\homefiles\Sokolovskayaal\&#1055;&#1053;%20&#1089;&#1086;&#1074;&#1077;&#1097;&#1072;&#1085;&#1080;&#1077;\&#1043;&#1088;&#1072;&#1092;&#1080;&#1082;%20&#1080;&#1089;&#1087;&#1086;&#1083;&#1085;&#1077;&#1085;&#1080;&#1103;%20&#1073;&#1102;&#1076;&#1078;&#1077;&#1090;&#1072;%20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\\synology-sigir.box.corp\homefiles\Sokolovskayaal\&#1055;&#1053;%20&#1089;&#1086;&#1074;&#1077;&#1097;&#1072;&#1085;&#1080;&#1077;\&#1043;&#1088;&#1072;&#1092;&#1080;&#1082;%20&#1080;&#1089;&#1087;&#1086;&#1083;&#1085;&#1077;&#1085;&#1080;&#1103;%20&#1073;&#1102;&#1076;&#1078;&#1077;&#1090;&#1072;%20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Операционная прибыль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'2026'!$C$5</c:f>
              <c:strCache>
                <c:ptCount val="1"/>
                <c:pt idx="0">
                  <c:v> план  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'2026'!$B$6:$B$11</c:f>
              <c:strCache>
                <c:ptCount val="6"/>
                <c:pt idx="0">
                  <c:v>январь</c:v>
                </c:pt>
                <c:pt idx="1">
                  <c:v>февраль</c:v>
                </c:pt>
                <c:pt idx="2">
                  <c:v>март </c:v>
                </c:pt>
                <c:pt idx="3">
                  <c:v>апрель</c:v>
                </c:pt>
                <c:pt idx="4">
                  <c:v>май </c:v>
                </c:pt>
                <c:pt idx="5">
                  <c:v>июнь прогноз</c:v>
                </c:pt>
              </c:strCache>
            </c:strRef>
          </c:cat>
          <c:val>
            <c:numRef>
              <c:f>'2026'!$C$6:$C$11</c:f>
              <c:numCache>
                <c:formatCode>_-* #\ ##0_-;\-* #\ ##0_-;_-* "-"??_-;_-@_-</c:formatCode>
                <c:ptCount val="6"/>
                <c:pt idx="0">
                  <c:v>15389186.434176296</c:v>
                </c:pt>
                <c:pt idx="1">
                  <c:v>14294891.983404547</c:v>
                </c:pt>
                <c:pt idx="2">
                  <c:v>17001703.833559185</c:v>
                </c:pt>
                <c:pt idx="3">
                  <c:v>26096839.706576496</c:v>
                </c:pt>
                <c:pt idx="4">
                  <c:v>22682738.655453384</c:v>
                </c:pt>
                <c:pt idx="5">
                  <c:v>28757225.321272105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CE-4B56-BB57-493CA79B23D7}"/>
            </c:ext>
          </c:extLst>
        </c:ser>
        <c:ser>
          <c:idx val="1"/>
          <c:order val="1"/>
          <c:tx>
            <c:strRef>
              <c:f>'2026'!$D$5</c:f>
              <c:strCache>
                <c:ptCount val="1"/>
                <c:pt idx="0">
                  <c:v> факт 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'2026'!$B$6:$B$11</c:f>
              <c:strCache>
                <c:ptCount val="6"/>
                <c:pt idx="0">
                  <c:v>январь</c:v>
                </c:pt>
                <c:pt idx="1">
                  <c:v>февраль</c:v>
                </c:pt>
                <c:pt idx="2">
                  <c:v>март </c:v>
                </c:pt>
                <c:pt idx="3">
                  <c:v>апрель</c:v>
                </c:pt>
                <c:pt idx="4">
                  <c:v>май </c:v>
                </c:pt>
                <c:pt idx="5">
                  <c:v>июнь прогноз</c:v>
                </c:pt>
              </c:strCache>
            </c:strRef>
          </c:cat>
          <c:val>
            <c:numRef>
              <c:f>'2026'!$D$6:$D$11</c:f>
              <c:numCache>
                <c:formatCode>_-* #\ ##0_-;\-* #\ ##0_-;_-* "-"??_-;_-@_-</c:formatCode>
                <c:ptCount val="6"/>
                <c:pt idx="0">
                  <c:v>13556334.402412638</c:v>
                </c:pt>
                <c:pt idx="1">
                  <c:v>11373310.249227017</c:v>
                </c:pt>
                <c:pt idx="2">
                  <c:v>29836881.338923842</c:v>
                </c:pt>
                <c:pt idx="3">
                  <c:v>45710469.389213085</c:v>
                </c:pt>
                <c:pt idx="4">
                  <c:v>34419010.270027697</c:v>
                </c:pt>
                <c:pt idx="5">
                  <c:v>25470782.33141309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CE-4B56-BB57-493CA79B23D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1147009391"/>
        <c:axId val="1147013711"/>
      </c:barChart>
      <c:catAx>
        <c:axId val="114700939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47013711"/>
        <c:crosses val="autoZero"/>
        <c:auto val="1"/>
        <c:lblAlgn val="ctr"/>
        <c:lblOffset val="100"/>
        <c:noMultiLvlLbl val="0"/>
      </c:catAx>
      <c:valAx>
        <c:axId val="1147013711"/>
        <c:scaling>
          <c:orientation val="minMax"/>
        </c:scaling>
        <c:delete val="1"/>
        <c:axPos val="l"/>
        <c:numFmt formatCode="_-* #\ ##0_-;\-* #\ ##0_-;_-* &quot;-&quot;??_-;_-@_-" sourceLinked="1"/>
        <c:majorTickMark val="none"/>
        <c:minorTickMark val="none"/>
        <c:tickLblPos val="nextTo"/>
        <c:crossAx val="11470093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8.1019649218785586E-2"/>
          <c:y val="0.12782793510766324"/>
          <c:w val="0.21761330702148585"/>
          <c:h val="6.711636098815679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Выручка без внф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'2026'!$J$5</c:f>
              <c:strCache>
                <c:ptCount val="1"/>
                <c:pt idx="0">
                  <c:v> план 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'2026'!$I$6:$I$11</c:f>
              <c:strCache>
                <c:ptCount val="6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  </c:v>
                </c:pt>
                <c:pt idx="5">
                  <c:v>июнь прогноз</c:v>
                </c:pt>
              </c:strCache>
            </c:strRef>
          </c:cat>
          <c:val>
            <c:numRef>
              <c:f>'2026'!$J$6:$J$11</c:f>
              <c:numCache>
                <c:formatCode>#,##0</c:formatCode>
                <c:ptCount val="6"/>
                <c:pt idx="0">
                  <c:v>122828331.95355192</c:v>
                </c:pt>
                <c:pt idx="1">
                  <c:v>122310864.12131149</c:v>
                </c:pt>
                <c:pt idx="2">
                  <c:v>186360426.07377049</c:v>
                </c:pt>
                <c:pt idx="3">
                  <c:v>202861990.5557377</c:v>
                </c:pt>
                <c:pt idx="4">
                  <c:v>192505345.50163934</c:v>
                </c:pt>
                <c:pt idx="5">
                  <c:v>224428941.43879783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25-4701-A0B9-21AFEFD062A5}"/>
            </c:ext>
          </c:extLst>
        </c:ser>
        <c:ser>
          <c:idx val="1"/>
          <c:order val="1"/>
          <c:tx>
            <c:strRef>
              <c:f>'2026'!$K$5</c:f>
              <c:strCache>
                <c:ptCount val="1"/>
                <c:pt idx="0">
                  <c:v> факт 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'2026'!$I$6:$I$11</c:f>
              <c:strCache>
                <c:ptCount val="6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  </c:v>
                </c:pt>
                <c:pt idx="5">
                  <c:v>июнь прогноз</c:v>
                </c:pt>
              </c:strCache>
            </c:strRef>
          </c:cat>
          <c:val>
            <c:numRef>
              <c:f>'2026'!$K$6:$K$11</c:f>
              <c:numCache>
                <c:formatCode>#,##0</c:formatCode>
                <c:ptCount val="6"/>
                <c:pt idx="0">
                  <c:v>95662040.246174872</c:v>
                </c:pt>
                <c:pt idx="1">
                  <c:v>263219711.46208742</c:v>
                </c:pt>
                <c:pt idx="2">
                  <c:v>243591822.04333445</c:v>
                </c:pt>
                <c:pt idx="3">
                  <c:v>225371789.18144265</c:v>
                </c:pt>
                <c:pt idx="4">
                  <c:v>170391691.10895082</c:v>
                </c:pt>
                <c:pt idx="5">
                  <c:v>180000000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325-4701-A0B9-21AFEFD062A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601419248"/>
        <c:axId val="601426928"/>
      </c:barChart>
      <c:catAx>
        <c:axId val="6014192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01426928"/>
        <c:crosses val="autoZero"/>
        <c:auto val="1"/>
        <c:lblAlgn val="ctr"/>
        <c:lblOffset val="100"/>
        <c:noMultiLvlLbl val="0"/>
      </c:catAx>
      <c:valAx>
        <c:axId val="601426928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6014192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72389768846461777"/>
          <c:y val="0.103799587041293"/>
          <c:w val="0.22573529660143835"/>
          <c:h val="5.74481662993245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Лист1!$A$2</c:f>
              <c:strCache>
                <c:ptCount val="1"/>
                <c:pt idx="0">
                  <c:v>МСК-КРСН</c:v>
                </c:pt>
              </c:strCache>
            </c:strRef>
          </c:tx>
          <c:spPr>
            <a:ln w="317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Лист1!$B$1:$F$1</c:f>
              <c:strCache>
                <c:ptCount val="5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</c:strCache>
            </c:strRef>
          </c:cat>
          <c:val>
            <c:numRef>
              <c:f>Лист1!$B$2:$F$2</c:f>
              <c:numCache>
                <c:formatCode>General</c:formatCode>
                <c:ptCount val="5"/>
                <c:pt idx="0">
                  <c:v>79</c:v>
                </c:pt>
                <c:pt idx="1">
                  <c:v>211</c:v>
                </c:pt>
                <c:pt idx="2">
                  <c:v>181</c:v>
                </c:pt>
                <c:pt idx="3">
                  <c:v>288</c:v>
                </c:pt>
                <c:pt idx="4">
                  <c:v>295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6A4-4A9D-A857-86842FE3B4D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69148752"/>
        <c:axId val="569150392"/>
      </c:lineChart>
      <c:catAx>
        <c:axId val="5691487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69150392"/>
        <c:crosses val="autoZero"/>
        <c:auto val="1"/>
        <c:lblAlgn val="ctr"/>
        <c:lblOffset val="100"/>
        <c:noMultiLvlLbl val="0"/>
      </c:catAx>
      <c:valAx>
        <c:axId val="569150392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5691487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Прочие</a:t>
            </a:r>
            <a:r>
              <a:rPr lang="ru-RU" baseline="0"/>
              <a:t> направления</a:t>
            </a:r>
            <a:endParaRPr lang="ru-R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Лист1!$A$22</c:f>
              <c:strCache>
                <c:ptCount val="1"/>
                <c:pt idx="0">
                  <c:v>КРСН-ВЛД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Лист1!$B$21:$F$21</c:f>
              <c:strCache>
                <c:ptCount val="5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</c:strCache>
            </c:strRef>
          </c:cat>
          <c:val>
            <c:numRef>
              <c:f>Лист1!$B$22:$F$22</c:f>
              <c:numCache>
                <c:formatCode>General</c:formatCode>
                <c:ptCount val="5"/>
                <c:pt idx="1">
                  <c:v>3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EE-4291-B3E5-272E1E199164}"/>
            </c:ext>
          </c:extLst>
        </c:ser>
        <c:ser>
          <c:idx val="1"/>
          <c:order val="1"/>
          <c:tx>
            <c:strRef>
              <c:f>Лист1!$A$23</c:f>
              <c:strCache>
                <c:ptCount val="1"/>
                <c:pt idx="0">
                  <c:v>МСК-НСК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Лист1!$B$21:$F$21</c:f>
              <c:strCache>
                <c:ptCount val="5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</c:strCache>
            </c:strRef>
          </c:cat>
          <c:val>
            <c:numRef>
              <c:f>Лист1!$B$23:$F$23</c:f>
              <c:numCache>
                <c:formatCode>General</c:formatCode>
                <c:ptCount val="5"/>
                <c:pt idx="1">
                  <c:v>1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CEE-4291-B3E5-272E1E199164}"/>
            </c:ext>
          </c:extLst>
        </c:ser>
        <c:ser>
          <c:idx val="2"/>
          <c:order val="2"/>
          <c:tx>
            <c:strRef>
              <c:f>Лист1!$A$24</c:f>
              <c:strCache>
                <c:ptCount val="1"/>
                <c:pt idx="0">
                  <c:v>МСК-ОМСК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Лист1!$B$21:$F$21</c:f>
              <c:strCache>
                <c:ptCount val="5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</c:strCache>
            </c:strRef>
          </c:cat>
          <c:val>
            <c:numRef>
              <c:f>Лист1!$B$24:$F$24</c:f>
              <c:numCache>
                <c:formatCode>General</c:formatCode>
                <c:ptCount val="5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CEE-4291-B3E5-272E1E199164}"/>
            </c:ext>
          </c:extLst>
        </c:ser>
        <c:ser>
          <c:idx val="3"/>
          <c:order val="3"/>
          <c:tx>
            <c:strRef>
              <c:f>Лист1!$A$25</c:f>
              <c:strCache>
                <c:ptCount val="1"/>
                <c:pt idx="0">
                  <c:v>МСК-ВЛД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Лист1!$B$21:$F$21</c:f>
              <c:strCache>
                <c:ptCount val="5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</c:strCache>
            </c:strRef>
          </c:cat>
          <c:val>
            <c:numRef>
              <c:f>Лист1!$B$25:$F$25</c:f>
              <c:numCache>
                <c:formatCode>General</c:formatCode>
                <c:ptCount val="5"/>
                <c:pt idx="2">
                  <c:v>1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CEE-4291-B3E5-272E1E1991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71670904"/>
        <c:axId val="571663032"/>
      </c:barChart>
      <c:catAx>
        <c:axId val="571670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71663032"/>
        <c:crosses val="autoZero"/>
        <c:auto val="1"/>
        <c:lblAlgn val="ctr"/>
        <c:lblOffset val="100"/>
        <c:noMultiLvlLbl val="0"/>
      </c:catAx>
      <c:valAx>
        <c:axId val="5716630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716709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00E76C-7180-4B86-9E2B-BBA2E0D3732B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528A5D-F6A4-4A81-9BC9-B86F8EF2C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5856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28A5D-F6A4-4A81-9BC9-B86F8EF2CA8C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8489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28A5D-F6A4-4A81-9BC9-B86F8EF2CA8C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81439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528A5D-F6A4-4A81-9BC9-B86F8EF2CA8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7078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28A5D-F6A4-4A81-9BC9-B86F8EF2CA8C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61807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28A5D-F6A4-4A81-9BC9-B86F8EF2CA8C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55223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28A5D-F6A4-4A81-9BC9-B86F8EF2CA8C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55223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28A5D-F6A4-4A81-9BC9-B86F8EF2CA8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03410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28A5D-F6A4-4A81-9BC9-B86F8EF2CA8C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70784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16EB3-AE72-457F-88D8-2980DC42E0C4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3280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28A5D-F6A4-4A81-9BC9-B86F8EF2CA8C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01390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528A5D-F6A4-4A81-9BC9-B86F8EF2CA8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70784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28A5D-F6A4-4A81-9BC9-B86F8EF2CA8C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70784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28A5D-F6A4-4A81-9BC9-B86F8EF2CA8C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9123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C0475D-44A4-46F5-A6C7-A32DBE4CBB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B1ADBE4-E2DA-49E4-B876-96AC69E009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AF4D37-66FC-4B87-9EFE-0F762D080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A4563-9080-4AE4-A7DA-4A98DA793E9C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B4FE39-66D6-4E0F-B875-5CEDF7312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B4838BA-073C-42DB-A578-4D95ACA2C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599AD-BE82-41F3-870D-3A54964911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2135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417C21-05EB-4BC7-BDB2-0DEF79D8B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A9328A-F5E3-455A-A98C-4F6A0854B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ACC9AB-8E61-45C2-8023-FAA0E9D74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A4563-9080-4AE4-A7DA-4A98DA793E9C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ED96EC-7663-47BF-890D-B576BBD2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EF67F3-3D44-4622-8EDD-179F57942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599AD-BE82-41F3-870D-3A54964911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3978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D30509-7599-4908-8519-28194C544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760C78-F240-4645-8832-A3147C796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4BDD39-E40F-4DC7-8ACE-7AD42A495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A4563-9080-4AE4-A7DA-4A98DA793E9C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19541A-A680-4187-99F7-7EB08A28F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39CB950-5586-4A86-BEA4-1FA7A8DAF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599AD-BE82-41F3-870D-3A54964911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7141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77337C-A990-4CB9-B392-DCCE3E36F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BB5626-F8E8-464F-BEC3-D8171D9E0E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028C730-4FEB-4AE9-806B-06AB1CD607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CBA57DF-E961-4B9A-A1E0-C14F31AB2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A4563-9080-4AE4-A7DA-4A98DA793E9C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65BA55E-A38F-4F2D-B253-F864FC7E7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8FBF26C-4F0B-4DBC-BDB6-1F5D8A1E1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599AD-BE82-41F3-870D-3A54964911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267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174BED-A5E4-423A-938D-449428AC3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5227AC1-6346-4F31-889D-5F0AE0542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C19407D-5C89-421F-8295-5C03B9F582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51FC52D-C782-43D7-A66F-FD1DB82848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D59541F-FACE-404B-ABBC-CF2BF45D07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EC70B3E-01DB-4801-8B61-773C4D4DA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A4563-9080-4AE4-A7DA-4A98DA793E9C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0B3637E-CAB9-44CA-9248-C105C1FEC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E7D044A-A9DC-4B6F-9EE9-218BFE9B5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599AD-BE82-41F3-870D-3A54964911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1641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C1CD65-693A-4868-B2B7-645F6548A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297D93F-FADA-441C-9209-830A1CEA2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A4563-9080-4AE4-A7DA-4A98DA793E9C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A8427EE-6717-45F8-84B0-2D3F423E5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22EB2E1-589C-46A9-B49F-201B6ACD9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599AD-BE82-41F3-870D-3A54964911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7629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B13C3B9-AD5A-44FA-AC25-C04F3B5D7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A4563-9080-4AE4-A7DA-4A98DA793E9C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806AE67-8AA6-4B59-893C-9596A9EE2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1CDA950-B93E-42FC-A0AA-BD97551A1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599AD-BE82-41F3-870D-3A54964911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6899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78AACD-83C7-4C37-9BAB-8AAE51B2F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79D91F-25F7-40B9-842F-7B493BBC6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6A33FD8-D09E-4BCF-9D8C-2C8C3881B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A6DA4BD-99D7-4682-A537-E4959D41B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A4563-9080-4AE4-A7DA-4A98DA793E9C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8FC76D1-E50E-4905-BE25-0839A53BA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5A7D4E8-60A8-4719-B7F0-914D23324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599AD-BE82-41F3-870D-3A54964911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2286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7F6956-B4F4-496A-B955-F8CB29320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24D8A30-9224-4A27-9CF1-DE42298653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7E64B71-D67C-4E5A-85DB-7D5C53247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83F2863-6AD0-4C55-84CC-0AF39DD78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A4563-9080-4AE4-A7DA-4A98DA793E9C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3B197C-6073-42D5-A62A-BD3C19CCA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D281E25-B6B2-400A-B983-7B1D797D6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599AD-BE82-41F3-870D-3A54964911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5360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311797-338A-4AD9-A262-56129C55C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4A00C8F-4A11-48C0-9F4C-2E8C9EAED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C901F1-9B27-4E3F-B4F0-CEB5D1C1F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A4563-9080-4AE4-A7DA-4A98DA793E9C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E03431-26FE-4C50-8CDE-8ADA52AEC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E3DC41-FC81-4A15-BA87-8A06B4597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599AD-BE82-41F3-870D-3A54964911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4010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FB7C344-F5F9-4C38-ABD7-F693BE3351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016AA9E-5D13-4331-9A4D-63D7F208FA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A30564-03DE-4C97-9156-AC6C7F765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A4563-9080-4AE4-A7DA-4A98DA793E9C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E1B589-BEC8-4ED5-B24E-6680B4B3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2C99D7-AE3C-4644-A20F-BDEB0AF73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599AD-BE82-41F3-870D-3A54964911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1646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6CC09A-4CA1-4EE0-96C3-2C5109F7C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F5EE037-03A4-41EE-81B9-62C21E863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DD1C0F-9419-48B1-959C-36B97609AD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6A4563-9080-4AE4-A7DA-4A98DA793E9C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1F42C6-C0F7-4526-9DBD-7B05B6AD84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8A2973-ABE9-4DDD-BFC3-AA6694D2CB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6599AD-BE82-41F3-870D-3A54964911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8317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877C06C-37F7-4CD2-B149-82DF5B6E1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6287" y="-83829"/>
            <a:ext cx="12364573" cy="7025657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256D169-F379-4159-94F1-4182F4940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6287" y="-89277"/>
            <a:ext cx="12364573" cy="702565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F878D7D-4011-454F-873C-425D66275C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568" y="776114"/>
            <a:ext cx="1602658" cy="480319"/>
          </a:xfrm>
          <a:prstGeom prst="rect">
            <a:avLst/>
          </a:prstGeom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AA3C9F02-A23D-4655-849D-5DD42C7FE0B9}"/>
              </a:ext>
            </a:extLst>
          </p:cNvPr>
          <p:cNvSpPr txBox="1">
            <a:spLocks/>
          </p:cNvSpPr>
          <p:nvPr/>
        </p:nvSpPr>
        <p:spPr>
          <a:xfrm>
            <a:off x="2580229" y="2186975"/>
            <a:ext cx="6565491" cy="195344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6000" b="1" dirty="0">
                <a:solidFill>
                  <a:schemeClr val="bg1"/>
                </a:solidFill>
                <a:latin typeface="Circe" panose="020B0502020203020203" pitchFamily="34" charset="-52"/>
              </a:rPr>
              <a:t>Еженедельное собрание</a:t>
            </a:r>
            <a:endParaRPr lang="ru-RU" sz="6000" b="1" dirty="0">
              <a:solidFill>
                <a:srgbClr val="1C125C"/>
              </a:solidFill>
              <a:latin typeface="Circe" panose="020B0502020203020203" pitchFamily="34" charset="-52"/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7246D56B-4F36-4890-BDDB-37E60CD18BD6}"/>
              </a:ext>
            </a:extLst>
          </p:cNvPr>
          <p:cNvSpPr txBox="1">
            <a:spLocks/>
          </p:cNvSpPr>
          <p:nvPr/>
        </p:nvSpPr>
        <p:spPr>
          <a:xfrm>
            <a:off x="4668686" y="5337297"/>
            <a:ext cx="6565491" cy="85931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</a:pPr>
            <a:r>
              <a:rPr lang="ru-RU" sz="4000" b="1" dirty="0">
                <a:solidFill>
                  <a:schemeClr val="bg1"/>
                </a:solidFill>
                <a:latin typeface="Circe" panose="020B0502020203020203" pitchFamily="34" charset="-52"/>
              </a:rPr>
              <a:t>22 июня 2026 г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95CCC340-37B1-4D63-9424-349380C311DF}"/>
              </a:ext>
            </a:extLst>
          </p:cNvPr>
          <p:cNvSpPr txBox="1">
            <a:spLocks/>
          </p:cNvSpPr>
          <p:nvPr/>
        </p:nvSpPr>
        <p:spPr>
          <a:xfrm>
            <a:off x="0" y="5337297"/>
            <a:ext cx="6565491" cy="195344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ru-RU" sz="4000" b="1" dirty="0">
              <a:solidFill>
                <a:srgbClr val="1C125C"/>
              </a:solidFill>
              <a:latin typeface="Circe" panose="020B0502020203020203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49566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5"/>
          <p:cNvSpPr txBox="1">
            <a:spLocks/>
          </p:cNvSpPr>
          <p:nvPr/>
        </p:nvSpPr>
        <p:spPr>
          <a:xfrm>
            <a:off x="-30429" y="4547610"/>
            <a:ext cx="1259969" cy="42962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>
                <a:solidFill>
                  <a:srgbClr val="F15E23"/>
                </a:solidFill>
                <a:latin typeface="Circe Bold" panose="020B0602020203020203" pitchFamily="34" charset="-52"/>
              </a:rPr>
              <a:t>Планы: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6335363B-45DF-9751-4BD6-4C5E24766429}"/>
              </a:ext>
            </a:extLst>
          </p:cNvPr>
          <p:cNvSpPr/>
          <p:nvPr/>
        </p:nvSpPr>
        <p:spPr>
          <a:xfrm>
            <a:off x="1257206" y="5853805"/>
            <a:ext cx="3554132" cy="81480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dirty="0">
                <a:solidFill>
                  <a:srgbClr val="573D8C"/>
                </a:solidFill>
                <a:latin typeface="Circe Bold" panose="020B0602020203020203" pitchFamily="34" charset="-52"/>
              </a:rPr>
              <a:t>Отпуск/больничный:</a:t>
            </a:r>
          </a:p>
          <a:p>
            <a:br>
              <a:rPr lang="ru-RU" dirty="0">
                <a:solidFill>
                  <a:srgbClr val="573D8C"/>
                </a:solidFill>
                <a:latin typeface="Circe Bold" panose="020B0602020203020203" pitchFamily="34" charset="-52"/>
              </a:rPr>
            </a:br>
            <a:endParaRPr lang="ru-RU" sz="1200" b="1" dirty="0">
              <a:solidFill>
                <a:schemeClr val="dk1"/>
              </a:solidFill>
              <a:latin typeface="Circe Light" panose="020B0402020203020203" pitchFamily="34" charset="-52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BCF1F14A-6FDA-24E9-7C51-8933152CBD72}"/>
              </a:ext>
            </a:extLst>
          </p:cNvPr>
          <p:cNvSpPr/>
          <p:nvPr/>
        </p:nvSpPr>
        <p:spPr>
          <a:xfrm>
            <a:off x="4915032" y="5853805"/>
            <a:ext cx="3586637" cy="81480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dirty="0">
                <a:solidFill>
                  <a:srgbClr val="573D8C"/>
                </a:solidFill>
                <a:latin typeface="Circe Bold" panose="020B0602020203020203" pitchFamily="34" charset="-52"/>
              </a:rPr>
              <a:t>Командировка: 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EBB6B4EE-9212-B926-F679-9088D90F2025}"/>
              </a:ext>
            </a:extLst>
          </p:cNvPr>
          <p:cNvSpPr/>
          <p:nvPr/>
        </p:nvSpPr>
        <p:spPr>
          <a:xfrm>
            <a:off x="8585596" y="5873679"/>
            <a:ext cx="3606404" cy="79492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dirty="0">
                <a:solidFill>
                  <a:srgbClr val="573D8C"/>
                </a:solidFill>
                <a:latin typeface="Circe Bold" panose="020B0602020203020203" pitchFamily="34" charset="-52"/>
              </a:rPr>
              <a:t>Найм/увольнение: </a:t>
            </a:r>
          </a:p>
        </p:txBody>
      </p: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52CEA26A-7F52-3B88-DA76-5BD16F089AB3}"/>
              </a:ext>
            </a:extLst>
          </p:cNvPr>
          <p:cNvCxnSpPr>
            <a:cxnSpLocks/>
          </p:cNvCxnSpPr>
          <p:nvPr/>
        </p:nvCxnSpPr>
        <p:spPr>
          <a:xfrm flipV="1">
            <a:off x="932873" y="5807667"/>
            <a:ext cx="11219411" cy="23912"/>
          </a:xfrm>
          <a:prstGeom prst="line">
            <a:avLst/>
          </a:prstGeom>
          <a:ln w="762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Заголовок 5">
            <a:extLst>
              <a:ext uri="{FF2B5EF4-FFF2-40B4-BE49-F238E27FC236}">
                <a16:creationId xmlns:a16="http://schemas.microsoft.com/office/drawing/2014/main" id="{4A4D1A42-7213-7676-C6E8-EC6269A27A08}"/>
              </a:ext>
            </a:extLst>
          </p:cNvPr>
          <p:cNvSpPr txBox="1">
            <a:spLocks/>
          </p:cNvSpPr>
          <p:nvPr/>
        </p:nvSpPr>
        <p:spPr>
          <a:xfrm>
            <a:off x="1810" y="5841514"/>
            <a:ext cx="1227730" cy="42962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>
                <a:solidFill>
                  <a:srgbClr val="F15E23"/>
                </a:solidFill>
                <a:latin typeface="Circe Bold" panose="020B0602020203020203" pitchFamily="34" charset="-52"/>
              </a:rPr>
              <a:t>Отдел:</a:t>
            </a:r>
          </a:p>
        </p:txBody>
      </p:sp>
      <p:sp>
        <p:nvSpPr>
          <p:cNvPr id="45" name="Заголовок 5">
            <a:extLst>
              <a:ext uri="{FF2B5EF4-FFF2-40B4-BE49-F238E27FC236}">
                <a16:creationId xmlns:a16="http://schemas.microsoft.com/office/drawing/2014/main" id="{2686E590-86DC-F5FF-49A9-21FF1D41473E}"/>
              </a:ext>
            </a:extLst>
          </p:cNvPr>
          <p:cNvSpPr txBox="1">
            <a:spLocks/>
          </p:cNvSpPr>
          <p:nvPr/>
        </p:nvSpPr>
        <p:spPr>
          <a:xfrm>
            <a:off x="-45597" y="3403549"/>
            <a:ext cx="1259968" cy="42962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dirty="0">
                <a:solidFill>
                  <a:srgbClr val="F15E23"/>
                </a:solidFill>
                <a:latin typeface="Circe Bold" panose="020B0602020203020203" pitchFamily="34" charset="-52"/>
              </a:rPr>
              <a:t>События:</a:t>
            </a:r>
          </a:p>
        </p:txBody>
      </p:sp>
      <p:sp>
        <p:nvSpPr>
          <p:cNvPr id="67" name="Заголовок 5">
            <a:extLst>
              <a:ext uri="{FF2B5EF4-FFF2-40B4-BE49-F238E27FC236}">
                <a16:creationId xmlns:a16="http://schemas.microsoft.com/office/drawing/2014/main" id="{1D13394D-344E-A521-4F29-07FCB464C04C}"/>
              </a:ext>
            </a:extLst>
          </p:cNvPr>
          <p:cNvSpPr txBox="1">
            <a:spLocks/>
          </p:cNvSpPr>
          <p:nvPr/>
        </p:nvSpPr>
        <p:spPr>
          <a:xfrm>
            <a:off x="11682" y="416832"/>
            <a:ext cx="1853403" cy="92058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dirty="0">
                <a:solidFill>
                  <a:srgbClr val="F15E23"/>
                </a:solidFill>
                <a:latin typeface="Circe Bold" panose="020B0602020203020203" pitchFamily="34" charset="-52"/>
              </a:rPr>
              <a:t>Отправки КП</a:t>
            </a:r>
          </a:p>
          <a:p>
            <a:r>
              <a:rPr lang="ru-RU" sz="1800" dirty="0">
                <a:solidFill>
                  <a:srgbClr val="F15E23"/>
                </a:solidFill>
                <a:latin typeface="Circe Bold" panose="020B0602020203020203" pitchFamily="34" charset="-52"/>
              </a:rPr>
              <a:t>в адрес терминала:</a:t>
            </a:r>
          </a:p>
        </p:txBody>
      </p:sp>
      <p:sp>
        <p:nvSpPr>
          <p:cNvPr id="75" name="Заголовок 5">
            <a:extLst>
              <a:ext uri="{FF2B5EF4-FFF2-40B4-BE49-F238E27FC236}">
                <a16:creationId xmlns:a16="http://schemas.microsoft.com/office/drawing/2014/main" id="{A7AD4376-F2C2-6E62-2B55-2326376B2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650" y="7114"/>
            <a:ext cx="12196650" cy="366155"/>
          </a:xfrm>
          <a:solidFill>
            <a:srgbClr val="002060"/>
          </a:solidFill>
          <a:ln>
            <a:noFill/>
          </a:ln>
        </p:spPr>
        <p:txBody>
          <a:bodyPr>
            <a:normAutofit fontScale="90000"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Circe Light"/>
              </a:rPr>
              <a:t>Директор по Перевозкам</a:t>
            </a:r>
          </a:p>
        </p:txBody>
      </p:sp>
      <p:cxnSp>
        <p:nvCxnSpPr>
          <p:cNvPr id="79" name="Прямая соединительная линия 78">
            <a:extLst>
              <a:ext uri="{FF2B5EF4-FFF2-40B4-BE49-F238E27FC236}">
                <a16:creationId xmlns:a16="http://schemas.microsoft.com/office/drawing/2014/main" id="{3AD8CAEE-62BF-0D1B-E8AF-23C2572425DD}"/>
              </a:ext>
            </a:extLst>
          </p:cNvPr>
          <p:cNvCxnSpPr>
            <a:cxnSpLocks/>
          </p:cNvCxnSpPr>
          <p:nvPr/>
        </p:nvCxnSpPr>
        <p:spPr>
          <a:xfrm>
            <a:off x="1122449" y="5726567"/>
            <a:ext cx="10840257" cy="0"/>
          </a:xfrm>
          <a:prstGeom prst="line">
            <a:avLst/>
          </a:prstGeom>
          <a:ln>
            <a:solidFill>
              <a:srgbClr val="1C125C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65933BC-38D2-65D8-56D6-0B2E96912980}"/>
              </a:ext>
            </a:extLst>
          </p:cNvPr>
          <p:cNvSpPr/>
          <p:nvPr/>
        </p:nvSpPr>
        <p:spPr>
          <a:xfrm>
            <a:off x="1592330" y="3683237"/>
            <a:ext cx="10370375" cy="695562"/>
          </a:xfrm>
          <a:prstGeom prst="rect">
            <a:avLst/>
          </a:prstGeom>
          <a:noFill/>
          <a:ln w="3175">
            <a:solidFill>
              <a:srgbClr val="573D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ru-RU" sz="1400" dirty="0">
              <a:solidFill>
                <a:schemeClr val="tx1"/>
              </a:solidFill>
              <a:latin typeface="Circe Light" panose="020B0402020203020203" pitchFamily="34" charset="-52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33E88543-97C7-FF7B-CBB9-B2C6C875FF0A}"/>
              </a:ext>
            </a:extLst>
          </p:cNvPr>
          <p:cNvGraphicFramePr>
            <a:graphicFrameLocks noGrp="1"/>
          </p:cNvGraphicFramePr>
          <p:nvPr/>
        </p:nvGraphicFramePr>
        <p:xfrm>
          <a:off x="1592332" y="433748"/>
          <a:ext cx="4013710" cy="307968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2687621">
                  <a:extLst>
                    <a:ext uri="{9D8B030D-6E8A-4147-A177-3AD203B41FA5}">
                      <a16:colId xmlns:a16="http://schemas.microsoft.com/office/drawing/2014/main" val="3645586646"/>
                    </a:ext>
                  </a:extLst>
                </a:gridCol>
                <a:gridCol w="1326089">
                  <a:extLst>
                    <a:ext uri="{9D8B030D-6E8A-4147-A177-3AD203B41FA5}">
                      <a16:colId xmlns:a16="http://schemas.microsoft.com/office/drawing/2014/main" val="2734455834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Circe Light" panose="020B0402020203020203" pitchFamily="34" charset="-52"/>
                        </a:rPr>
                        <a:t>Оператор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Circe Light" panose="020B0402020203020203" pitchFamily="34" charset="-52"/>
                        </a:rPr>
                        <a:t>Количество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01142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ru-RU" sz="1000" b="1" dirty="0">
                          <a:latin typeface="Circe Light" panose="020B0402020203020203" pitchFamily="34" charset="-52"/>
                        </a:rPr>
                        <a:t>Бизнес Актив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 dirty="0">
                          <a:latin typeface="Circe Light" panose="020B0402020203020203" pitchFamily="34" charset="-52"/>
                        </a:rPr>
                        <a:t>3/2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923114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ru-RU" sz="1000" b="1" dirty="0">
                          <a:latin typeface="Circe Light" panose="020B0402020203020203" pitchFamily="34" charset="-52"/>
                        </a:rPr>
                        <a:t>Силикатная ФИТ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 dirty="0">
                          <a:latin typeface="Circe Light" panose="020B0402020203020203" pitchFamily="34" charset="-52"/>
                        </a:rPr>
                        <a:t>3/2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89977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ru-RU" sz="1000" b="1" dirty="0">
                          <a:latin typeface="Circe Light" panose="020B0402020203020203" pitchFamily="34" charset="-52"/>
                        </a:rPr>
                        <a:t>Владивосток ФИТ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 dirty="0">
                          <a:latin typeface="Circe Light" panose="020B0402020203020203" pitchFamily="34" charset="-52"/>
                        </a:rPr>
                        <a:t>1/1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725431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ru-RU" sz="1000" b="1" dirty="0">
                          <a:latin typeface="Circe Light" panose="020B0402020203020203" pitchFamily="34" charset="-52"/>
                        </a:rPr>
                        <a:t>Санкт-Петербург ФИТ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 dirty="0">
                          <a:latin typeface="Circe Light" panose="020B0402020203020203" pitchFamily="34" charset="-52"/>
                        </a:rPr>
                        <a:t>1/1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541423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ru-RU" sz="1000" b="1" dirty="0">
                          <a:latin typeface="Circe Light" panose="020B0402020203020203" pitchFamily="34" charset="-52"/>
                        </a:rPr>
                        <a:t>СКЛ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 dirty="0">
                          <a:latin typeface="Circe Light" panose="020B0402020203020203" pitchFamily="34" charset="-52"/>
                        </a:rPr>
                        <a:t>2/2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75831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>
                          <a:latin typeface="Circe Light" panose="020B0402020203020203" pitchFamily="34" charset="-52"/>
                        </a:rPr>
                        <a:t>Транзит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 dirty="0">
                          <a:latin typeface="Circe Light" panose="020B0402020203020203" pitchFamily="34" charset="-52"/>
                        </a:rPr>
                        <a:t>0</a:t>
                      </a:r>
                      <a:r>
                        <a:rPr lang="en-US" sz="1000" b="1" dirty="0">
                          <a:latin typeface="Circe Light" panose="020B0402020203020203" pitchFamily="34" charset="-52"/>
                        </a:rPr>
                        <a:t>/</a:t>
                      </a:r>
                      <a:r>
                        <a:rPr lang="ru-RU" sz="1000" b="1" dirty="0">
                          <a:latin typeface="Circe Light" panose="020B0402020203020203" pitchFamily="34" charset="-52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387849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>
                          <a:latin typeface="Circe Light" panose="020B0402020203020203" pitchFamily="34" charset="-52"/>
                        </a:rPr>
                        <a:t>Перегруз ФИТ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 dirty="0">
                          <a:latin typeface="Circe Light" panose="020B0402020203020203" pitchFamily="34" charset="-52"/>
                        </a:rPr>
                        <a:t>0/0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662603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00" b="1" dirty="0">
                        <a:latin typeface="Circe Light" panose="020B0402020203020203" pitchFamily="34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 b="1" dirty="0">
                        <a:latin typeface="Circe Light" panose="020B0402020203020203" pitchFamily="34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25825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endParaRPr lang="ru-RU" sz="1000" b="1" dirty="0">
                        <a:latin typeface="Circe Light" panose="020B0402020203020203" pitchFamily="34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 b="1" dirty="0">
                        <a:latin typeface="Circe Light" panose="020B0402020203020203" pitchFamily="34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796536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ru-RU" sz="1000" b="1" dirty="0">
                          <a:latin typeface="Circe Light" panose="020B0402020203020203" pitchFamily="34" charset="-52"/>
                        </a:rPr>
                        <a:t>ИТОГО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 dirty="0">
                          <a:latin typeface="Circe Light" panose="020B0402020203020203" pitchFamily="34" charset="-52"/>
                        </a:rPr>
                        <a:t>10/8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132464"/>
                  </a:ext>
                </a:extLst>
              </a:tr>
            </a:tbl>
          </a:graphicData>
        </a:graphic>
      </p:graphicFrame>
      <p:sp>
        <p:nvSpPr>
          <p:cNvPr id="4" name="Заголовок 5">
            <a:extLst>
              <a:ext uri="{FF2B5EF4-FFF2-40B4-BE49-F238E27FC236}">
                <a16:creationId xmlns:a16="http://schemas.microsoft.com/office/drawing/2014/main" id="{1DB0CB1A-F004-0F63-6A56-A6A978902529}"/>
              </a:ext>
            </a:extLst>
          </p:cNvPr>
          <p:cNvSpPr txBox="1">
            <a:spLocks/>
          </p:cNvSpPr>
          <p:nvPr/>
        </p:nvSpPr>
        <p:spPr>
          <a:xfrm>
            <a:off x="6329458" y="465901"/>
            <a:ext cx="1629292" cy="36615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dirty="0">
                <a:solidFill>
                  <a:srgbClr val="F15E23"/>
                </a:solidFill>
                <a:latin typeface="Circe Bold" panose="020B0602020203020203" pitchFamily="34" charset="-52"/>
              </a:rPr>
              <a:t>План на месяц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4E46C87-4815-B0E3-98CA-495DB3075D5D}"/>
              </a:ext>
            </a:extLst>
          </p:cNvPr>
          <p:cNvSpPr/>
          <p:nvPr/>
        </p:nvSpPr>
        <p:spPr>
          <a:xfrm>
            <a:off x="1592330" y="4628369"/>
            <a:ext cx="10370376" cy="940266"/>
          </a:xfrm>
          <a:prstGeom prst="rect">
            <a:avLst/>
          </a:prstGeom>
          <a:noFill/>
          <a:ln w="3175">
            <a:solidFill>
              <a:srgbClr val="573D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ru-RU" sz="1400" dirty="0">
              <a:solidFill>
                <a:srgbClr val="493482"/>
              </a:solidFill>
              <a:latin typeface="Circe Light" panose="020B0402020203020203" pitchFamily="34" charset="-52"/>
            </a:endParaRP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6ACFDC3F-F012-3638-D4F2-534B6F8EE517}"/>
              </a:ext>
            </a:extLst>
          </p:cNvPr>
          <p:cNvGraphicFramePr>
            <a:graphicFrameLocks noGrp="1"/>
          </p:cNvGraphicFramePr>
          <p:nvPr/>
        </p:nvGraphicFramePr>
        <p:xfrm>
          <a:off x="8045291" y="477434"/>
          <a:ext cx="3917414" cy="303552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2623140">
                  <a:extLst>
                    <a:ext uri="{9D8B030D-6E8A-4147-A177-3AD203B41FA5}">
                      <a16:colId xmlns:a16="http://schemas.microsoft.com/office/drawing/2014/main" val="3645586646"/>
                    </a:ext>
                  </a:extLst>
                </a:gridCol>
                <a:gridCol w="1294274">
                  <a:extLst>
                    <a:ext uri="{9D8B030D-6E8A-4147-A177-3AD203B41FA5}">
                      <a16:colId xmlns:a16="http://schemas.microsoft.com/office/drawing/2014/main" val="2734455834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Circe Light" panose="020B0402020203020203" pitchFamily="34" charset="-52"/>
                        </a:rPr>
                        <a:t>Оператор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latin typeface="Circe Light" panose="020B0402020203020203" pitchFamily="34" charset="-52"/>
                        </a:rPr>
                        <a:t>Количество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01142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ru-RU" sz="1000" b="1" dirty="0">
                          <a:latin typeface="Circe Light" panose="020B0402020203020203" pitchFamily="34" charset="-52"/>
                        </a:rPr>
                        <a:t>Бизнес Актив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 dirty="0">
                          <a:latin typeface="Circe Light" panose="020B0402020203020203" pitchFamily="34" charset="-52"/>
                        </a:rPr>
                        <a:t>7/4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923114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ru-RU" sz="1000" b="1" dirty="0">
                          <a:latin typeface="Circe Light" panose="020B0402020203020203" pitchFamily="34" charset="-52"/>
                        </a:rPr>
                        <a:t>Силикатная ФИТ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 dirty="0">
                          <a:latin typeface="Circe Light" panose="020B0402020203020203" pitchFamily="34" charset="-52"/>
                        </a:rPr>
                        <a:t>11/8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89977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ru-RU" sz="1000" b="1" dirty="0">
                          <a:latin typeface="Circe Light" panose="020B0402020203020203" pitchFamily="34" charset="-52"/>
                        </a:rPr>
                        <a:t>Владивосток ФИТ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 dirty="0">
                          <a:latin typeface="Circe Light" panose="020B0402020203020203" pitchFamily="34" charset="-52"/>
                        </a:rPr>
                        <a:t>4/2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725431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ru-RU" sz="1000" b="1" dirty="0">
                          <a:latin typeface="Circe Light" panose="020B0402020203020203" pitchFamily="34" charset="-52"/>
                        </a:rPr>
                        <a:t>Санкт-Петербург ФИТ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 dirty="0">
                          <a:latin typeface="Circe Light" panose="020B0402020203020203" pitchFamily="34" charset="-52"/>
                        </a:rPr>
                        <a:t>1/1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541423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ru-RU" sz="1000" b="1" dirty="0">
                          <a:latin typeface="Circe Light" panose="020B0402020203020203" pitchFamily="34" charset="-52"/>
                        </a:rPr>
                        <a:t>СКЛ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 dirty="0">
                          <a:latin typeface="Circe Light" panose="020B0402020203020203" pitchFamily="34" charset="-52"/>
                        </a:rPr>
                        <a:t>4/2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75831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>
                          <a:latin typeface="Circe Light" panose="020B0402020203020203" pitchFamily="34" charset="-52"/>
                        </a:rPr>
                        <a:t>Транзит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 dirty="0">
                          <a:latin typeface="Circe Light" panose="020B0402020203020203" pitchFamily="34" charset="-52"/>
                        </a:rPr>
                        <a:t>1</a:t>
                      </a:r>
                      <a:r>
                        <a:rPr lang="en-US" sz="1000" b="1" dirty="0">
                          <a:latin typeface="Circe Light" panose="020B0402020203020203" pitchFamily="34" charset="-52"/>
                        </a:rPr>
                        <a:t>/</a:t>
                      </a:r>
                      <a:r>
                        <a:rPr lang="ru-RU" sz="1000" b="1" dirty="0">
                          <a:latin typeface="Circe Light" panose="020B0402020203020203" pitchFamily="34" charset="-52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662603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dirty="0">
                          <a:latin typeface="Circe Light" panose="020B0402020203020203" pitchFamily="34" charset="-52"/>
                        </a:rPr>
                        <a:t>Перегруз ФИТ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 dirty="0">
                          <a:latin typeface="Circe Light" panose="020B0402020203020203" pitchFamily="34" charset="-52"/>
                        </a:rPr>
                        <a:t>1/1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25825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00" b="1" dirty="0">
                        <a:latin typeface="Circe Light" panose="020B0402020203020203" pitchFamily="34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 b="1" dirty="0">
                        <a:latin typeface="Circe Light" panose="020B0402020203020203" pitchFamily="34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132464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endParaRPr lang="ru-RU" sz="1000" b="1" dirty="0">
                        <a:latin typeface="Circe Light" panose="020B0402020203020203" pitchFamily="34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000" b="1" dirty="0">
                        <a:latin typeface="Circe Light" panose="020B0402020203020203" pitchFamily="34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4641931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r>
                        <a:rPr lang="ru-RU" sz="1000" b="1" dirty="0">
                          <a:latin typeface="Circe Light" panose="020B0402020203020203" pitchFamily="34" charset="-52"/>
                        </a:rPr>
                        <a:t>ИТОГО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 dirty="0">
                          <a:latin typeface="Circe Light" panose="020B0402020203020203" pitchFamily="34" charset="-52"/>
                        </a:rPr>
                        <a:t>29/19    66%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2054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9011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52CEA26A-7F52-3B88-DA76-5BD16F089AB3}"/>
              </a:ext>
            </a:extLst>
          </p:cNvPr>
          <p:cNvCxnSpPr>
            <a:cxnSpLocks/>
          </p:cNvCxnSpPr>
          <p:nvPr/>
        </p:nvCxnSpPr>
        <p:spPr>
          <a:xfrm flipV="1">
            <a:off x="932872" y="5746366"/>
            <a:ext cx="11219411" cy="23912"/>
          </a:xfrm>
          <a:prstGeom prst="line">
            <a:avLst/>
          </a:prstGeom>
          <a:ln w="762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218A6E05-E731-FBF1-0485-ACB8E97E97B8}"/>
              </a:ext>
            </a:extLst>
          </p:cNvPr>
          <p:cNvSpPr/>
          <p:nvPr/>
        </p:nvSpPr>
        <p:spPr>
          <a:xfrm>
            <a:off x="1238063" y="2354412"/>
            <a:ext cx="3590424" cy="16560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1C125C"/>
              </a:solidFill>
              <a:effectLst/>
              <a:uLnTx/>
              <a:uFillTx/>
              <a:latin typeface="Circe Ligh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1C125C"/>
              </a:solidFill>
              <a:effectLst/>
              <a:uLnTx/>
              <a:uFillTx/>
              <a:latin typeface="Circe Light"/>
              <a:ea typeface="+mn-ea"/>
              <a:cs typeface="+mn-cs"/>
            </a:endParaRPr>
          </a:p>
        </p:txBody>
      </p:sp>
      <p:sp>
        <p:nvSpPr>
          <p:cNvPr id="75" name="Заголовок 5">
            <a:extLst>
              <a:ext uri="{FF2B5EF4-FFF2-40B4-BE49-F238E27FC236}">
                <a16:creationId xmlns:a16="http://schemas.microsoft.com/office/drawing/2014/main" id="{A7AD4376-F2C2-6E62-2B55-2326376B2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650" y="7114"/>
            <a:ext cx="12196650" cy="366155"/>
          </a:xfrm>
          <a:solidFill>
            <a:srgbClr val="002060"/>
          </a:solidFill>
          <a:ln>
            <a:noFill/>
          </a:ln>
        </p:spPr>
        <p:txBody>
          <a:bodyPr>
            <a:normAutofit fontScale="90000"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Circe Light"/>
              </a:rPr>
              <a:t>Соколовская А.</a:t>
            </a:r>
          </a:p>
        </p:txBody>
      </p:sp>
      <p:cxnSp>
        <p:nvCxnSpPr>
          <p:cNvPr id="79" name="Прямая соединительная линия 78">
            <a:extLst>
              <a:ext uri="{FF2B5EF4-FFF2-40B4-BE49-F238E27FC236}">
                <a16:creationId xmlns:a16="http://schemas.microsoft.com/office/drawing/2014/main" id="{3AD8CAEE-62BF-0D1B-E8AF-23C2572425DD}"/>
              </a:ext>
            </a:extLst>
          </p:cNvPr>
          <p:cNvCxnSpPr>
            <a:cxnSpLocks/>
          </p:cNvCxnSpPr>
          <p:nvPr/>
        </p:nvCxnSpPr>
        <p:spPr>
          <a:xfrm>
            <a:off x="675871" y="6339664"/>
            <a:ext cx="10840257" cy="0"/>
          </a:xfrm>
          <a:prstGeom prst="line">
            <a:avLst/>
          </a:prstGeom>
          <a:ln>
            <a:solidFill>
              <a:srgbClr val="1C125C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FB53C7F-B713-A386-B99A-17515E09959F}"/>
              </a:ext>
            </a:extLst>
          </p:cNvPr>
          <p:cNvSpPr txBox="1"/>
          <p:nvPr/>
        </p:nvSpPr>
        <p:spPr>
          <a:xfrm>
            <a:off x="3857551" y="647201"/>
            <a:ext cx="4472248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573D8C"/>
                </a:solidFill>
                <a:latin typeface="Circe Bold" panose="020B0602020203020203" pitchFamily="34" charset="-52"/>
              </a:rPr>
              <a:t>Выполнение финансовых показателей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4B31773-F6AF-6ED2-218F-1989596E7EA3}"/>
              </a:ext>
            </a:extLst>
          </p:cNvPr>
          <p:cNvSpPr/>
          <p:nvPr/>
        </p:nvSpPr>
        <p:spPr>
          <a:xfrm>
            <a:off x="559264" y="4963417"/>
            <a:ext cx="5648163" cy="445035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dirty="0">
                <a:solidFill>
                  <a:srgbClr val="573D8C"/>
                </a:solidFill>
                <a:latin typeface="Circe Bold" panose="020B0602020203020203" pitchFamily="34" charset="-52"/>
              </a:rPr>
              <a:t>Операционная прибыль накопительный</a:t>
            </a:r>
            <a:r>
              <a:rPr lang="ru-RU" sz="1400" dirty="0">
                <a:solidFill>
                  <a:srgbClr val="002060"/>
                </a:solidFill>
                <a:latin typeface="Circe Light" panose="020B0402020203020203" pitchFamily="34" charset="-52"/>
              </a:rPr>
              <a:t> </a:t>
            </a:r>
            <a:r>
              <a:rPr lang="ru-RU" dirty="0">
                <a:solidFill>
                  <a:srgbClr val="573D8C"/>
                </a:solidFill>
                <a:latin typeface="Circe Bold" panose="020B0602020203020203" pitchFamily="34" charset="-52"/>
              </a:rPr>
              <a:t>итог</a:t>
            </a:r>
          </a:p>
          <a:p>
            <a:r>
              <a:rPr lang="ru-RU" sz="1400" dirty="0">
                <a:solidFill>
                  <a:srgbClr val="002060"/>
                </a:solidFill>
                <a:latin typeface="Circe Light" panose="020B0402020203020203" pitchFamily="34" charset="-52"/>
              </a:rPr>
              <a:t>       	</a:t>
            </a: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17E5F536-F963-1991-C5AD-5E8726219E15}"/>
              </a:ext>
            </a:extLst>
          </p:cNvPr>
          <p:cNvGraphicFramePr>
            <a:graphicFrameLocks noGrp="1"/>
          </p:cNvGraphicFramePr>
          <p:nvPr/>
        </p:nvGraphicFramePr>
        <p:xfrm>
          <a:off x="675871" y="5408452"/>
          <a:ext cx="4857864" cy="8610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44827">
                  <a:extLst>
                    <a:ext uri="{9D8B030D-6E8A-4147-A177-3AD203B41FA5}">
                      <a16:colId xmlns:a16="http://schemas.microsoft.com/office/drawing/2014/main" val="2360830532"/>
                    </a:ext>
                  </a:extLst>
                </a:gridCol>
                <a:gridCol w="1634247">
                  <a:extLst>
                    <a:ext uri="{9D8B030D-6E8A-4147-A177-3AD203B41FA5}">
                      <a16:colId xmlns:a16="http://schemas.microsoft.com/office/drawing/2014/main" val="961048014"/>
                    </a:ext>
                  </a:extLst>
                </a:gridCol>
                <a:gridCol w="1678790">
                  <a:extLst>
                    <a:ext uri="{9D8B030D-6E8A-4147-A177-3AD203B41FA5}">
                      <a16:colId xmlns:a16="http://schemas.microsoft.com/office/drawing/2014/main" val="433510399"/>
                    </a:ext>
                  </a:extLst>
                </a:gridCol>
              </a:tblGrid>
              <a:tr h="296650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rgbClr val="002060"/>
                          </a:solidFill>
                          <a:latin typeface="Circe Light" panose="020B0402020203020203" pitchFamily="34" charset="-52"/>
                        </a:rPr>
                        <a:t> план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>
                          <a:solidFill>
                            <a:srgbClr val="002060"/>
                          </a:solidFill>
                          <a:latin typeface="Circe Light" panose="020B0402020203020203" pitchFamily="34" charset="-52"/>
                        </a:rPr>
                        <a:t>факт-прогноз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solidFill>
                            <a:srgbClr val="002060"/>
                          </a:solidFill>
                          <a:latin typeface="Circe Light" panose="020B0402020203020203" pitchFamily="34" charset="-52"/>
                        </a:rPr>
                        <a:t>% исполнения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340623"/>
                  </a:ext>
                </a:extLst>
              </a:tr>
              <a:tr h="38347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600" b="1" kern="1200" dirty="0">
                          <a:solidFill>
                            <a:srgbClr val="002060"/>
                          </a:solidFill>
                          <a:latin typeface="Circe Light" panose="020B0402020203020203" pitchFamily="34" charset="-52"/>
                          <a:ea typeface="+mn-ea"/>
                          <a:cs typeface="+mn-cs"/>
                        </a:rPr>
                        <a:t>                           124 222 586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600" b="1" kern="1200" dirty="0">
                          <a:solidFill>
                            <a:srgbClr val="002060"/>
                          </a:solidFill>
                          <a:latin typeface="Circe Light" panose="020B0402020203020203" pitchFamily="34" charset="-52"/>
                          <a:ea typeface="+mn-ea"/>
                          <a:cs typeface="+mn-cs"/>
                        </a:rPr>
                        <a:t>   160 366 788 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600" b="1" kern="1200" dirty="0">
                          <a:solidFill>
                            <a:srgbClr val="002060"/>
                          </a:solidFill>
                          <a:latin typeface="Circe Light" panose="020B0402020203020203" pitchFamily="34" charset="-52"/>
                          <a:ea typeface="+mn-ea"/>
                          <a:cs typeface="+mn-cs"/>
                        </a:rPr>
                        <a:t>129%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66716403"/>
                  </a:ext>
                </a:extLst>
              </a:tr>
            </a:tbl>
          </a:graphicData>
        </a:graphic>
      </p:graphicFrame>
      <p:graphicFrame>
        <p:nvGraphicFramePr>
          <p:cNvPr id="2" name="Диаграмма 1">
            <a:extLst>
              <a:ext uri="{FF2B5EF4-FFF2-40B4-BE49-F238E27FC236}">
                <a16:creationId xmlns:a16="http://schemas.microsoft.com/office/drawing/2014/main" id="{4EDA2A8D-4EEB-4DE1-94DE-CDCD8573D2B4}"/>
              </a:ext>
            </a:extLst>
          </p:cNvPr>
          <p:cNvGraphicFramePr>
            <a:graphicFrameLocks/>
          </p:cNvGraphicFramePr>
          <p:nvPr/>
        </p:nvGraphicFramePr>
        <p:xfrm>
          <a:off x="-48045" y="1313675"/>
          <a:ext cx="6141720" cy="38722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1466FE04-097D-4C65-935B-5741A1CBEC34}"/>
              </a:ext>
            </a:extLst>
          </p:cNvPr>
          <p:cNvGraphicFramePr>
            <a:graphicFrameLocks/>
          </p:cNvGraphicFramePr>
          <p:nvPr/>
        </p:nvGraphicFramePr>
        <p:xfrm>
          <a:off x="6093675" y="1313675"/>
          <a:ext cx="5920740" cy="45239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085073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C10975EA-BDF7-425F-A07F-D7FD991E93B8}"/>
              </a:ext>
            </a:extLst>
          </p:cNvPr>
          <p:cNvSpPr txBox="1">
            <a:spLocks/>
          </p:cNvSpPr>
          <p:nvPr/>
        </p:nvSpPr>
        <p:spPr>
          <a:xfrm>
            <a:off x="-8880" y="0"/>
            <a:ext cx="12192000" cy="470517"/>
          </a:xfrm>
          <a:prstGeom prst="rect">
            <a:avLst/>
          </a:prstGeom>
          <a:solidFill>
            <a:srgbClr val="1C125C"/>
          </a:solidFill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solidFill>
                  <a:schemeClr val="bg1"/>
                </a:solidFill>
                <a:latin typeface="Circe Light" panose="020B0402020203020203" pitchFamily="34" charset="-52"/>
              </a:rPr>
              <a:t>Терминал Красноярск</a:t>
            </a:r>
            <a:r>
              <a:rPr lang="en-US" sz="3600" dirty="0">
                <a:solidFill>
                  <a:schemeClr val="bg1"/>
                </a:solidFill>
                <a:latin typeface="Circe Light" panose="020B0402020203020203" pitchFamily="34" charset="-52"/>
              </a:rPr>
              <a:t> – </a:t>
            </a:r>
            <a:r>
              <a:rPr lang="ru-RU" sz="3600" dirty="0">
                <a:solidFill>
                  <a:schemeClr val="bg1"/>
                </a:solidFill>
                <a:latin typeface="Circe Light" panose="020B0402020203020203" pitchFamily="34" charset="-52"/>
              </a:rPr>
              <a:t>Янченко В.В.</a:t>
            </a:r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45541" y="469337"/>
            <a:ext cx="5963573" cy="342245"/>
          </a:xfrm>
          <a:solidFill>
            <a:srgbClr val="9E89C1"/>
          </a:solidFill>
        </p:spPr>
        <p:txBody>
          <a:bodyPr>
            <a:noAutofit/>
          </a:bodyPr>
          <a:lstStyle/>
          <a:p>
            <a:pPr algn="ctr"/>
            <a:r>
              <a:rPr lang="ru-RU" sz="1200" dirty="0">
                <a:latin typeface="Circe Light"/>
              </a:rPr>
              <a:t>Ключевые события прошлой недели:</a:t>
            </a:r>
          </a:p>
        </p:txBody>
      </p:sp>
      <p:sp>
        <p:nvSpPr>
          <p:cNvPr id="12" name="Заголовок 5"/>
          <p:cNvSpPr txBox="1">
            <a:spLocks/>
          </p:cNvSpPr>
          <p:nvPr/>
        </p:nvSpPr>
        <p:spPr>
          <a:xfrm>
            <a:off x="-45539" y="3246475"/>
            <a:ext cx="5965795" cy="241117"/>
          </a:xfrm>
          <a:prstGeom prst="rect">
            <a:avLst/>
          </a:prstGeom>
          <a:solidFill>
            <a:srgbClr val="9E89C1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1200" dirty="0">
                <a:latin typeface="Circe Light" panose="020B0402020203020203"/>
                <a:cs typeface="Times New Roman" panose="02020603050405020304" pitchFamily="18" charset="0"/>
              </a:rPr>
              <a:t>Ключевые планы новой недели</a:t>
            </a:r>
            <a:r>
              <a:rPr lang="ru-RU" sz="1200" dirty="0">
                <a:latin typeface="Circe Light" panose="020B0402020203020203"/>
              </a:rPr>
              <a:t>:</a:t>
            </a:r>
          </a:p>
        </p:txBody>
      </p:sp>
      <p:sp>
        <p:nvSpPr>
          <p:cNvPr id="13" name="Заголовок 5"/>
          <p:cNvSpPr txBox="1">
            <a:spLocks/>
          </p:cNvSpPr>
          <p:nvPr/>
        </p:nvSpPr>
        <p:spPr>
          <a:xfrm>
            <a:off x="8877" y="732062"/>
            <a:ext cx="5956916" cy="24663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1450" indent="-171450">
              <a:lnSpc>
                <a:spcPct val="100000"/>
              </a:lnSpc>
              <a:buFontTx/>
              <a:buChar char="-"/>
            </a:pPr>
            <a:r>
              <a:rPr lang="ru-RU" sz="1200" dirty="0">
                <a:latin typeface="Circe Light" panose="020B0402020203020203"/>
                <a:ea typeface="Calibri" panose="020F0502020204030204" pitchFamily="34" charset="0"/>
              </a:rPr>
              <a:t>Проработка вопросов обмена поездами </a:t>
            </a:r>
          </a:p>
          <a:p>
            <a:pPr marL="171450" indent="-171450">
              <a:lnSpc>
                <a:spcPct val="100000"/>
              </a:lnSpc>
              <a:buFontTx/>
              <a:buChar char="-"/>
            </a:pPr>
            <a:r>
              <a:rPr lang="ru-RU" sz="1200" dirty="0">
                <a:latin typeface="Circe Light" panose="020B0402020203020203"/>
                <a:ea typeface="Calibri" panose="020F0502020204030204" pitchFamily="34" charset="0"/>
              </a:rPr>
              <a:t>Переместили ТЭМ2 РЖД на терминал 16.06.2026</a:t>
            </a:r>
          </a:p>
          <a:p>
            <a:pPr marL="171450" indent="-171450">
              <a:lnSpc>
                <a:spcPct val="100000"/>
              </a:lnSpc>
              <a:buFontTx/>
              <a:buChar char="-"/>
            </a:pPr>
            <a:r>
              <a:rPr lang="ru-RU" sz="1200" dirty="0">
                <a:latin typeface="Circe Light" panose="020B0402020203020203"/>
                <a:ea typeface="Calibri" panose="020F0502020204030204" pitchFamily="34" charset="0"/>
              </a:rPr>
              <a:t>Подготовили заявку на аренду ТЭМ РЖД на июль</a:t>
            </a:r>
          </a:p>
          <a:p>
            <a:pPr marL="171450" indent="-171450">
              <a:lnSpc>
                <a:spcPct val="100000"/>
              </a:lnSpc>
              <a:buFontTx/>
              <a:buChar char="-"/>
            </a:pPr>
            <a:r>
              <a:rPr lang="ru-RU" sz="1200" dirty="0">
                <a:latin typeface="Circe Light" panose="020B0402020203020203"/>
                <a:ea typeface="Calibri" panose="020F0502020204030204" pitchFamily="34" charset="0"/>
              </a:rPr>
              <a:t>Замена шпалы на пути № 4</a:t>
            </a:r>
          </a:p>
          <a:p>
            <a:pPr marL="171450" indent="-171450">
              <a:lnSpc>
                <a:spcPct val="100000"/>
              </a:lnSpc>
              <a:buFontTx/>
              <a:buChar char="-"/>
            </a:pPr>
            <a:r>
              <a:rPr lang="ru-RU" sz="1200" dirty="0">
                <a:latin typeface="Circe Light" panose="020B0402020203020203"/>
                <a:ea typeface="Calibri" panose="020F0502020204030204" pitchFamily="34" charset="0"/>
              </a:rPr>
              <a:t>Зачистка площадок и дорог грейдером</a:t>
            </a:r>
          </a:p>
          <a:p>
            <a:pPr marL="171450" indent="-171450">
              <a:lnSpc>
                <a:spcPct val="100000"/>
              </a:lnSpc>
              <a:buFontTx/>
              <a:buChar char="-"/>
            </a:pPr>
            <a:r>
              <a:rPr lang="ru-RU" sz="1200" dirty="0">
                <a:latin typeface="Circe Light" panose="020B0402020203020203"/>
                <a:ea typeface="Calibri" panose="020F0502020204030204" pitchFamily="34" charset="0"/>
              </a:rPr>
              <a:t>Рабочая встреча в ТЦФТО РЖД, ДС Базаихи</a:t>
            </a:r>
          </a:p>
          <a:p>
            <a:pPr marL="171450" indent="-171450">
              <a:lnSpc>
                <a:spcPct val="100000"/>
              </a:lnSpc>
              <a:buFontTx/>
              <a:buChar char="-"/>
            </a:pPr>
            <a:endParaRPr lang="ru-RU" sz="1200" dirty="0">
              <a:latin typeface="Circe Light" panose="020B0402020203020203"/>
              <a:ea typeface="Calibri" panose="020F0502020204030204" pitchFamily="34" charset="0"/>
            </a:endParaRPr>
          </a:p>
          <a:p>
            <a:pPr marL="171450" indent="-171450">
              <a:lnSpc>
                <a:spcPct val="100000"/>
              </a:lnSpc>
              <a:buFontTx/>
              <a:buChar char="-"/>
            </a:pPr>
            <a:endParaRPr lang="ru-RU" sz="1200" dirty="0">
              <a:latin typeface="Circe Light" panose="020B0402020203020203"/>
              <a:ea typeface="Calibri" panose="020F0502020204030204" pitchFamily="34" charset="0"/>
            </a:endParaRPr>
          </a:p>
          <a:p>
            <a:pPr marL="171450" indent="-171450">
              <a:lnSpc>
                <a:spcPct val="100000"/>
              </a:lnSpc>
              <a:buFontTx/>
              <a:buChar char="-"/>
            </a:pPr>
            <a:endParaRPr lang="ru-RU" sz="1200" dirty="0">
              <a:latin typeface="Circe Light" panose="020B0402020203020203"/>
              <a:ea typeface="Calibri" panose="020F0502020204030204" pitchFamily="34" charset="0"/>
            </a:endParaRPr>
          </a:p>
          <a:p>
            <a:pPr marL="171450" indent="-171450">
              <a:lnSpc>
                <a:spcPct val="100000"/>
              </a:lnSpc>
              <a:buFontTx/>
              <a:buChar char="-"/>
            </a:pPr>
            <a:endParaRPr lang="ru-RU" sz="1200" dirty="0">
              <a:latin typeface="Circe Light" panose="020B0402020203020203"/>
              <a:ea typeface="Calibri" panose="020F0502020204030204" pitchFamily="34" charset="0"/>
            </a:endParaRPr>
          </a:p>
        </p:txBody>
      </p:sp>
      <p:sp>
        <p:nvSpPr>
          <p:cNvPr id="16" name="Заголовок 5"/>
          <p:cNvSpPr txBox="1">
            <a:spLocks/>
          </p:cNvSpPr>
          <p:nvPr/>
        </p:nvSpPr>
        <p:spPr>
          <a:xfrm>
            <a:off x="32227" y="5565642"/>
            <a:ext cx="5940224" cy="8823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7000"/>
              </a:lnSpc>
            </a:pPr>
            <a:r>
              <a:rPr lang="ru-RU" sz="1200" dirty="0">
                <a:effectLst/>
                <a:latin typeface="Circe Light" panose="020B0402020203020203"/>
                <a:ea typeface="Calibri" panose="020F0502020204030204" pitchFamily="34" charset="0"/>
                <a:cs typeface="Times New Roman" panose="02020603050405020304" pitchFamily="18" charset="0"/>
              </a:rPr>
              <a:t>Фактическая численность работников – 67</a:t>
            </a:r>
          </a:p>
          <a:p>
            <a:pPr algn="just">
              <a:lnSpc>
                <a:spcPct val="107000"/>
              </a:lnSpc>
            </a:pPr>
            <a:r>
              <a:rPr lang="ru-RU" sz="1200" dirty="0">
                <a:effectLst/>
                <a:latin typeface="Circe Light" panose="020B0402020203020203"/>
                <a:ea typeface="Calibri" panose="020F0502020204030204" pitchFamily="34" charset="0"/>
                <a:cs typeface="Times New Roman" panose="02020603050405020304" pitchFamily="18" charset="0"/>
              </a:rPr>
              <a:t>Больничные – 1</a:t>
            </a:r>
          </a:p>
          <a:p>
            <a:pPr algn="just">
              <a:lnSpc>
                <a:spcPct val="107000"/>
              </a:lnSpc>
            </a:pPr>
            <a:r>
              <a:rPr lang="ru-RU" sz="1200" dirty="0">
                <a:effectLst/>
                <a:latin typeface="Circe Light" panose="020B0402020203020203"/>
                <a:ea typeface="Calibri" panose="020F0502020204030204" pitchFamily="34" charset="0"/>
                <a:cs typeface="Times New Roman" panose="02020603050405020304" pitchFamily="18" charset="0"/>
              </a:rPr>
              <a:t>Отпуска – 6</a:t>
            </a:r>
          </a:p>
          <a:p>
            <a:pPr algn="just">
              <a:lnSpc>
                <a:spcPct val="107000"/>
              </a:lnSpc>
            </a:pPr>
            <a:endParaRPr lang="ru-RU" sz="1200" dirty="0">
              <a:effectLst/>
              <a:latin typeface="Circe Light" panose="020B0402020203020203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Заголовок 5"/>
          <p:cNvSpPr txBox="1">
            <a:spLocks/>
          </p:cNvSpPr>
          <p:nvPr/>
        </p:nvSpPr>
        <p:spPr>
          <a:xfrm>
            <a:off x="8877" y="5149888"/>
            <a:ext cx="12191998" cy="251973"/>
          </a:xfrm>
          <a:prstGeom prst="rect">
            <a:avLst/>
          </a:prstGeom>
          <a:solidFill>
            <a:srgbClr val="9E89C1"/>
          </a:solidFill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200" dirty="0">
                <a:latin typeface="Circe Light"/>
              </a:rPr>
              <a:t>Отпуск, отсутствия в отделе </a:t>
            </a:r>
            <a:r>
              <a:rPr lang="ru-RU" sz="2400" dirty="0">
                <a:latin typeface="Circe Light"/>
              </a:rPr>
              <a:t>:</a:t>
            </a:r>
          </a:p>
        </p:txBody>
      </p:sp>
      <p:sp>
        <p:nvSpPr>
          <p:cNvPr id="18" name="Заголовок 5"/>
          <p:cNvSpPr txBox="1">
            <a:spLocks/>
          </p:cNvSpPr>
          <p:nvPr/>
        </p:nvSpPr>
        <p:spPr>
          <a:xfrm>
            <a:off x="5954695" y="470516"/>
            <a:ext cx="6226204" cy="261546"/>
          </a:xfrm>
          <a:prstGeom prst="rect">
            <a:avLst/>
          </a:prstGeom>
          <a:solidFill>
            <a:srgbClr val="9E89C1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1200" dirty="0">
                <a:latin typeface="Circe Light" panose="020B0402020203020203"/>
                <a:cs typeface="Times New Roman" panose="02020603050405020304" pitchFamily="18" charset="0"/>
              </a:rPr>
              <a:t>Метрики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достижения, показатели</a:t>
            </a:r>
            <a:r>
              <a:rPr lang="ru-RU" sz="1200" dirty="0">
                <a:latin typeface="Circe Light"/>
              </a:rPr>
              <a:t>:</a:t>
            </a:r>
          </a:p>
        </p:txBody>
      </p:sp>
      <p:sp>
        <p:nvSpPr>
          <p:cNvPr id="19" name="Заголовок 5"/>
          <p:cNvSpPr txBox="1">
            <a:spLocks/>
          </p:cNvSpPr>
          <p:nvPr/>
        </p:nvSpPr>
        <p:spPr>
          <a:xfrm>
            <a:off x="5974672" y="733241"/>
            <a:ext cx="6171787" cy="24916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200" dirty="0">
                <a:effectLst/>
                <a:latin typeface="Circe Light" panose="020B0402020203020203"/>
                <a:ea typeface="Calibri" panose="020F0502020204030204" pitchFamily="34" charset="0"/>
                <a:cs typeface="Times New Roman" panose="02020603050405020304" pitchFamily="18" charset="0"/>
              </a:rPr>
              <a:t>Занятость железнодорожных путей (среднее значение) 112</a:t>
            </a:r>
            <a:r>
              <a:rPr lang="en-US" sz="1200" dirty="0">
                <a:latin typeface="Circe Light" panose="020B0402020203020203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200" dirty="0">
                <a:effectLst/>
                <a:latin typeface="Circe Light" panose="020B0402020203020203"/>
                <a:ea typeface="Calibri" panose="020F0502020204030204" pitchFamily="34" charset="0"/>
                <a:cs typeface="Times New Roman" panose="02020603050405020304" pitchFamily="18" charset="0"/>
              </a:rPr>
              <a:t>%</a:t>
            </a:r>
          </a:p>
          <a:p>
            <a:pPr algn="just">
              <a:lnSpc>
                <a:spcPct val="100000"/>
              </a:lnSpc>
            </a:pPr>
            <a:endParaRPr lang="ru-RU" sz="1400" dirty="0">
              <a:effectLst/>
              <a:latin typeface="Circe Light" panose="020B0402020203020203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ru-RU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ru-RU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sz="1600" dirty="0">
              <a:solidFill>
                <a:schemeClr val="bg2">
                  <a:lumMod val="75000"/>
                </a:schemeClr>
              </a:solidFill>
              <a:latin typeface="Circe Light"/>
            </a:endParaRPr>
          </a:p>
        </p:txBody>
      </p:sp>
      <p:sp>
        <p:nvSpPr>
          <p:cNvPr id="20" name="Заголовок 5"/>
          <p:cNvSpPr txBox="1">
            <a:spLocks/>
          </p:cNvSpPr>
          <p:nvPr/>
        </p:nvSpPr>
        <p:spPr>
          <a:xfrm>
            <a:off x="5884991" y="3248838"/>
            <a:ext cx="6226203" cy="226835"/>
          </a:xfrm>
          <a:prstGeom prst="rect">
            <a:avLst/>
          </a:prstGeom>
          <a:solidFill>
            <a:srgbClr val="9E89C1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1200" dirty="0">
                <a:latin typeface="Circe Light"/>
              </a:rPr>
              <a:t>Риски, просьбы:</a:t>
            </a:r>
          </a:p>
        </p:txBody>
      </p:sp>
      <p:sp>
        <p:nvSpPr>
          <p:cNvPr id="21" name="Заголовок 5"/>
          <p:cNvSpPr txBox="1">
            <a:spLocks/>
          </p:cNvSpPr>
          <p:nvPr/>
        </p:nvSpPr>
        <p:spPr>
          <a:xfrm>
            <a:off x="5975278" y="3485126"/>
            <a:ext cx="6192314" cy="160601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1200" dirty="0">
              <a:latin typeface="Circe Light" panose="020B0402020203020203"/>
              <a:ea typeface="Calibri" panose="020F0502020204030204" pitchFamily="34" charset="0"/>
            </a:endParaRPr>
          </a:p>
          <a:p>
            <a:r>
              <a:rPr lang="ru-RU" sz="1200" dirty="0">
                <a:latin typeface="Circe Light" panose="020B0402020203020203"/>
                <a:ea typeface="Calibri" panose="020F0502020204030204" pitchFamily="34" charset="0"/>
              </a:rPr>
              <a:t>ГСМ от 120 до 153 рублей за литр</a:t>
            </a:r>
          </a:p>
        </p:txBody>
      </p:sp>
      <p:sp>
        <p:nvSpPr>
          <p:cNvPr id="23" name="Заголовок 5"/>
          <p:cNvSpPr txBox="1">
            <a:spLocks/>
          </p:cNvSpPr>
          <p:nvPr/>
        </p:nvSpPr>
        <p:spPr>
          <a:xfrm>
            <a:off x="-10555" y="3475673"/>
            <a:ext cx="5956915" cy="16249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1450" indent="-171450">
              <a:lnSpc>
                <a:spcPct val="100000"/>
              </a:lnSpc>
              <a:buFontTx/>
              <a:buChar char="-"/>
            </a:pPr>
            <a:r>
              <a:rPr lang="ru-RU" sz="1200" dirty="0">
                <a:latin typeface="Circe Light" panose="020B0402020203020203"/>
                <a:ea typeface="Calibri" panose="020F0502020204030204" pitchFamily="34" charset="0"/>
              </a:rPr>
              <a:t>Снижение занятости путей / обмен поездами</a:t>
            </a:r>
          </a:p>
          <a:p>
            <a:pPr marL="171450" indent="-171450">
              <a:lnSpc>
                <a:spcPct val="100000"/>
              </a:lnSpc>
              <a:buFontTx/>
              <a:buChar char="-"/>
            </a:pPr>
            <a:r>
              <a:rPr lang="ru-RU" sz="1200" dirty="0">
                <a:latin typeface="Circe Light" panose="020B0402020203020203"/>
                <a:ea typeface="Calibri" panose="020F0502020204030204" pitchFamily="34" charset="0"/>
              </a:rPr>
              <a:t>Замена шпалы на пути № 4 и 12</a:t>
            </a:r>
          </a:p>
          <a:p>
            <a:pPr marL="171450" indent="-171450">
              <a:lnSpc>
                <a:spcPct val="100000"/>
              </a:lnSpc>
              <a:buFontTx/>
              <a:buChar char="-"/>
            </a:pPr>
            <a:r>
              <a:rPr lang="ru-RU" sz="1200" dirty="0">
                <a:latin typeface="Circe Light" panose="020B0402020203020203"/>
                <a:ea typeface="Calibri" panose="020F0502020204030204" pitchFamily="34" charset="0"/>
              </a:rPr>
              <a:t>Завоз щебня и крошки в рамках летних работ по площадкам</a:t>
            </a:r>
          </a:p>
          <a:p>
            <a:pPr marL="171450" indent="-171450">
              <a:lnSpc>
                <a:spcPct val="100000"/>
              </a:lnSpc>
              <a:buFontTx/>
              <a:buChar char="-"/>
            </a:pPr>
            <a:r>
              <a:rPr lang="ru-RU" sz="1200" dirty="0">
                <a:latin typeface="Circe Light" panose="020B0402020203020203"/>
                <a:ea typeface="Calibri" panose="020F0502020204030204" pitchFamily="34" charset="0"/>
              </a:rPr>
              <a:t>Проработка альтернативных вариантов по ГСМ</a:t>
            </a:r>
          </a:p>
          <a:p>
            <a:pPr marL="171450" indent="-171450">
              <a:lnSpc>
                <a:spcPct val="100000"/>
              </a:lnSpc>
              <a:buFontTx/>
              <a:buChar char="-"/>
            </a:pPr>
            <a:r>
              <a:rPr lang="ru-RU" sz="1200" dirty="0">
                <a:latin typeface="Circe Light" panose="020B0402020203020203"/>
                <a:ea typeface="Calibri" panose="020F0502020204030204" pitchFamily="34" charset="0"/>
              </a:rPr>
              <a:t>Запланировано несколько собеседований и 25.06. выход Ковалева Бориса Владимировича (зам </a:t>
            </a:r>
            <a:r>
              <a:rPr lang="ru-RU" sz="1200" dirty="0" err="1">
                <a:latin typeface="Circe Light" panose="020B0402020203020203"/>
                <a:ea typeface="Calibri" panose="020F0502020204030204" pitchFamily="34" charset="0"/>
              </a:rPr>
              <a:t>исп</a:t>
            </a:r>
            <a:r>
              <a:rPr lang="ru-RU" sz="1200" dirty="0">
                <a:latin typeface="Circe Light" panose="020B0402020203020203"/>
                <a:ea typeface="Calibri" panose="020F0502020204030204" pitchFamily="34" charset="0"/>
              </a:rPr>
              <a:t> </a:t>
            </a:r>
            <a:r>
              <a:rPr lang="ru-RU" sz="1200" dirty="0" err="1">
                <a:latin typeface="Circe Light" panose="020B0402020203020203"/>
                <a:ea typeface="Calibri" panose="020F0502020204030204" pitchFamily="34" charset="0"/>
              </a:rPr>
              <a:t>дир</a:t>
            </a:r>
            <a:r>
              <a:rPr lang="ru-RU" sz="1200" dirty="0">
                <a:latin typeface="Circe Light" panose="020B0402020203020203"/>
                <a:ea typeface="Calibri" panose="020F0502020204030204" pitchFamily="34" charset="0"/>
              </a:rPr>
              <a:t>)</a:t>
            </a:r>
          </a:p>
          <a:p>
            <a:pPr marL="171450" indent="-171450">
              <a:lnSpc>
                <a:spcPct val="100000"/>
              </a:lnSpc>
              <a:buFontTx/>
              <a:buChar char="-"/>
            </a:pPr>
            <a:endParaRPr lang="ru-RU" sz="1200" dirty="0">
              <a:latin typeface="Circe Light" panose="020B0402020203020203"/>
              <a:ea typeface="Calibri" panose="020F0502020204030204" pitchFamily="34" charset="0"/>
            </a:endParaRPr>
          </a:p>
          <a:p>
            <a:pPr marL="171450" indent="-171450">
              <a:lnSpc>
                <a:spcPct val="100000"/>
              </a:lnSpc>
              <a:buFontTx/>
              <a:buChar char="-"/>
            </a:pPr>
            <a:endParaRPr lang="ru-RU" sz="1200" dirty="0">
              <a:latin typeface="Circe Light" panose="020B0402020203020203"/>
              <a:ea typeface="Calibri" panose="020F0502020204030204" pitchFamily="34" charset="0"/>
            </a:endParaRPr>
          </a:p>
          <a:p>
            <a:pPr marL="171450" indent="-171450">
              <a:lnSpc>
                <a:spcPct val="100000"/>
              </a:lnSpc>
              <a:buFontTx/>
              <a:buChar char="-"/>
            </a:pPr>
            <a:endParaRPr lang="ru-RU" sz="1200" dirty="0">
              <a:latin typeface="Circe Light" panose="020B0402020203020203"/>
              <a:ea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ru-RU" sz="1200" dirty="0">
                <a:latin typeface="Circe Light" panose="020B0402020203020203"/>
                <a:ea typeface="Calibri" panose="020F0502020204030204" pitchFamily="34" charset="0"/>
              </a:rPr>
              <a:t> </a:t>
            </a:r>
          </a:p>
          <a:p>
            <a:pPr marL="171450" indent="-171450">
              <a:lnSpc>
                <a:spcPct val="100000"/>
              </a:lnSpc>
              <a:buFontTx/>
              <a:buChar char="-"/>
            </a:pPr>
            <a:endParaRPr lang="ru-RU" sz="1200" dirty="0">
              <a:latin typeface="Circe Light" panose="020B0402020203020203"/>
              <a:ea typeface="Calibri" panose="020F0502020204030204" pitchFamily="34" charset="0"/>
            </a:endParaRPr>
          </a:p>
          <a:p>
            <a:pPr marL="171450" indent="-171450">
              <a:lnSpc>
                <a:spcPct val="100000"/>
              </a:lnSpc>
              <a:buFontTx/>
              <a:buChar char="-"/>
            </a:pPr>
            <a:r>
              <a:rPr lang="ru-RU" sz="1200" dirty="0">
                <a:latin typeface="Circe Light" panose="020B0402020203020203"/>
                <a:ea typeface="Calibri" panose="020F0502020204030204" pitchFamily="34" charset="0"/>
              </a:rPr>
              <a:t>        </a:t>
            </a:r>
          </a:p>
          <a:p>
            <a:pPr marL="171450" indent="-171450">
              <a:lnSpc>
                <a:spcPct val="100000"/>
              </a:lnSpc>
              <a:buFontTx/>
              <a:buChar char="-"/>
            </a:pPr>
            <a:endParaRPr lang="ru-RU" sz="1200" dirty="0">
              <a:latin typeface="Circe Light" panose="020B0402020203020203"/>
              <a:ea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ru-RU" sz="1200" dirty="0">
                <a:latin typeface="Circe Light" panose="020B0402020203020203"/>
                <a:ea typeface="Calibri" panose="020F0502020204030204" pitchFamily="34" charset="0"/>
              </a:rPr>
              <a:t>       </a:t>
            </a:r>
          </a:p>
          <a:p>
            <a:pPr marL="171450" indent="-171450">
              <a:lnSpc>
                <a:spcPct val="100000"/>
              </a:lnSpc>
              <a:buFontTx/>
              <a:buChar char="-"/>
            </a:pPr>
            <a:endParaRPr lang="ru-RU" sz="1200" dirty="0">
              <a:latin typeface="Circe Light" panose="020B0402020203020203"/>
              <a:ea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buFontTx/>
              <a:buChar char="-"/>
            </a:pPr>
            <a:endParaRPr lang="ru-RU" sz="1200" dirty="0">
              <a:latin typeface="Circe Light" panose="020B0402020203020203"/>
              <a:ea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buFontTx/>
              <a:buChar char="-"/>
            </a:pPr>
            <a:endParaRPr lang="ru-RU" sz="1200" dirty="0">
              <a:latin typeface="Circe Light" panose="020B0402020203020203"/>
              <a:ea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buFontTx/>
              <a:buChar char="-"/>
            </a:pPr>
            <a:endParaRPr lang="ru-RU" sz="1200" dirty="0">
              <a:latin typeface="Circe Light" panose="020B0402020203020203"/>
              <a:ea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buFontTx/>
              <a:buChar char="-"/>
            </a:pPr>
            <a:endParaRPr lang="ru-RU" sz="1200" dirty="0">
              <a:latin typeface="Circe Light" panose="020B0402020203020203"/>
              <a:ea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buFontTx/>
              <a:buChar char="-"/>
            </a:pPr>
            <a:endParaRPr lang="ru-RU" sz="1200" dirty="0">
              <a:latin typeface="Circe Light" panose="020B0402020203020203"/>
              <a:ea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ru-RU" sz="1200" dirty="0">
              <a:latin typeface="Circe Light" panose="020B0402020203020203"/>
              <a:ea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buFontTx/>
              <a:buChar char="-"/>
            </a:pPr>
            <a:endParaRPr lang="ru-RU" sz="1200" dirty="0">
              <a:latin typeface="Circe Light" panose="020B0402020203020203"/>
              <a:ea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buFontTx/>
              <a:buChar char="-"/>
            </a:pPr>
            <a:endParaRPr lang="ru-RU" sz="1200" dirty="0">
              <a:latin typeface="Circe Light" panose="020B0402020203020203"/>
              <a:ea typeface="Calibri" panose="020F0502020204030204" pitchFamily="34" charset="0"/>
            </a:endParaRPr>
          </a:p>
          <a:p>
            <a:pPr marL="742950" lvl="1" indent="-285750">
              <a:buFontTx/>
              <a:buChar char="-"/>
            </a:pPr>
            <a:endParaRPr lang="ru-RU" sz="100" dirty="0">
              <a:latin typeface="Circe Light" panose="020B0402020203020203"/>
              <a:ea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buFontTx/>
              <a:buChar char="-"/>
            </a:pPr>
            <a:endParaRPr lang="ru-RU" sz="1200" dirty="0">
              <a:latin typeface="Circe Light" panose="020B0402020203020203"/>
              <a:ea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buFontTx/>
              <a:buChar char="-"/>
            </a:pPr>
            <a:endParaRPr lang="ru-RU" sz="1200" dirty="0">
              <a:latin typeface="Circe Light" panose="020B0402020203020203"/>
              <a:ea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buFontTx/>
              <a:buChar char="-"/>
            </a:pPr>
            <a:endParaRPr lang="ru-RU" sz="1200" dirty="0">
              <a:latin typeface="Circe Light" panose="020B0402020203020203"/>
              <a:ea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buFontTx/>
              <a:buChar char="-"/>
            </a:pPr>
            <a:endParaRPr lang="ru-RU" sz="1200" dirty="0">
              <a:latin typeface="Circe Light" panose="020B0402020203020203"/>
              <a:ea typeface="Calibri" panose="020F0502020204030204" pitchFamily="34" charset="0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7ABB9F72-0FBB-545D-B27A-ACDDD13571DD}"/>
              </a:ext>
            </a:extLst>
          </p:cNvPr>
          <p:cNvGraphicFramePr>
            <a:graphicFrameLocks noGrp="1"/>
          </p:cNvGraphicFramePr>
          <p:nvPr/>
        </p:nvGraphicFramePr>
        <p:xfrm>
          <a:off x="5974145" y="938034"/>
          <a:ext cx="6139557" cy="12159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33284">
                  <a:extLst>
                    <a:ext uri="{9D8B030D-6E8A-4147-A177-3AD203B41FA5}">
                      <a16:colId xmlns:a16="http://schemas.microsoft.com/office/drawing/2014/main" val="1324082161"/>
                    </a:ext>
                  </a:extLst>
                </a:gridCol>
                <a:gridCol w="1514158">
                  <a:extLst>
                    <a:ext uri="{9D8B030D-6E8A-4147-A177-3AD203B41FA5}">
                      <a16:colId xmlns:a16="http://schemas.microsoft.com/office/drawing/2014/main" val="1533332261"/>
                    </a:ext>
                  </a:extLst>
                </a:gridCol>
                <a:gridCol w="792486">
                  <a:extLst>
                    <a:ext uri="{9D8B030D-6E8A-4147-A177-3AD203B41FA5}">
                      <a16:colId xmlns:a16="http://schemas.microsoft.com/office/drawing/2014/main" val="1903777040"/>
                    </a:ext>
                  </a:extLst>
                </a:gridCol>
                <a:gridCol w="665445">
                  <a:extLst>
                    <a:ext uri="{9D8B030D-6E8A-4147-A177-3AD203B41FA5}">
                      <a16:colId xmlns:a16="http://schemas.microsoft.com/office/drawing/2014/main" val="3867468502"/>
                    </a:ext>
                  </a:extLst>
                </a:gridCol>
                <a:gridCol w="934184">
                  <a:extLst>
                    <a:ext uri="{9D8B030D-6E8A-4147-A177-3AD203B41FA5}">
                      <a16:colId xmlns:a16="http://schemas.microsoft.com/office/drawing/2014/main" val="2436247076"/>
                    </a:ext>
                  </a:extLst>
                </a:gridCol>
              </a:tblGrid>
              <a:tr h="290148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Circe Light" panose="020B0402020203020203"/>
                        </a:rPr>
                        <a:t>Показатель</a:t>
                      </a:r>
                      <a:endParaRPr lang="ru-RU" sz="1100" dirty="0">
                        <a:effectLst/>
                        <a:latin typeface="Circe Light" panose="020B0402020203020203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Circe Light" panose="020B0402020203020203"/>
                        </a:rPr>
                        <a:t>неделя</a:t>
                      </a:r>
                      <a:endParaRPr lang="ru-RU" sz="1100" dirty="0">
                        <a:effectLst/>
                        <a:latin typeface="Circe Light" panose="020B0402020203020203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Circe Light" panose="020B0402020203020203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Месяц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Circe Light" panose="020B0402020203020203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План Месяц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65383858"/>
                  </a:ext>
                </a:extLst>
              </a:tr>
              <a:tr h="202324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Circe Light" panose="020B0402020203020203"/>
                        </a:rPr>
                        <a:t>Количество поездов вход</a:t>
                      </a:r>
                      <a:endParaRPr lang="ru-RU" sz="1100" dirty="0">
                        <a:effectLst/>
                        <a:latin typeface="Circe Light" panose="020B0402020203020203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Circe Light" panose="020B0402020203020203"/>
                        </a:rPr>
                        <a:t>груженых</a:t>
                      </a:r>
                      <a:endParaRPr lang="ru-RU" sz="1100" dirty="0">
                        <a:effectLst/>
                        <a:latin typeface="Circe Light" panose="020B0402020203020203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Circe Light" panose="020B0402020203020203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irce Light" panose="020B0402020203020203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ru-RU" sz="1100" dirty="0">
                          <a:effectLst/>
                          <a:latin typeface="Circe Light" panose="020B0402020203020203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Circe Light" panose="020B0402020203020203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31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01671513"/>
                  </a:ext>
                </a:extLst>
              </a:tr>
              <a:tr h="21108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Circe Light" panose="020B0402020203020203"/>
                        </a:rPr>
                        <a:t>порожних</a:t>
                      </a:r>
                      <a:endParaRPr lang="ru-RU" sz="1100" dirty="0">
                        <a:effectLst/>
                        <a:latin typeface="Circe Light" panose="020B0402020203020203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Circe Light" panose="020B0402020203020203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Circe Light" panose="020B0402020203020203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ru-RU" sz="1100" dirty="0">
                        <a:effectLst/>
                        <a:latin typeface="Circe Light" panose="020B0402020203020203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84623659"/>
                  </a:ext>
                </a:extLst>
              </a:tr>
              <a:tr h="310039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Circe Light" panose="020B0402020203020203"/>
                        </a:rPr>
                        <a:t>Количество поездов выход</a:t>
                      </a:r>
                      <a:endParaRPr lang="ru-RU" sz="1100" dirty="0">
                        <a:effectLst/>
                        <a:latin typeface="Circe Light" panose="020B0402020203020203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Circe Light" panose="020B0402020203020203"/>
                        </a:rPr>
                        <a:t>груженых</a:t>
                      </a:r>
                      <a:endParaRPr lang="ru-RU" sz="1100" dirty="0">
                        <a:effectLst/>
                        <a:latin typeface="Circe Light" panose="020B0402020203020203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  <a:latin typeface="Circe Light" panose="020B0402020203020203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1100" dirty="0">
                        <a:effectLst/>
                        <a:latin typeface="Circe Light" panose="020B0402020203020203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Circe Light" panose="020B0402020203020203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Circe Light" panose="020B0402020203020203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22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36169159"/>
                  </a:ext>
                </a:extLst>
              </a:tr>
              <a:tr h="202324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Circe Light" panose="020B0402020203020203"/>
                        </a:rPr>
                        <a:t>порожних</a:t>
                      </a:r>
                      <a:endParaRPr lang="ru-RU" sz="1100" dirty="0">
                        <a:effectLst/>
                        <a:latin typeface="Circe Light" panose="020B0402020203020203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Circe Light" panose="020B0402020203020203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100" dirty="0">
                          <a:effectLst/>
                          <a:latin typeface="Circe Light" panose="020B0402020203020203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ru-RU" sz="1100" dirty="0">
                        <a:effectLst/>
                        <a:latin typeface="Circe Light" panose="020B0402020203020203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29456077"/>
                  </a:ext>
                </a:extLst>
              </a:tr>
            </a:tbl>
          </a:graphicData>
        </a:graphic>
      </p:graphicFrame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E62DC543-B8DA-6D45-6E01-58B8FF3E9704}"/>
              </a:ext>
            </a:extLst>
          </p:cNvPr>
          <p:cNvGraphicFramePr>
            <a:graphicFrameLocks noGrp="1"/>
          </p:cNvGraphicFramePr>
          <p:nvPr/>
        </p:nvGraphicFramePr>
        <p:xfrm>
          <a:off x="5954694" y="2608799"/>
          <a:ext cx="6139556" cy="6131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72233">
                  <a:extLst>
                    <a:ext uri="{9D8B030D-6E8A-4147-A177-3AD203B41FA5}">
                      <a16:colId xmlns:a16="http://schemas.microsoft.com/office/drawing/2014/main" val="2669655148"/>
                    </a:ext>
                  </a:extLst>
                </a:gridCol>
                <a:gridCol w="2172233">
                  <a:extLst>
                    <a:ext uri="{9D8B030D-6E8A-4147-A177-3AD203B41FA5}">
                      <a16:colId xmlns:a16="http://schemas.microsoft.com/office/drawing/2014/main" val="3552502505"/>
                    </a:ext>
                  </a:extLst>
                </a:gridCol>
                <a:gridCol w="897545">
                  <a:extLst>
                    <a:ext uri="{9D8B030D-6E8A-4147-A177-3AD203B41FA5}">
                      <a16:colId xmlns:a16="http://schemas.microsoft.com/office/drawing/2014/main" val="2979566249"/>
                    </a:ext>
                  </a:extLst>
                </a:gridCol>
                <a:gridCol w="897545">
                  <a:extLst>
                    <a:ext uri="{9D8B030D-6E8A-4147-A177-3AD203B41FA5}">
                      <a16:colId xmlns:a16="http://schemas.microsoft.com/office/drawing/2014/main" val="3629568601"/>
                    </a:ext>
                  </a:extLst>
                </a:gridCol>
              </a:tblGrid>
              <a:tr h="221760">
                <a:tc rowSpan="3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Circe Light" panose="020B0402020203020203"/>
                        </a:rPr>
                        <a:t>Занятость контейнерной площадки (ср. значение в t</a:t>
                      </a:r>
                      <a:r>
                        <a:rPr lang="en-US" sz="1200" dirty="0" err="1">
                          <a:effectLst/>
                          <a:latin typeface="+mj-lt"/>
                        </a:rPr>
                        <a:t>eu</a:t>
                      </a:r>
                      <a:r>
                        <a:rPr lang="ru-RU" sz="1200" dirty="0">
                          <a:effectLst/>
                          <a:latin typeface="Circe Light" panose="020B0402020203020203"/>
                        </a:rPr>
                        <a:t>)</a:t>
                      </a:r>
                      <a:endParaRPr lang="ru-RU" sz="1200" dirty="0">
                        <a:effectLst/>
                        <a:latin typeface="Circe Light" panose="020B0402020203020203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b="0" dirty="0">
                          <a:effectLst/>
                          <a:latin typeface="Circe Light" panose="020B0402020203020203"/>
                        </a:rPr>
                        <a:t>Груженые КТК прибытие</a:t>
                      </a:r>
                      <a:endParaRPr lang="ru-RU" sz="1200" b="0" dirty="0">
                        <a:effectLst/>
                        <a:latin typeface="Circe Light" panose="020B0402020203020203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Circe Light" panose="020B0402020203020203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432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Circe Light" panose="020B0402020203020203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37%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5432515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Circe Light" panose="020B0402020203020203"/>
                        </a:rPr>
                        <a:t>Груженые КТК отправление</a:t>
                      </a:r>
                      <a:endParaRPr lang="ru-RU" sz="1200" dirty="0">
                        <a:effectLst/>
                        <a:latin typeface="Circe Light" panose="020B0402020203020203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Circe Light" panose="020B0402020203020203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235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Circe Light" panose="020B0402020203020203"/>
                        </a:rPr>
                        <a:t>28%</a:t>
                      </a:r>
                      <a:endParaRPr lang="ru-RU" sz="1200" dirty="0">
                        <a:effectLst/>
                        <a:latin typeface="Circe Light" panose="020B0402020203020203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18832362"/>
                  </a:ext>
                </a:extLst>
              </a:tr>
              <a:tr h="16039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Circe Light" panose="020B0402020203020203"/>
                        </a:rPr>
                        <a:t>Порожние КТК</a:t>
                      </a:r>
                      <a:endParaRPr lang="ru-RU" sz="1200" dirty="0">
                        <a:effectLst/>
                        <a:latin typeface="Circe Light" panose="020B0402020203020203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Circe Light" panose="020B0402020203020203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1869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200" dirty="0">
                          <a:effectLst/>
                          <a:latin typeface="Circe Light" panose="020B0402020203020203"/>
                        </a:rPr>
                        <a:t>47%</a:t>
                      </a:r>
                      <a:endParaRPr lang="ru-RU" sz="1200" dirty="0">
                        <a:effectLst/>
                        <a:latin typeface="Circe Light" panose="020B0402020203020203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312447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14B39317-71F3-9954-D6D4-299D944E30AB}"/>
              </a:ext>
            </a:extLst>
          </p:cNvPr>
          <p:cNvSpPr txBox="1"/>
          <p:nvPr/>
        </p:nvSpPr>
        <p:spPr>
          <a:xfrm>
            <a:off x="1082958" y="1852611"/>
            <a:ext cx="59302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endParaRPr lang="ru-RU" sz="1400" dirty="0">
              <a:latin typeface="Circe Light" panose="020B0402020203020203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8A9614-1FA6-9438-EC7A-081558E00BD6}"/>
              </a:ext>
            </a:extLst>
          </p:cNvPr>
          <p:cNvSpPr txBox="1"/>
          <p:nvPr/>
        </p:nvSpPr>
        <p:spPr>
          <a:xfrm>
            <a:off x="5920256" y="2088391"/>
            <a:ext cx="61806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ru-RU" sz="1200" dirty="0">
                <a:effectLst/>
                <a:latin typeface="Circe Light" panose="020B0402020203020203"/>
                <a:ea typeface="Calibri" panose="020F0502020204030204" pitchFamily="34" charset="0"/>
                <a:cs typeface="Times New Roman" panose="02020603050405020304" pitchFamily="18" charset="0"/>
              </a:rPr>
              <a:t>Время обслуживания автотранспорта, мин/авто:</a:t>
            </a:r>
          </a:p>
          <a:p>
            <a:pPr algn="just">
              <a:lnSpc>
                <a:spcPct val="100000"/>
              </a:lnSpc>
            </a:pPr>
            <a:r>
              <a:rPr lang="ru-RU" sz="1200" dirty="0">
                <a:effectLst/>
                <a:latin typeface="Circe Light" panose="020B0402020203020203"/>
                <a:ea typeface="Calibri" panose="020F0502020204030204" pitchFamily="34" charset="0"/>
                <a:cs typeface="Times New Roman" panose="02020603050405020304" pitchFamily="18" charset="0"/>
              </a:rPr>
              <a:t>Снятие  – 12 мин; Постановка - </a:t>
            </a:r>
            <a:r>
              <a:rPr lang="ru-RU" sz="1200" dirty="0">
                <a:latin typeface="Circe Light" panose="020B0402020203020203"/>
                <a:ea typeface="Calibri" panose="020F0502020204030204" pitchFamily="34" charset="0"/>
                <a:cs typeface="Times New Roman" panose="02020603050405020304" pitchFamily="18" charset="0"/>
              </a:rPr>
              <a:t>25</a:t>
            </a:r>
            <a:r>
              <a:rPr lang="ru-RU" sz="1200" dirty="0">
                <a:effectLst/>
                <a:latin typeface="Circe Light" panose="020B0402020203020203"/>
                <a:ea typeface="Calibri" panose="020F0502020204030204" pitchFamily="34" charset="0"/>
                <a:cs typeface="Times New Roman" panose="02020603050405020304" pitchFamily="18" charset="0"/>
              </a:rPr>
              <a:t> мин</a:t>
            </a:r>
          </a:p>
        </p:txBody>
      </p:sp>
      <p:sp>
        <p:nvSpPr>
          <p:cNvPr id="4" name="Заголовок 5">
            <a:extLst>
              <a:ext uri="{FF2B5EF4-FFF2-40B4-BE49-F238E27FC236}">
                <a16:creationId xmlns:a16="http://schemas.microsoft.com/office/drawing/2014/main" id="{F4824231-AB9C-4FF9-097A-7F06B23607A3}"/>
              </a:ext>
            </a:extLst>
          </p:cNvPr>
          <p:cNvSpPr txBox="1">
            <a:spLocks/>
          </p:cNvSpPr>
          <p:nvPr/>
        </p:nvSpPr>
        <p:spPr>
          <a:xfrm>
            <a:off x="5920256" y="5554660"/>
            <a:ext cx="6247336" cy="8923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7000"/>
              </a:lnSpc>
            </a:pPr>
            <a:r>
              <a:rPr lang="ru-RU" sz="1200" dirty="0">
                <a:effectLst/>
                <a:latin typeface="Circe Light" panose="020B0402020203020203"/>
                <a:ea typeface="Calibri" panose="020F0502020204030204" pitchFamily="34" charset="0"/>
                <a:cs typeface="Times New Roman" panose="02020603050405020304" pitchFamily="18" charset="0"/>
              </a:rPr>
              <a:t>Вакансия –  1 (составитель)</a:t>
            </a:r>
          </a:p>
          <a:p>
            <a:pPr algn="just">
              <a:lnSpc>
                <a:spcPct val="107000"/>
              </a:lnSpc>
            </a:pPr>
            <a:r>
              <a:rPr lang="ru-RU" sz="1200" dirty="0">
                <a:effectLst/>
                <a:latin typeface="Circe Light" panose="020B0402020203020203"/>
                <a:ea typeface="Calibri" panose="020F0502020204030204" pitchFamily="34" charset="0"/>
                <a:cs typeface="Times New Roman" panose="02020603050405020304" pitchFamily="18" charset="0"/>
              </a:rPr>
              <a:t>Трудоустройство – 1 (машинист)</a:t>
            </a:r>
          </a:p>
          <a:p>
            <a:pPr algn="just">
              <a:lnSpc>
                <a:spcPct val="107000"/>
              </a:lnSpc>
            </a:pPr>
            <a:r>
              <a:rPr lang="ru-RU" sz="1200" dirty="0">
                <a:effectLst/>
                <a:latin typeface="Circe Light" panose="020B0402020203020203"/>
                <a:ea typeface="Calibri" panose="020F0502020204030204" pitchFamily="34" charset="0"/>
                <a:cs typeface="Times New Roman" panose="02020603050405020304" pitchFamily="18" charset="0"/>
              </a:rPr>
              <a:t>Увольнения – </a:t>
            </a:r>
            <a:r>
              <a:rPr lang="en-US" sz="1200" dirty="0">
                <a:effectLst/>
                <a:latin typeface="Circe Light" panose="020B0402020203020203"/>
                <a:ea typeface="Calibri" panose="020F0502020204030204" pitchFamily="34" charset="0"/>
                <a:cs typeface="Times New Roman" panose="02020603050405020304" pitchFamily="18" charset="0"/>
              </a:rPr>
              <a:t>1 </a:t>
            </a:r>
            <a:r>
              <a:rPr lang="ru-RU" sz="1200" dirty="0">
                <a:effectLst/>
                <a:latin typeface="Circe Light" panose="020B0402020203020203"/>
                <a:ea typeface="Calibri" panose="020F0502020204030204" pitchFamily="34" charset="0"/>
                <a:cs typeface="Times New Roman" panose="02020603050405020304" pitchFamily="18" charset="0"/>
              </a:rPr>
              <a:t>зам </a:t>
            </a:r>
            <a:r>
              <a:rPr lang="ru-RU" sz="1200" dirty="0" err="1">
                <a:effectLst/>
                <a:latin typeface="Circe Light" panose="020B0402020203020203"/>
                <a:ea typeface="Calibri" panose="020F0502020204030204" pitchFamily="34" charset="0"/>
                <a:cs typeface="Times New Roman" panose="02020603050405020304" pitchFamily="18" charset="0"/>
              </a:rPr>
              <a:t>исп</a:t>
            </a:r>
            <a:r>
              <a:rPr lang="ru-RU" sz="1200" dirty="0">
                <a:effectLst/>
                <a:latin typeface="Circe Light" panose="020B0402020203020203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effectLst/>
                <a:latin typeface="Circe Light" panose="020B0402020203020203"/>
                <a:ea typeface="Calibri" panose="020F0502020204030204" pitchFamily="34" charset="0"/>
                <a:cs typeface="Times New Roman" panose="02020603050405020304" pitchFamily="18" charset="0"/>
              </a:rPr>
              <a:t>дир</a:t>
            </a:r>
            <a:r>
              <a:rPr lang="ru-RU" sz="1200" dirty="0">
                <a:effectLst/>
                <a:latin typeface="Circe Light" panose="020B0402020203020203"/>
                <a:ea typeface="Calibri" panose="020F0502020204030204" pitchFamily="34" charset="0"/>
                <a:cs typeface="Times New Roman" panose="02020603050405020304" pitchFamily="18" charset="0"/>
              </a:rPr>
              <a:t> Егоров Алексей Анатольевич</a:t>
            </a:r>
          </a:p>
        </p:txBody>
      </p:sp>
    </p:spTree>
    <p:extLst>
      <p:ext uri="{BB962C8B-B14F-4D97-AF65-F5344CB8AC3E}">
        <p14:creationId xmlns:p14="http://schemas.microsoft.com/office/powerpoint/2010/main" val="44099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C10975EA-BDF7-425F-A07F-D7FD991E93B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490961"/>
          </a:xfrm>
          <a:prstGeom prst="rect">
            <a:avLst/>
          </a:prstGeom>
          <a:solidFill>
            <a:srgbClr val="1C125C"/>
          </a:solidFill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solidFill>
                  <a:schemeClr val="bg1"/>
                </a:solidFill>
                <a:latin typeface="Circe Light" panose="020B0402020203020203" pitchFamily="34" charset="-52"/>
              </a:rPr>
              <a:t>Главный </a:t>
            </a:r>
            <a:r>
              <a:rPr lang="ru-RU" sz="3600">
                <a:solidFill>
                  <a:schemeClr val="bg1"/>
                </a:solidFill>
                <a:latin typeface="Circe Light" panose="020B0402020203020203" pitchFamily="34" charset="-52"/>
              </a:rPr>
              <a:t>инженер СТ </a:t>
            </a:r>
            <a:r>
              <a:rPr lang="en-US" sz="3600" dirty="0">
                <a:solidFill>
                  <a:schemeClr val="bg1"/>
                </a:solidFill>
                <a:latin typeface="Circe Light" panose="020B0402020203020203" pitchFamily="34" charset="-52"/>
              </a:rPr>
              <a:t>– </a:t>
            </a:r>
            <a:r>
              <a:rPr lang="ru-RU" sz="3600" dirty="0">
                <a:solidFill>
                  <a:schemeClr val="bg1"/>
                </a:solidFill>
                <a:latin typeface="Circe Light" panose="020B0402020203020203" pitchFamily="34" charset="-52"/>
              </a:rPr>
              <a:t>Арутюнян Г.</a:t>
            </a:r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-1" y="470517"/>
            <a:ext cx="5956916" cy="429627"/>
          </a:xfrm>
          <a:solidFill>
            <a:srgbClr val="9E89C1"/>
          </a:solidFill>
        </p:spPr>
        <p:txBody>
          <a:bodyPr>
            <a:normAutofit fontScale="90000"/>
          </a:bodyPr>
          <a:lstStyle/>
          <a:p>
            <a:pPr algn="ctr"/>
            <a:r>
              <a:rPr lang="ru-RU" sz="2400" dirty="0">
                <a:latin typeface="Circe Light"/>
              </a:rPr>
              <a:t>Ключевые события прошлой недели:</a:t>
            </a:r>
          </a:p>
        </p:txBody>
      </p:sp>
      <p:sp>
        <p:nvSpPr>
          <p:cNvPr id="12" name="Заголовок 5"/>
          <p:cNvSpPr txBox="1">
            <a:spLocks/>
          </p:cNvSpPr>
          <p:nvPr/>
        </p:nvSpPr>
        <p:spPr>
          <a:xfrm>
            <a:off x="-3" y="2792963"/>
            <a:ext cx="5965795" cy="429627"/>
          </a:xfrm>
          <a:prstGeom prst="rect">
            <a:avLst/>
          </a:prstGeom>
          <a:solidFill>
            <a:srgbClr val="9E89C1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>
                <a:latin typeface="Circe Light"/>
              </a:rPr>
              <a:t>Ключевые планы новой недели:</a:t>
            </a:r>
          </a:p>
        </p:txBody>
      </p:sp>
      <p:sp>
        <p:nvSpPr>
          <p:cNvPr id="13" name="Заголовок 5"/>
          <p:cNvSpPr txBox="1">
            <a:spLocks/>
          </p:cNvSpPr>
          <p:nvPr/>
        </p:nvSpPr>
        <p:spPr>
          <a:xfrm>
            <a:off x="-18282" y="897858"/>
            <a:ext cx="6069366" cy="19132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20000"/>
              </a:lnSpc>
              <a:buFontTx/>
              <a:buAutoNum type="arabicParenR"/>
            </a:pPr>
            <a:r>
              <a:rPr lang="ru-RU" sz="1300" dirty="0">
                <a:latin typeface="Circe Light" panose="020B0402020203020203" pitchFamily="34" charset="-52"/>
                <a:cs typeface="Times New Roman" panose="02020603050405020304" pitchFamily="18" charset="0"/>
              </a:rPr>
              <a:t>СЛ, СТ сбор листов ознакомления</a:t>
            </a:r>
          </a:p>
          <a:p>
            <a:pPr marL="342900" indent="-342900">
              <a:lnSpc>
                <a:spcPct val="120000"/>
              </a:lnSpc>
              <a:buFontTx/>
              <a:buAutoNum type="arabicParenR"/>
            </a:pPr>
            <a:r>
              <a:rPr lang="ru-RU" sz="1300" dirty="0">
                <a:latin typeface="Circe Light" panose="020B0402020203020203" pitchFamily="34" charset="-52"/>
                <a:cs typeface="Times New Roman" panose="02020603050405020304" pitchFamily="18" charset="0"/>
              </a:rPr>
              <a:t>СЛ, СТ запуск обучения (получение доступов, доведение до персонала)</a:t>
            </a:r>
          </a:p>
          <a:p>
            <a:pPr>
              <a:lnSpc>
                <a:spcPct val="120000"/>
              </a:lnSpc>
            </a:pPr>
            <a:endParaRPr lang="ru-RU" sz="1300" dirty="0">
              <a:latin typeface="Circe Light" panose="020B0402020203020203" pitchFamily="34" charset="-52"/>
              <a:cs typeface="Times New Roman" panose="02020603050405020304" pitchFamily="18" charset="0"/>
            </a:endParaRPr>
          </a:p>
        </p:txBody>
      </p:sp>
      <p:sp>
        <p:nvSpPr>
          <p:cNvPr id="16" name="Заголовок 5"/>
          <p:cNvSpPr txBox="1">
            <a:spLocks/>
          </p:cNvSpPr>
          <p:nvPr/>
        </p:nvSpPr>
        <p:spPr>
          <a:xfrm>
            <a:off x="-3" y="5560916"/>
            <a:ext cx="12183121" cy="128820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dirty="0">
                <a:latin typeface="Circe Light" panose="020B0402020203020203" pitchFamily="34" charset="-52"/>
                <a:cs typeface="Times New Roman" panose="02020603050405020304" pitchFamily="18" charset="0"/>
              </a:rPr>
              <a:t>Болеет: 0</a:t>
            </a:r>
          </a:p>
          <a:p>
            <a:r>
              <a:rPr lang="ru-RU" sz="1600" dirty="0">
                <a:latin typeface="Circe Light" panose="020B0402020203020203" pitchFamily="34" charset="-52"/>
                <a:cs typeface="Times New Roman" panose="02020603050405020304" pitchFamily="18" charset="0"/>
              </a:rPr>
              <a:t>В отпуске: 0</a:t>
            </a:r>
            <a:br>
              <a:rPr lang="ru-RU" sz="1600" dirty="0">
                <a:latin typeface="Circe Light" panose="020B0402020203020203" pitchFamily="34" charset="-52"/>
                <a:cs typeface="Times New Roman" panose="02020603050405020304" pitchFamily="18" charset="0"/>
              </a:rPr>
            </a:br>
            <a:r>
              <a:rPr lang="ru-RU" sz="1600" dirty="0">
                <a:latin typeface="Circe Light" panose="020B0402020203020203" pitchFamily="34" charset="-52"/>
                <a:cs typeface="Times New Roman" panose="02020603050405020304" pitchFamily="18" charset="0"/>
              </a:rPr>
              <a:t>В командировке: 0</a:t>
            </a:r>
          </a:p>
          <a:p>
            <a:r>
              <a:rPr lang="ru-RU" sz="1600" dirty="0">
                <a:latin typeface="Circe Light" panose="020B0402020203020203" pitchFamily="34" charset="-52"/>
                <a:cs typeface="Times New Roman" panose="02020603050405020304" pitchFamily="18" charset="0"/>
              </a:rPr>
              <a:t>Увольняются: 0</a:t>
            </a:r>
          </a:p>
          <a:p>
            <a:r>
              <a:rPr lang="ru-RU" sz="1600" dirty="0">
                <a:latin typeface="Circe Light" panose="020B0402020203020203" pitchFamily="34" charset="-52"/>
                <a:cs typeface="Times New Roman" panose="02020603050405020304" pitchFamily="18" charset="0"/>
              </a:rPr>
              <a:t>Еще не наняты: 0 </a:t>
            </a:r>
          </a:p>
        </p:txBody>
      </p:sp>
      <p:sp>
        <p:nvSpPr>
          <p:cNvPr id="17" name="Заголовок 5"/>
          <p:cNvSpPr txBox="1">
            <a:spLocks/>
          </p:cNvSpPr>
          <p:nvPr/>
        </p:nvSpPr>
        <p:spPr>
          <a:xfrm>
            <a:off x="0" y="5115409"/>
            <a:ext cx="12191998" cy="429627"/>
          </a:xfrm>
          <a:prstGeom prst="rect">
            <a:avLst/>
          </a:prstGeom>
          <a:solidFill>
            <a:srgbClr val="9E89C1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>
                <a:latin typeface="Circe Light"/>
              </a:rPr>
              <a:t>Отпуск, отсутствия в отделе :</a:t>
            </a:r>
          </a:p>
        </p:txBody>
      </p:sp>
      <p:sp>
        <p:nvSpPr>
          <p:cNvPr id="18" name="Заголовок 5"/>
          <p:cNvSpPr txBox="1">
            <a:spLocks/>
          </p:cNvSpPr>
          <p:nvPr/>
        </p:nvSpPr>
        <p:spPr>
          <a:xfrm>
            <a:off x="5956913" y="470516"/>
            <a:ext cx="6235085" cy="429627"/>
          </a:xfrm>
          <a:prstGeom prst="rect">
            <a:avLst/>
          </a:prstGeom>
          <a:solidFill>
            <a:srgbClr val="9E89C1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>
                <a:latin typeface="Circe Light"/>
              </a:rPr>
              <a:t>Метрики, достижения, показатели:</a:t>
            </a:r>
          </a:p>
        </p:txBody>
      </p:sp>
      <p:sp>
        <p:nvSpPr>
          <p:cNvPr id="21" name="Заголовок 5"/>
          <p:cNvSpPr txBox="1">
            <a:spLocks/>
          </p:cNvSpPr>
          <p:nvPr/>
        </p:nvSpPr>
        <p:spPr>
          <a:xfrm>
            <a:off x="5956912" y="4231531"/>
            <a:ext cx="6243965" cy="904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dirty="0">
                <a:latin typeface="Circe Light"/>
              </a:rPr>
              <a:t> </a:t>
            </a:r>
            <a:br>
              <a:rPr lang="ru-RU" sz="1600" dirty="0">
                <a:latin typeface="Circe Light"/>
              </a:rPr>
            </a:br>
            <a:br>
              <a:rPr lang="ru-RU" sz="1600" dirty="0">
                <a:latin typeface="Circe Light"/>
              </a:rPr>
            </a:br>
            <a:br>
              <a:rPr lang="ru-RU" sz="1600" dirty="0">
                <a:latin typeface="Circe Light"/>
              </a:rPr>
            </a:br>
            <a:r>
              <a:rPr lang="ru-RU" sz="1600" dirty="0">
                <a:latin typeface="Circe Light"/>
              </a:rPr>
              <a:t>   </a:t>
            </a:r>
          </a:p>
        </p:txBody>
      </p:sp>
      <p:sp>
        <p:nvSpPr>
          <p:cNvPr id="23" name="Заголовок 5"/>
          <p:cNvSpPr txBox="1">
            <a:spLocks/>
          </p:cNvSpPr>
          <p:nvPr/>
        </p:nvSpPr>
        <p:spPr>
          <a:xfrm>
            <a:off x="-4" y="3222590"/>
            <a:ext cx="5956915" cy="19132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20000"/>
              </a:lnSpc>
              <a:buAutoNum type="arabicParenR"/>
            </a:pPr>
            <a:r>
              <a:rPr lang="ru-RU" sz="1300" dirty="0">
                <a:latin typeface="Circe Light" panose="020B0402020203020203" pitchFamily="34" charset="-52"/>
                <a:cs typeface="Times New Roman" panose="02020603050405020304" pitchFamily="18" charset="0"/>
              </a:rPr>
              <a:t>Подготовка приказов по СЛ -2шт</a:t>
            </a:r>
          </a:p>
          <a:p>
            <a:pPr marL="342900" indent="-342900">
              <a:lnSpc>
                <a:spcPct val="120000"/>
              </a:lnSpc>
              <a:buAutoNum type="arabicParenR"/>
            </a:pPr>
            <a:r>
              <a:rPr lang="ru-RU" sz="1300" dirty="0">
                <a:latin typeface="Circe Light" panose="020B0402020203020203" pitchFamily="34" charset="-52"/>
                <a:cs typeface="Times New Roman" panose="02020603050405020304" pitchFamily="18" charset="0"/>
              </a:rPr>
              <a:t>Прохождение обучения по СТ</a:t>
            </a:r>
          </a:p>
          <a:p>
            <a:pPr marL="342900" indent="-342900">
              <a:lnSpc>
                <a:spcPct val="120000"/>
              </a:lnSpc>
              <a:buAutoNum type="arabicParenR"/>
            </a:pPr>
            <a:endParaRPr lang="ru-RU" sz="1300" dirty="0">
              <a:latin typeface="Circe Light" panose="020B0402020203020203" pitchFamily="34" charset="-5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AutoNum type="arabicParenR"/>
            </a:pPr>
            <a:endParaRPr lang="ru-RU" sz="1300" dirty="0">
              <a:latin typeface="Circe Light" panose="020B0402020203020203" pitchFamily="34" charset="-5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ru-RU" sz="1300" dirty="0">
              <a:latin typeface="Circe Light" panose="020B0402020203020203" pitchFamily="34" charset="-5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AutoNum type="arabicParenR"/>
            </a:pPr>
            <a:endParaRPr lang="ru-RU" sz="1300" dirty="0">
              <a:latin typeface="Circe Light" panose="020B0402020203020203" pitchFamily="34" charset="-5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ru-RU" sz="1300" dirty="0">
              <a:latin typeface="Circe Light" panose="020B0402020203020203" pitchFamily="34" charset="-5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ru-RU" sz="1300" dirty="0">
              <a:latin typeface="Circe Light" panose="020B0402020203020203" pitchFamily="34" charset="-52"/>
              <a:cs typeface="Times New Roman" panose="02020603050405020304" pitchFamily="18" charset="0"/>
            </a:endParaRPr>
          </a:p>
        </p:txBody>
      </p:sp>
      <p:sp>
        <p:nvSpPr>
          <p:cNvPr id="14" name="Заголовок 5">
            <a:extLst>
              <a:ext uri="{FF2B5EF4-FFF2-40B4-BE49-F238E27FC236}">
                <a16:creationId xmlns:a16="http://schemas.microsoft.com/office/drawing/2014/main" id="{E402E10E-81A7-4170-A5FD-D70E1ADACA54}"/>
              </a:ext>
            </a:extLst>
          </p:cNvPr>
          <p:cNvSpPr txBox="1">
            <a:spLocks/>
          </p:cNvSpPr>
          <p:nvPr/>
        </p:nvSpPr>
        <p:spPr>
          <a:xfrm>
            <a:off x="5956911" y="916023"/>
            <a:ext cx="6226204" cy="33336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b="1" dirty="0">
                <a:solidFill>
                  <a:prstClr val="black"/>
                </a:solidFill>
                <a:latin typeface="Circe Light" panose="020B0402020203020203" pitchFamily="34" charset="-52"/>
                <a:ea typeface="+mn-ea"/>
                <a:cs typeface="Times New Roman" panose="02020603050405020304" pitchFamily="18" charset="0"/>
              </a:rPr>
              <a:t>Документооборот: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dirty="0">
                <a:solidFill>
                  <a:prstClr val="black"/>
                </a:solidFill>
                <a:latin typeface="Circe Light" panose="020B0402020203020203" pitchFamily="34" charset="-52"/>
                <a:ea typeface="+mn-ea"/>
                <a:cs typeface="Times New Roman" panose="02020603050405020304" pitchFamily="18" charset="0"/>
              </a:rPr>
              <a:t>Разработка локально-нормативных документов:</a:t>
            </a:r>
            <a:br>
              <a:rPr lang="ru-RU" sz="1400" b="1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ru-RU" sz="1400" dirty="0">
                <a:solidFill>
                  <a:prstClr val="black"/>
                </a:solidFill>
                <a:latin typeface="Circe Light" panose="020B0402020203020203" pitchFamily="34" charset="-52"/>
                <a:ea typeface="+mn-ea"/>
                <a:cs typeface="Times New Roman" panose="02020603050405020304" pitchFamily="18" charset="0"/>
              </a:rPr>
              <a:t>- СЛ требуется 96 сделано 83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sz="1400" dirty="0">
                <a:solidFill>
                  <a:prstClr val="black"/>
                </a:solidFill>
                <a:latin typeface="Circe Light" panose="020B0402020203020203" pitchFamily="34" charset="-52"/>
                <a:ea typeface="+mn-ea"/>
                <a:cs typeface="Times New Roman" panose="02020603050405020304" pitchFamily="18" charset="0"/>
              </a:rPr>
              <a:t>- СТ требуется 96 </a:t>
            </a:r>
            <a:r>
              <a:rPr lang="ru-RU" sz="1400">
                <a:solidFill>
                  <a:prstClr val="black"/>
                </a:solidFill>
                <a:latin typeface="Circe Light" panose="020B0402020203020203" pitchFamily="34" charset="-52"/>
                <a:ea typeface="+mn-ea"/>
                <a:cs typeface="Times New Roman" panose="02020603050405020304" pitchFamily="18" charset="0"/>
              </a:rPr>
              <a:t>сделано 86</a:t>
            </a:r>
            <a:endParaRPr lang="ru-RU" sz="1400" dirty="0">
              <a:solidFill>
                <a:prstClr val="black"/>
              </a:solidFill>
              <a:latin typeface="Circe Light" panose="020B0402020203020203" pitchFamily="34" charset="-52"/>
              <a:ea typeface="+mn-ea"/>
              <a:cs typeface="Times New Roman" panose="02020603050405020304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sz="1400" b="1" dirty="0">
                <a:solidFill>
                  <a:prstClr val="black"/>
                </a:solidFill>
                <a:latin typeface="Circe Light" panose="020B0402020203020203" pitchFamily="34" charset="-52"/>
                <a:ea typeface="+mn-ea"/>
                <a:cs typeface="Times New Roman" panose="02020603050405020304" pitchFamily="18" charset="0"/>
              </a:rPr>
              <a:t>Обучение:</a:t>
            </a:r>
          </a:p>
        </p:txBody>
      </p:sp>
    </p:spTree>
    <p:extLst>
      <p:ext uri="{BB962C8B-B14F-4D97-AF65-F5344CB8AC3E}">
        <p14:creationId xmlns:p14="http://schemas.microsoft.com/office/powerpoint/2010/main" val="895418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C10975EA-BDF7-425F-A07F-D7FD991E93B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490961"/>
          </a:xfrm>
          <a:prstGeom prst="rect">
            <a:avLst/>
          </a:prstGeom>
          <a:solidFill>
            <a:srgbClr val="1C125C"/>
          </a:solidFill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solidFill>
                  <a:schemeClr val="bg1"/>
                </a:solidFill>
                <a:latin typeface="Circe Light" panose="020B0402020203020203" pitchFamily="34" charset="-52"/>
              </a:rPr>
              <a:t>Клиентский сервис </a:t>
            </a:r>
            <a:r>
              <a:rPr lang="ru-RU" sz="3600" dirty="0" err="1">
                <a:solidFill>
                  <a:schemeClr val="bg1"/>
                </a:solidFill>
                <a:latin typeface="Circe Light" panose="020B0402020203020203" pitchFamily="34" charset="-52"/>
              </a:rPr>
              <a:t>Сигир</a:t>
            </a:r>
            <a:r>
              <a:rPr lang="ru-RU" sz="3600" dirty="0">
                <a:solidFill>
                  <a:schemeClr val="bg1"/>
                </a:solidFill>
                <a:latin typeface="Circe Light" panose="020B0402020203020203" pitchFamily="34" charset="-52"/>
              </a:rPr>
              <a:t> </a:t>
            </a:r>
            <a:r>
              <a:rPr lang="ru-RU" sz="3600" dirty="0" err="1">
                <a:solidFill>
                  <a:schemeClr val="bg1"/>
                </a:solidFill>
                <a:latin typeface="Circe Light" panose="020B0402020203020203" pitchFamily="34" charset="-52"/>
              </a:rPr>
              <a:t>Терминалс</a:t>
            </a:r>
            <a:r>
              <a:rPr lang="ru-RU" sz="3600" dirty="0">
                <a:solidFill>
                  <a:schemeClr val="bg1"/>
                </a:solidFill>
                <a:latin typeface="Circe Light" panose="020B0402020203020203" pitchFamily="34" charset="-52"/>
              </a:rPr>
              <a:t> </a:t>
            </a:r>
            <a:r>
              <a:rPr lang="en-US" sz="3600" dirty="0">
                <a:solidFill>
                  <a:schemeClr val="bg1"/>
                </a:solidFill>
                <a:latin typeface="Circe Light" panose="020B0402020203020203" pitchFamily="34" charset="-52"/>
              </a:rPr>
              <a:t>– </a:t>
            </a:r>
            <a:r>
              <a:rPr lang="ru-RU" sz="3600" dirty="0">
                <a:solidFill>
                  <a:schemeClr val="bg1"/>
                </a:solidFill>
                <a:latin typeface="Circe Light" panose="020B0402020203020203" pitchFamily="34" charset="-52"/>
              </a:rPr>
              <a:t>Челядинова К.</a:t>
            </a:r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-1" y="470517"/>
            <a:ext cx="5956916" cy="429627"/>
          </a:xfrm>
          <a:solidFill>
            <a:srgbClr val="9E89C1"/>
          </a:solidFill>
        </p:spPr>
        <p:txBody>
          <a:bodyPr>
            <a:normAutofit fontScale="90000"/>
          </a:bodyPr>
          <a:lstStyle/>
          <a:p>
            <a:pPr algn="ctr"/>
            <a:r>
              <a:rPr lang="ru-RU" sz="2400" dirty="0">
                <a:latin typeface="Circe Light"/>
              </a:rPr>
              <a:t>Ключевые события прошлой недели:</a:t>
            </a:r>
          </a:p>
        </p:txBody>
      </p:sp>
      <p:sp>
        <p:nvSpPr>
          <p:cNvPr id="12" name="Заголовок 5"/>
          <p:cNvSpPr txBox="1">
            <a:spLocks/>
          </p:cNvSpPr>
          <p:nvPr/>
        </p:nvSpPr>
        <p:spPr>
          <a:xfrm>
            <a:off x="-3" y="2792963"/>
            <a:ext cx="5965795" cy="429627"/>
          </a:xfrm>
          <a:prstGeom prst="rect">
            <a:avLst/>
          </a:prstGeom>
          <a:solidFill>
            <a:srgbClr val="9E89C1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>
                <a:latin typeface="Circe Light"/>
              </a:rPr>
              <a:t>Ключевые планы новой недели:</a:t>
            </a:r>
          </a:p>
        </p:txBody>
      </p:sp>
      <p:sp>
        <p:nvSpPr>
          <p:cNvPr id="13" name="Заголовок 5"/>
          <p:cNvSpPr txBox="1">
            <a:spLocks/>
          </p:cNvSpPr>
          <p:nvPr/>
        </p:nvSpPr>
        <p:spPr>
          <a:xfrm>
            <a:off x="-18282" y="897858"/>
            <a:ext cx="6069366" cy="19132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ru-RU" sz="1600" dirty="0">
                <a:solidFill>
                  <a:prstClr val="black"/>
                </a:solidFill>
                <a:latin typeface="Circe Light" panose="020B0402020203020203" pitchFamily="34" charset="-52"/>
                <a:ea typeface="+mn-ea"/>
                <a:cs typeface="Times New Roman" panose="02020603050405020304" pitchFamily="18" charset="0"/>
              </a:rPr>
              <a:t>Провели встречу с клиентом </a:t>
            </a:r>
            <a:r>
              <a:rPr lang="ru-RU" sz="1600">
                <a:solidFill>
                  <a:prstClr val="black"/>
                </a:solidFill>
                <a:latin typeface="Circe Light" panose="020B0402020203020203" pitchFamily="34" charset="-52"/>
                <a:ea typeface="+mn-ea"/>
                <a:cs typeface="Times New Roman" panose="02020603050405020304" pitchFamily="18" charset="0"/>
              </a:rPr>
              <a:t>МОДЕРН ВЕЙ </a:t>
            </a:r>
            <a:endParaRPr lang="ru-RU" sz="1600" dirty="0">
              <a:solidFill>
                <a:prstClr val="black"/>
              </a:solidFill>
              <a:latin typeface="Circe Light" panose="020B0402020203020203" pitchFamily="34" charset="-52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ru-RU" sz="1600" dirty="0">
              <a:solidFill>
                <a:prstClr val="black"/>
              </a:solidFill>
              <a:latin typeface="Circe Light" panose="020B0402020203020203" pitchFamily="34" charset="-52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Заголовок 5"/>
          <p:cNvSpPr txBox="1">
            <a:spLocks/>
          </p:cNvSpPr>
          <p:nvPr/>
        </p:nvSpPr>
        <p:spPr>
          <a:xfrm>
            <a:off x="-3" y="5560916"/>
            <a:ext cx="12183121" cy="128820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dirty="0">
                <a:latin typeface="Circe Light" panose="020B0402020203020203" pitchFamily="34" charset="-52"/>
                <a:cs typeface="Times New Roman" panose="02020603050405020304" pitchFamily="18" charset="0"/>
              </a:rPr>
              <a:t>Болеет: 0 </a:t>
            </a:r>
          </a:p>
          <a:p>
            <a:r>
              <a:rPr lang="ru-RU" sz="1600" dirty="0">
                <a:latin typeface="Circe Light" panose="020B0402020203020203" pitchFamily="34" charset="-52"/>
                <a:cs typeface="Times New Roman" panose="02020603050405020304" pitchFamily="18" charset="0"/>
              </a:rPr>
              <a:t>В отпуске: 2 – Токарская Д. с 13.06 по 26.06, Черноярова А. с 10.06 по 24.06. – замещает Конюхова В. </a:t>
            </a:r>
            <a:br>
              <a:rPr lang="ru-RU" sz="1600" dirty="0">
                <a:latin typeface="Circe Light" panose="020B0402020203020203" pitchFamily="34" charset="-52"/>
                <a:cs typeface="Times New Roman" panose="02020603050405020304" pitchFamily="18" charset="0"/>
              </a:rPr>
            </a:br>
            <a:r>
              <a:rPr lang="ru-RU" sz="1600" dirty="0">
                <a:latin typeface="Circe Light" panose="020B0402020203020203" pitchFamily="34" charset="-52"/>
                <a:cs typeface="Times New Roman" panose="02020603050405020304" pitchFamily="18" charset="0"/>
              </a:rPr>
              <a:t>В командировке: 0</a:t>
            </a:r>
          </a:p>
          <a:p>
            <a:r>
              <a:rPr lang="ru-RU" sz="1600" dirty="0">
                <a:latin typeface="Circe Light" panose="020B0402020203020203" pitchFamily="34" charset="-52"/>
                <a:cs typeface="Times New Roman" panose="02020603050405020304" pitchFamily="18" charset="0"/>
              </a:rPr>
              <a:t>Увольняются: 0</a:t>
            </a:r>
          </a:p>
          <a:p>
            <a:r>
              <a:rPr lang="ru-RU" sz="1600" dirty="0">
                <a:latin typeface="Circe Light" panose="020B0402020203020203" pitchFamily="34" charset="-52"/>
                <a:cs typeface="Times New Roman" panose="02020603050405020304" pitchFamily="18" charset="0"/>
              </a:rPr>
              <a:t>Еще не наняты: 0</a:t>
            </a:r>
          </a:p>
        </p:txBody>
      </p:sp>
      <p:sp>
        <p:nvSpPr>
          <p:cNvPr id="17" name="Заголовок 5"/>
          <p:cNvSpPr txBox="1">
            <a:spLocks/>
          </p:cNvSpPr>
          <p:nvPr/>
        </p:nvSpPr>
        <p:spPr>
          <a:xfrm>
            <a:off x="0" y="5115409"/>
            <a:ext cx="12191998" cy="429627"/>
          </a:xfrm>
          <a:prstGeom prst="rect">
            <a:avLst/>
          </a:prstGeom>
          <a:solidFill>
            <a:srgbClr val="9E89C1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>
                <a:latin typeface="Circe Light"/>
              </a:rPr>
              <a:t>Отпуск, отсутствия в отделе :</a:t>
            </a:r>
          </a:p>
        </p:txBody>
      </p:sp>
      <p:sp>
        <p:nvSpPr>
          <p:cNvPr id="18" name="Заголовок 5"/>
          <p:cNvSpPr txBox="1">
            <a:spLocks/>
          </p:cNvSpPr>
          <p:nvPr/>
        </p:nvSpPr>
        <p:spPr>
          <a:xfrm>
            <a:off x="5956913" y="470516"/>
            <a:ext cx="6235085" cy="429627"/>
          </a:xfrm>
          <a:prstGeom prst="rect">
            <a:avLst/>
          </a:prstGeom>
          <a:solidFill>
            <a:srgbClr val="9E89C1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>
                <a:latin typeface="Circe Light"/>
              </a:rPr>
              <a:t>Метрики, достижения, показатели:</a:t>
            </a:r>
          </a:p>
        </p:txBody>
      </p:sp>
      <p:sp>
        <p:nvSpPr>
          <p:cNvPr id="21" name="Заголовок 5"/>
          <p:cNvSpPr txBox="1">
            <a:spLocks/>
          </p:cNvSpPr>
          <p:nvPr/>
        </p:nvSpPr>
        <p:spPr>
          <a:xfrm>
            <a:off x="5956912" y="4231531"/>
            <a:ext cx="6243965" cy="904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dirty="0">
                <a:latin typeface="Circe Light"/>
              </a:rPr>
              <a:t> </a:t>
            </a:r>
            <a:br>
              <a:rPr lang="ru-RU" sz="1600" dirty="0">
                <a:latin typeface="Circe Light"/>
              </a:rPr>
            </a:br>
            <a:br>
              <a:rPr lang="ru-RU" sz="1600" dirty="0">
                <a:latin typeface="Circe Light"/>
              </a:rPr>
            </a:br>
            <a:br>
              <a:rPr lang="ru-RU" sz="1600" dirty="0">
                <a:latin typeface="Circe Light"/>
              </a:rPr>
            </a:br>
            <a:r>
              <a:rPr lang="ru-RU" sz="1600" dirty="0">
                <a:latin typeface="Circe Light"/>
              </a:rPr>
              <a:t>   </a:t>
            </a:r>
          </a:p>
        </p:txBody>
      </p:sp>
      <p:sp>
        <p:nvSpPr>
          <p:cNvPr id="23" name="Заголовок 5"/>
          <p:cNvSpPr txBox="1">
            <a:spLocks/>
          </p:cNvSpPr>
          <p:nvPr/>
        </p:nvSpPr>
        <p:spPr>
          <a:xfrm>
            <a:off x="-4" y="3222590"/>
            <a:ext cx="5956915" cy="19132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0" lvl="7">
              <a:lnSpc>
                <a:spcPct val="120000"/>
              </a:lnSpc>
            </a:pPr>
            <a:r>
              <a:rPr lang="ru-RU" sz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ru-RU" sz="1600">
                <a:solidFill>
                  <a:prstClr val="black"/>
                </a:solidFill>
                <a:latin typeface="Circe Light" panose="020B0402020203020203" pitchFamily="34" charset="-52"/>
                <a:ea typeface="+mn-ea"/>
                <a:cs typeface="Times New Roman" panose="02020603050405020304" pitchFamily="18" charset="0"/>
              </a:rPr>
              <a:t>Обработка входящих и исходящих КП;</a:t>
            </a:r>
          </a:p>
          <a:p>
            <a:pPr>
              <a:lnSpc>
                <a:spcPct val="120000"/>
              </a:lnSpc>
            </a:pPr>
            <a:r>
              <a:rPr lang="ru-RU" sz="1600" dirty="0">
                <a:solidFill>
                  <a:prstClr val="black"/>
                </a:solidFill>
                <a:latin typeface="Circe Light" panose="020B0402020203020203" pitchFamily="34" charset="-52"/>
                <a:ea typeface="+mn-ea"/>
                <a:cs typeface="Times New Roman" panose="02020603050405020304" pitchFamily="18" charset="0"/>
              </a:rPr>
              <a:t>Текущая работа.</a:t>
            </a:r>
          </a:p>
        </p:txBody>
      </p:sp>
      <p:sp>
        <p:nvSpPr>
          <p:cNvPr id="14" name="Заголовок 5">
            <a:extLst>
              <a:ext uri="{FF2B5EF4-FFF2-40B4-BE49-F238E27FC236}">
                <a16:creationId xmlns:a16="http://schemas.microsoft.com/office/drawing/2014/main" id="{E402E10E-81A7-4170-A5FD-D70E1ADACA54}"/>
              </a:ext>
            </a:extLst>
          </p:cNvPr>
          <p:cNvSpPr txBox="1">
            <a:spLocks/>
          </p:cNvSpPr>
          <p:nvPr/>
        </p:nvSpPr>
        <p:spPr>
          <a:xfrm>
            <a:off x="5956911" y="897858"/>
            <a:ext cx="6226204" cy="38914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b="1" dirty="0">
                <a:solidFill>
                  <a:prstClr val="black"/>
                </a:solidFill>
                <a:latin typeface="Circe Light" panose="020B0402020203020203" pitchFamily="34" charset="-52"/>
                <a:ea typeface="+mn-ea"/>
                <a:cs typeface="Times New Roman" panose="02020603050405020304" pitchFamily="18" charset="0"/>
              </a:rPr>
              <a:t>Показатель ПДЗ: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dirty="0">
                <a:solidFill>
                  <a:prstClr val="black"/>
                </a:solidFill>
                <a:latin typeface="Circe Light" panose="020B0402020203020203" pitchFamily="34" charset="-52"/>
                <a:ea typeface="+mn-ea"/>
                <a:cs typeface="Times New Roman" panose="02020603050405020304" pitchFamily="18" charset="0"/>
              </a:rPr>
              <a:t>Прошлая неделя – 50%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dirty="0">
                <a:solidFill>
                  <a:prstClr val="black"/>
                </a:solidFill>
                <a:latin typeface="Circe Light" panose="020B0402020203020203" pitchFamily="34" charset="-52"/>
                <a:ea typeface="+mn-ea"/>
                <a:cs typeface="Times New Roman" panose="02020603050405020304" pitchFamily="18" charset="0"/>
              </a:rPr>
              <a:t>Текущая неделя – 7</a:t>
            </a:r>
            <a:r>
              <a:rPr lang="en-US" sz="1400" dirty="0">
                <a:solidFill>
                  <a:prstClr val="black"/>
                </a:solidFill>
                <a:latin typeface="Circe Light" panose="020B0402020203020203" pitchFamily="34" charset="-52"/>
                <a:ea typeface="+mn-ea"/>
                <a:cs typeface="Times New Roman" panose="02020603050405020304" pitchFamily="18" charset="0"/>
              </a:rPr>
              <a:t>%</a:t>
            </a:r>
            <a:r>
              <a:rPr lang="ru-RU" sz="1400" dirty="0">
                <a:solidFill>
                  <a:prstClr val="black"/>
                </a:solidFill>
                <a:latin typeface="Circe Light" panose="020B0402020203020203" pitchFamily="34" charset="-52"/>
                <a:ea typeface="+mn-ea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dirty="0">
                <a:solidFill>
                  <a:prstClr val="black"/>
                </a:solidFill>
                <a:latin typeface="Circe Light" panose="020B0402020203020203" pitchFamily="34" charset="-52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b="1" dirty="0">
                <a:solidFill>
                  <a:prstClr val="black"/>
                </a:solidFill>
                <a:latin typeface="Circe Light" panose="020B0402020203020203" pitchFamily="34" charset="-52"/>
                <a:ea typeface="+mn-ea"/>
                <a:cs typeface="Times New Roman" panose="02020603050405020304" pitchFamily="18" charset="0"/>
              </a:rPr>
              <a:t>Документооборот: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sz="1400" dirty="0">
                <a:solidFill>
                  <a:prstClr val="black"/>
                </a:solidFill>
                <a:latin typeface="Circe Light" panose="020B0402020203020203" pitchFamily="34" charset="-52"/>
                <a:ea typeface="+mn-ea"/>
                <a:cs typeface="Times New Roman" panose="02020603050405020304" pitchFamily="18" charset="0"/>
              </a:rPr>
              <a:t>1) Восстановление оригиналов документов – </a:t>
            </a:r>
            <a:r>
              <a:rPr lang="ru-RU" sz="1400" b="1" dirty="0">
                <a:solidFill>
                  <a:prstClr val="black"/>
                </a:solidFill>
                <a:latin typeface="Circe Light" panose="020B0402020203020203" pitchFamily="34" charset="-52"/>
                <a:ea typeface="+mn-ea"/>
                <a:cs typeface="Times New Roman" panose="02020603050405020304" pitchFamily="18" charset="0"/>
              </a:rPr>
              <a:t>55 документов </a:t>
            </a:r>
            <a:r>
              <a:rPr lang="ru-RU" sz="1400" dirty="0">
                <a:solidFill>
                  <a:prstClr val="black"/>
                </a:solidFill>
                <a:latin typeface="Circe Light" panose="020B0402020203020203" pitchFamily="34" charset="-52"/>
                <a:ea typeface="+mn-ea"/>
                <a:cs typeface="Times New Roman" panose="02020603050405020304" pitchFamily="18" charset="0"/>
              </a:rPr>
              <a:t>к восстановлению;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sz="1400" dirty="0">
                <a:solidFill>
                  <a:prstClr val="black"/>
                </a:solidFill>
                <a:latin typeface="Circe Light" panose="020B0402020203020203" pitchFamily="34" charset="-52"/>
                <a:ea typeface="+mn-ea"/>
                <a:cs typeface="Times New Roman" panose="02020603050405020304" pitchFamily="18" charset="0"/>
              </a:rPr>
              <a:t>2) Просроченных задач </a:t>
            </a:r>
            <a:r>
              <a:rPr lang="ru-RU" sz="1400" b="1" dirty="0">
                <a:solidFill>
                  <a:prstClr val="black"/>
                </a:solidFill>
                <a:latin typeface="Circe Light" panose="020B0402020203020203" pitchFamily="34" charset="-52"/>
                <a:ea typeface="+mn-ea"/>
                <a:cs typeface="Times New Roman" panose="02020603050405020304" pitchFamily="18" charset="0"/>
              </a:rPr>
              <a:t>2</a:t>
            </a:r>
            <a:r>
              <a:rPr lang="ru-RU" sz="1400" dirty="0">
                <a:solidFill>
                  <a:prstClr val="black"/>
                </a:solidFill>
                <a:latin typeface="Circe Light" panose="020B0402020203020203" pitchFamily="34" charset="-52"/>
                <a:ea typeface="+mn-ea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ru-RU" sz="1400" dirty="0">
                <a:solidFill>
                  <a:prstClr val="black"/>
                </a:solidFill>
                <a:latin typeface="Circe Light" panose="020B0402020203020203" pitchFamily="34" charset="-52"/>
                <a:ea typeface="+mn-ea"/>
                <a:cs typeface="Times New Roman" panose="02020603050405020304" pitchFamily="18" charset="0"/>
              </a:rPr>
              <a:t>3)</a:t>
            </a:r>
            <a:r>
              <a:rPr lang="ru-RU" sz="1400" b="1" dirty="0">
                <a:solidFill>
                  <a:prstClr val="black"/>
                </a:solidFill>
                <a:latin typeface="Circe Light" panose="020B0402020203020203" pitchFamily="34" charset="-52"/>
                <a:ea typeface="+mn-ea"/>
                <a:cs typeface="Times New Roman" panose="02020603050405020304" pitchFamily="18" charset="0"/>
              </a:rPr>
              <a:t> 25</a:t>
            </a:r>
            <a:r>
              <a:rPr lang="ru-RU" sz="1400" dirty="0">
                <a:solidFill>
                  <a:prstClr val="black"/>
                </a:solidFill>
                <a:latin typeface="Circe Light" panose="020B0402020203020203" pitchFamily="34" charset="-52"/>
                <a:ea typeface="+mn-ea"/>
                <a:cs typeface="Times New Roman" panose="02020603050405020304" pitchFamily="18" charset="0"/>
              </a:rPr>
              <a:t> ДС к подписанию, подписано 184 ДС;</a:t>
            </a:r>
            <a:br>
              <a:rPr lang="ru-RU" sz="1400" dirty="0">
                <a:solidFill>
                  <a:prstClr val="black"/>
                </a:solidFill>
                <a:latin typeface="Circe Light" panose="020B0402020203020203" pitchFamily="34" charset="-52"/>
                <a:ea typeface="+mn-ea"/>
                <a:cs typeface="Times New Roman" panose="02020603050405020304" pitchFamily="18" charset="0"/>
              </a:rPr>
            </a:br>
            <a:r>
              <a:rPr lang="ru-RU" sz="1400" dirty="0">
                <a:solidFill>
                  <a:prstClr val="black"/>
                </a:solidFill>
                <a:latin typeface="Circe Light" panose="020B0402020203020203" pitchFamily="34" charset="-52"/>
                <a:ea typeface="+mn-ea"/>
                <a:cs typeface="Times New Roman" panose="02020603050405020304" pitchFamily="18" charset="0"/>
              </a:rPr>
              <a:t>4) </a:t>
            </a:r>
            <a:r>
              <a:rPr lang="ru-RU" sz="1400" b="1" dirty="0">
                <a:solidFill>
                  <a:prstClr val="black"/>
                </a:solidFill>
                <a:latin typeface="Circe Light" panose="020B0402020203020203" pitchFamily="34" charset="-52"/>
                <a:ea typeface="+mn-ea"/>
                <a:cs typeface="Times New Roman" panose="02020603050405020304" pitchFamily="18" charset="0"/>
              </a:rPr>
              <a:t>2 </a:t>
            </a:r>
            <a:r>
              <a:rPr lang="ru-RU" sz="1400" dirty="0">
                <a:solidFill>
                  <a:prstClr val="black"/>
                </a:solidFill>
                <a:latin typeface="Circe Light" panose="020B0402020203020203" pitchFamily="34" charset="-52"/>
                <a:ea typeface="+mn-ea"/>
                <a:cs typeface="Times New Roman" panose="02020603050405020304" pitchFamily="18" charset="0"/>
              </a:rPr>
              <a:t>ПР на согласовании;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ru-RU" sz="1400" dirty="0">
                <a:solidFill>
                  <a:prstClr val="black"/>
                </a:solidFill>
                <a:latin typeface="Circe Light" panose="020B0402020203020203" pitchFamily="34" charset="-52"/>
                <a:ea typeface="+mn-ea"/>
                <a:cs typeface="Times New Roman" panose="02020603050405020304" pitchFamily="18" charset="0"/>
              </a:rPr>
              <a:t>5)</a:t>
            </a:r>
            <a:r>
              <a:rPr lang="ru-RU" sz="1400" b="1" dirty="0">
                <a:solidFill>
                  <a:prstClr val="black"/>
                </a:solidFill>
                <a:latin typeface="Circe Light" panose="020B0402020203020203" pitchFamily="34" charset="-52"/>
                <a:ea typeface="+mn-ea"/>
                <a:cs typeface="Times New Roman" panose="02020603050405020304" pitchFamily="18" charset="0"/>
              </a:rPr>
              <a:t> </a:t>
            </a:r>
            <a:r>
              <a:rPr lang="ru-RU" sz="1400" dirty="0">
                <a:solidFill>
                  <a:prstClr val="black"/>
                </a:solidFill>
                <a:latin typeface="Circe Light" panose="020B0402020203020203" pitchFamily="34" charset="-52"/>
                <a:ea typeface="+mn-ea"/>
                <a:cs typeface="Times New Roman" panose="02020603050405020304" pitchFamily="18" charset="0"/>
              </a:rPr>
              <a:t>На подписании 1 договор.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sz="1400" dirty="0">
                <a:solidFill>
                  <a:prstClr val="black"/>
                </a:solidFill>
                <a:latin typeface="Circe Light" panose="020B0402020203020203" pitchFamily="34" charset="-52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b="1" dirty="0">
                <a:solidFill>
                  <a:prstClr val="black"/>
                </a:solidFill>
                <a:latin typeface="Circe Light" panose="020B0402020203020203" pitchFamily="34" charset="-52"/>
                <a:ea typeface="+mn-ea"/>
                <a:cs typeface="Times New Roman" panose="02020603050405020304" pitchFamily="18" charset="0"/>
              </a:rPr>
              <a:t>Работа по складу: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dirty="0">
                <a:solidFill>
                  <a:prstClr val="black"/>
                </a:solidFill>
                <a:latin typeface="Circe Light" panose="020B0402020203020203" pitchFamily="34" charset="-52"/>
                <a:ea typeface="+mn-ea"/>
                <a:cs typeface="Times New Roman" panose="02020603050405020304" pitchFamily="18" charset="0"/>
              </a:rPr>
              <a:t>Отгрузили 2 паллета, 20 коробок и 13 мешков.</a:t>
            </a:r>
            <a:br>
              <a:rPr lang="ru-RU" sz="1400" b="1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lang="ru-RU" sz="1400" b="1" dirty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7298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C10975EA-BDF7-425F-A07F-D7FD991E93B8}"/>
              </a:ext>
            </a:extLst>
          </p:cNvPr>
          <p:cNvSpPr txBox="1">
            <a:spLocks/>
          </p:cNvSpPr>
          <p:nvPr/>
        </p:nvSpPr>
        <p:spPr>
          <a:xfrm>
            <a:off x="17755" y="20444"/>
            <a:ext cx="12192000" cy="470517"/>
          </a:xfrm>
          <a:prstGeom prst="rect">
            <a:avLst/>
          </a:prstGeom>
          <a:solidFill>
            <a:srgbClr val="1C125C"/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>
                <a:solidFill>
                  <a:schemeClr val="bg1"/>
                </a:solidFill>
                <a:latin typeface="Circe Light" panose="020B0402020203020203" pitchFamily="34" charset="-52"/>
              </a:rPr>
              <a:t>Операционный отдел СЛ</a:t>
            </a:r>
            <a:r>
              <a:rPr lang="en-US" sz="3200" dirty="0">
                <a:solidFill>
                  <a:schemeClr val="bg1"/>
                </a:solidFill>
                <a:latin typeface="Circe Light" panose="020B0402020203020203" pitchFamily="34" charset="-52"/>
              </a:rPr>
              <a:t> – </a:t>
            </a:r>
            <a:r>
              <a:rPr lang="ru-RU" sz="3200" dirty="0">
                <a:solidFill>
                  <a:schemeClr val="bg1"/>
                </a:solidFill>
                <a:latin typeface="Circe Light" panose="020B0402020203020203" pitchFamily="34" charset="-52"/>
              </a:rPr>
              <a:t>Федоренко А.С. (июнь 2026, 24 неделя)</a:t>
            </a:r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9049" y="470517"/>
            <a:ext cx="5956916" cy="429627"/>
          </a:xfrm>
          <a:solidFill>
            <a:srgbClr val="9E89C1"/>
          </a:solidFill>
        </p:spPr>
        <p:txBody>
          <a:bodyPr>
            <a:normAutofit fontScale="90000"/>
          </a:bodyPr>
          <a:lstStyle/>
          <a:p>
            <a:pPr algn="ctr"/>
            <a:r>
              <a:rPr lang="ru-RU" sz="2400" dirty="0">
                <a:latin typeface="Circe Light"/>
              </a:rPr>
              <a:t>Ключевые события прошлой недели:</a:t>
            </a:r>
          </a:p>
        </p:txBody>
      </p:sp>
      <p:sp>
        <p:nvSpPr>
          <p:cNvPr id="12" name="Заголовок 5"/>
          <p:cNvSpPr txBox="1">
            <a:spLocks/>
          </p:cNvSpPr>
          <p:nvPr/>
        </p:nvSpPr>
        <p:spPr>
          <a:xfrm>
            <a:off x="17106" y="3400220"/>
            <a:ext cx="5965795" cy="429627"/>
          </a:xfrm>
          <a:prstGeom prst="rect">
            <a:avLst/>
          </a:prstGeom>
          <a:solidFill>
            <a:srgbClr val="9E89C1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>
                <a:latin typeface="Circe Light"/>
              </a:rPr>
              <a:t>Ключевые планы новой недели:</a:t>
            </a:r>
          </a:p>
        </p:txBody>
      </p:sp>
      <p:sp>
        <p:nvSpPr>
          <p:cNvPr id="13" name="Заголовок 5"/>
          <p:cNvSpPr txBox="1">
            <a:spLocks/>
          </p:cNvSpPr>
          <p:nvPr/>
        </p:nvSpPr>
        <p:spPr>
          <a:xfrm>
            <a:off x="34215" y="914838"/>
            <a:ext cx="5956916" cy="24937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ru-RU" sz="3000" dirty="0">
              <a:latin typeface="Circe Light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ru-RU" sz="4800" dirty="0">
              <a:latin typeface="Circe Light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ru-RU" sz="4800" dirty="0">
              <a:latin typeface="Circe Light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ru-RU" sz="4800" dirty="0">
              <a:latin typeface="Circe Light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ru-RU" sz="4800" dirty="0">
              <a:latin typeface="Circe Light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ru-RU" sz="4800" dirty="0">
              <a:latin typeface="Circe Light"/>
            </a:endParaRPr>
          </a:p>
          <a:p>
            <a:pPr>
              <a:lnSpc>
                <a:spcPct val="100000"/>
              </a:lnSpc>
            </a:pPr>
            <a:endParaRPr lang="ru-RU" sz="4800" dirty="0">
              <a:latin typeface="Circe Light"/>
            </a:endParaRPr>
          </a:p>
          <a:p>
            <a:pPr>
              <a:lnSpc>
                <a:spcPct val="100000"/>
              </a:lnSpc>
            </a:pPr>
            <a:endParaRPr lang="ru-RU" sz="4800" dirty="0">
              <a:latin typeface="Circe Light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ru-RU" sz="4800" dirty="0">
              <a:latin typeface="Circe Light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ru-RU" sz="4800" dirty="0">
              <a:latin typeface="Circe Light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ru-RU" sz="4800" dirty="0">
              <a:latin typeface="Circe Light"/>
            </a:endParaRPr>
          </a:p>
          <a:p>
            <a:pPr>
              <a:lnSpc>
                <a:spcPct val="80000"/>
              </a:lnSpc>
            </a:pPr>
            <a:endParaRPr lang="ru-RU" sz="4800" dirty="0">
              <a:latin typeface="Circe Light"/>
            </a:endParaRPr>
          </a:p>
          <a:p>
            <a:pPr marL="285750" indent="-285750"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ru-RU" sz="4800" dirty="0">
              <a:latin typeface="Circe Light"/>
            </a:endParaRPr>
          </a:p>
          <a:p>
            <a:pPr marL="285750" indent="-285750"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ru-RU" sz="4800" dirty="0">
              <a:latin typeface="Circe Light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ru-RU" sz="4800" dirty="0">
              <a:latin typeface="Circe Light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ru-RU" sz="4800" dirty="0">
              <a:latin typeface="Circe Light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ru-RU" sz="4800" dirty="0">
              <a:latin typeface="Circe Light"/>
            </a:endParaRPr>
          </a:p>
          <a:p>
            <a:pPr>
              <a:lnSpc>
                <a:spcPct val="100000"/>
              </a:lnSpc>
            </a:pPr>
            <a:endParaRPr lang="ru-RU" sz="3700" dirty="0">
              <a:latin typeface="Circe Light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sz="3700" dirty="0">
              <a:latin typeface="Circe Light"/>
            </a:endParaRPr>
          </a:p>
          <a:p>
            <a:pPr>
              <a:lnSpc>
                <a:spcPct val="100000"/>
              </a:lnSpc>
            </a:pPr>
            <a:endParaRPr lang="ru-RU" sz="2700" dirty="0">
              <a:latin typeface="Circe Light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ru-RU" sz="4800" dirty="0">
              <a:latin typeface="Circe Light"/>
            </a:endParaRPr>
          </a:p>
          <a:p>
            <a:pPr marL="285750" indent="-285750"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ru-RU" sz="2700" dirty="0">
              <a:latin typeface="Circe Light"/>
            </a:endParaRPr>
          </a:p>
          <a:p>
            <a:pPr>
              <a:lnSpc>
                <a:spcPct val="70000"/>
              </a:lnSpc>
            </a:pPr>
            <a:endParaRPr lang="ru-RU" sz="2700" dirty="0">
              <a:latin typeface="Circe Light"/>
            </a:endParaRPr>
          </a:p>
          <a:p>
            <a:pPr>
              <a:lnSpc>
                <a:spcPct val="70000"/>
              </a:lnSpc>
            </a:pPr>
            <a:endParaRPr lang="ru-RU" sz="2700" dirty="0">
              <a:latin typeface="Circe Light"/>
            </a:endParaRPr>
          </a:p>
          <a:p>
            <a:pPr marL="285750" indent="-285750">
              <a:lnSpc>
                <a:spcPct val="70000"/>
              </a:lnSpc>
              <a:buFont typeface="Wingdings" panose="05000000000000000000" pitchFamily="2" charset="2"/>
              <a:buChar char="§"/>
            </a:pPr>
            <a:endParaRPr lang="ru-RU" sz="2700" dirty="0">
              <a:latin typeface="Circe Light"/>
            </a:endParaRPr>
          </a:p>
          <a:p>
            <a:pPr>
              <a:lnSpc>
                <a:spcPct val="70000"/>
              </a:lnSpc>
            </a:pPr>
            <a:endParaRPr lang="ru-RU" sz="2700" dirty="0">
              <a:latin typeface="Circe Light"/>
            </a:endParaRPr>
          </a:p>
          <a:p>
            <a:pPr marL="285750" indent="-285750">
              <a:lnSpc>
                <a:spcPct val="70000"/>
              </a:lnSpc>
              <a:buFont typeface="Wingdings" panose="05000000000000000000" pitchFamily="2" charset="2"/>
              <a:buChar char="§"/>
            </a:pPr>
            <a:endParaRPr lang="ru-RU" sz="2700" dirty="0">
              <a:latin typeface="Circe Light"/>
            </a:endParaRPr>
          </a:p>
          <a:p>
            <a:pPr>
              <a:lnSpc>
                <a:spcPct val="70000"/>
              </a:lnSpc>
            </a:pPr>
            <a:endParaRPr lang="ru-RU" sz="1300" dirty="0">
              <a:latin typeface="Circe Light"/>
            </a:endParaRPr>
          </a:p>
          <a:p>
            <a:pPr marL="285750" indent="-285750">
              <a:lnSpc>
                <a:spcPct val="70000"/>
              </a:lnSpc>
              <a:buFont typeface="Wingdings" panose="05000000000000000000" pitchFamily="2" charset="2"/>
              <a:buChar char="§"/>
            </a:pPr>
            <a:endParaRPr lang="ru-RU" sz="1300" dirty="0">
              <a:latin typeface="Circe Light"/>
            </a:endParaRPr>
          </a:p>
          <a:p>
            <a:pPr marL="285750" indent="-285750">
              <a:lnSpc>
                <a:spcPct val="70000"/>
              </a:lnSpc>
              <a:buFont typeface="Wingdings" panose="05000000000000000000" pitchFamily="2" charset="2"/>
              <a:buChar char="§"/>
            </a:pPr>
            <a:endParaRPr lang="ru-RU" sz="1300" dirty="0">
              <a:latin typeface="Circe Ligh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ru-RU" sz="1400" dirty="0">
              <a:latin typeface="Circe Light"/>
            </a:endParaRPr>
          </a:p>
          <a:p>
            <a:endParaRPr lang="ru-RU" sz="1400" dirty="0">
              <a:latin typeface="Circe Light"/>
            </a:endParaRPr>
          </a:p>
          <a:p>
            <a:r>
              <a:rPr lang="ru-RU" sz="1400" dirty="0">
                <a:latin typeface="Circe Light"/>
              </a:rPr>
              <a:t> </a:t>
            </a:r>
          </a:p>
          <a:p>
            <a:endParaRPr lang="ru-RU" sz="1400" dirty="0">
              <a:latin typeface="Circe Light"/>
            </a:endParaRPr>
          </a:p>
          <a:p>
            <a:endParaRPr lang="ru-RU" sz="1400" dirty="0">
              <a:latin typeface="Circe Ligh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ru-RU" sz="1400" dirty="0">
              <a:latin typeface="Circe Ligh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ru-RU" sz="1400" dirty="0">
              <a:latin typeface="Circe Ligh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ru-RU" sz="1400" dirty="0">
              <a:latin typeface="Circe Ligh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ru-RU" sz="1400" dirty="0">
              <a:latin typeface="Circe Ligh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ru-RU" sz="1400" dirty="0">
              <a:latin typeface="Circe Ligh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ru-RU" sz="1400" dirty="0">
              <a:latin typeface="Circe Ligh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ru-RU" sz="1400" dirty="0">
              <a:latin typeface="Circe Light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ru-RU" sz="100" dirty="0">
              <a:latin typeface="Circe Ligh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ru-RU" sz="1400" dirty="0">
              <a:latin typeface="Circe Light"/>
            </a:endParaRPr>
          </a:p>
        </p:txBody>
      </p:sp>
      <p:sp>
        <p:nvSpPr>
          <p:cNvPr id="17" name="Заголовок 5"/>
          <p:cNvSpPr txBox="1">
            <a:spLocks/>
          </p:cNvSpPr>
          <p:nvPr/>
        </p:nvSpPr>
        <p:spPr>
          <a:xfrm>
            <a:off x="-1" y="5115409"/>
            <a:ext cx="12209756" cy="429627"/>
          </a:xfrm>
          <a:prstGeom prst="rect">
            <a:avLst/>
          </a:prstGeom>
          <a:solidFill>
            <a:srgbClr val="9E89C1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ru-RU" sz="2400" dirty="0">
              <a:latin typeface="Circe Light"/>
            </a:endParaRPr>
          </a:p>
        </p:txBody>
      </p:sp>
      <p:sp>
        <p:nvSpPr>
          <p:cNvPr id="18" name="Заголовок 5"/>
          <p:cNvSpPr txBox="1">
            <a:spLocks/>
          </p:cNvSpPr>
          <p:nvPr/>
        </p:nvSpPr>
        <p:spPr>
          <a:xfrm>
            <a:off x="5965794" y="470516"/>
            <a:ext cx="6226204" cy="429627"/>
          </a:xfrm>
          <a:prstGeom prst="rect">
            <a:avLst/>
          </a:prstGeom>
          <a:solidFill>
            <a:srgbClr val="9E89C1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>
                <a:latin typeface="Circe Light"/>
              </a:rPr>
              <a:t>Метрики, достижения, показатели:</a:t>
            </a:r>
          </a:p>
        </p:txBody>
      </p:sp>
      <p:sp>
        <p:nvSpPr>
          <p:cNvPr id="19" name="Заголовок 5"/>
          <p:cNvSpPr txBox="1">
            <a:spLocks/>
          </p:cNvSpPr>
          <p:nvPr/>
        </p:nvSpPr>
        <p:spPr>
          <a:xfrm>
            <a:off x="5992426" y="845562"/>
            <a:ext cx="6217329" cy="252289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1400" dirty="0">
              <a:latin typeface="Circe Light"/>
            </a:endParaRPr>
          </a:p>
          <a:p>
            <a:r>
              <a:rPr lang="ru-RU" sz="1200" dirty="0">
                <a:latin typeface="Circe Light"/>
              </a:rPr>
              <a:t>КТГ Москва –75 %, 8 ТС в работе,  1 в ремонте.</a:t>
            </a:r>
          </a:p>
          <a:p>
            <a:r>
              <a:rPr lang="ru-RU" sz="1200" dirty="0">
                <a:latin typeface="Circe Light"/>
              </a:rPr>
              <a:t>Рейсы за неделю с 15.06.2026 по  21.06.2026 - 45 из них 34 свои, найм 11</a:t>
            </a:r>
          </a:p>
          <a:p>
            <a:r>
              <a:rPr lang="ru-RU" sz="1200" dirty="0">
                <a:latin typeface="Circe Light"/>
              </a:rPr>
              <a:t>Итого за июнь: 105 рейсов. 70 свои . 35 найм.</a:t>
            </a:r>
          </a:p>
          <a:p>
            <a:r>
              <a:rPr lang="ru-RU" sz="1200" dirty="0">
                <a:latin typeface="Circe Light"/>
              </a:rPr>
              <a:t>Опоздания нет своевременность 100%</a:t>
            </a:r>
          </a:p>
          <a:p>
            <a:r>
              <a:rPr lang="ru-RU" sz="1200" dirty="0">
                <a:latin typeface="Circe Light"/>
              </a:rPr>
              <a:t> Итого июнь </a:t>
            </a:r>
            <a:r>
              <a:rPr lang="en-US" sz="1200" dirty="0">
                <a:latin typeface="Circe Light"/>
              </a:rPr>
              <a:t>:</a:t>
            </a:r>
            <a:r>
              <a:rPr lang="ru-RU" sz="1200" dirty="0">
                <a:latin typeface="Circe Light"/>
              </a:rPr>
              <a:t> 150 рейсов, своими 104, найм 46.</a:t>
            </a:r>
          </a:p>
          <a:p>
            <a:endParaRPr lang="ru-RU" sz="1200" dirty="0">
              <a:latin typeface="Circe Light"/>
            </a:endParaRPr>
          </a:p>
          <a:p>
            <a:r>
              <a:rPr lang="ru-RU" sz="1200" dirty="0">
                <a:latin typeface="Circe Light"/>
              </a:rPr>
              <a:t>КТГ Красноярск –84%  14 ТС в работе в ремонте 2 ТС </a:t>
            </a:r>
            <a:r>
              <a:rPr lang="en-US" sz="1200" dirty="0">
                <a:latin typeface="Circe Light"/>
              </a:rPr>
              <a:t>(</a:t>
            </a:r>
            <a:r>
              <a:rPr lang="ru-RU" sz="1200" dirty="0">
                <a:latin typeface="Circe Light"/>
              </a:rPr>
              <a:t> своими силами)</a:t>
            </a:r>
          </a:p>
          <a:p>
            <a:r>
              <a:rPr lang="ru-RU" sz="1200" dirty="0">
                <a:latin typeface="Circe Light"/>
              </a:rPr>
              <a:t>Без опозданий. </a:t>
            </a:r>
            <a:r>
              <a:rPr lang="ru-RU" sz="1200">
                <a:latin typeface="Circe Light"/>
              </a:rPr>
              <a:t>Своевременность 100%.</a:t>
            </a:r>
            <a:endParaRPr lang="en-US" sz="1200" dirty="0">
              <a:latin typeface="Circe Light"/>
            </a:endParaRPr>
          </a:p>
          <a:p>
            <a:r>
              <a:rPr lang="ru-RU" sz="1200" dirty="0">
                <a:latin typeface="Circe Light"/>
              </a:rPr>
              <a:t>Рейсы за неделю с 15.06.2026 по 21.06.2026 </a:t>
            </a:r>
            <a:r>
              <a:rPr lang="en-US" sz="1200" dirty="0">
                <a:latin typeface="Circe Light"/>
              </a:rPr>
              <a:t>:</a:t>
            </a:r>
            <a:r>
              <a:rPr lang="ru-RU" sz="1200" dirty="0">
                <a:latin typeface="Circe Light"/>
              </a:rPr>
              <a:t> - 103 рейс,</a:t>
            </a:r>
            <a:r>
              <a:rPr lang="en-US" sz="1200" dirty="0">
                <a:latin typeface="Circe Light"/>
              </a:rPr>
              <a:t> </a:t>
            </a:r>
            <a:r>
              <a:rPr lang="ru-RU" sz="1200" dirty="0">
                <a:latin typeface="Circe Light"/>
              </a:rPr>
              <a:t>по городу 64, межгород 4, по терминалу 35 все свои.</a:t>
            </a:r>
          </a:p>
          <a:p>
            <a:r>
              <a:rPr lang="ru-RU" sz="1200" dirty="0">
                <a:latin typeface="Circe Light"/>
              </a:rPr>
              <a:t>Итого июнь: 304 рейсов, по городу 226, межгород 10, по терминалу 68, все свои</a:t>
            </a:r>
          </a:p>
        </p:txBody>
      </p:sp>
      <p:sp>
        <p:nvSpPr>
          <p:cNvPr id="20" name="Заголовок 5"/>
          <p:cNvSpPr txBox="1">
            <a:spLocks/>
          </p:cNvSpPr>
          <p:nvPr/>
        </p:nvSpPr>
        <p:spPr>
          <a:xfrm>
            <a:off x="5982901" y="3402591"/>
            <a:ext cx="6217329" cy="429627"/>
          </a:xfrm>
          <a:prstGeom prst="rect">
            <a:avLst/>
          </a:prstGeom>
          <a:solidFill>
            <a:srgbClr val="9E89C1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>
                <a:latin typeface="Circe Light"/>
              </a:rPr>
              <a:t>Риски, просьбы:</a:t>
            </a:r>
          </a:p>
        </p:txBody>
      </p:sp>
      <p:sp>
        <p:nvSpPr>
          <p:cNvPr id="23" name="Заголовок 5"/>
          <p:cNvSpPr txBox="1">
            <a:spLocks/>
          </p:cNvSpPr>
          <p:nvPr/>
        </p:nvSpPr>
        <p:spPr>
          <a:xfrm>
            <a:off x="-34216" y="3829847"/>
            <a:ext cx="12192001" cy="12514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ru-RU" sz="1200" dirty="0">
              <a:latin typeface="Circe Light"/>
            </a:endParaRPr>
          </a:p>
          <a:p>
            <a:pPr marL="285750" indent="-285750"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ru-RU" sz="1200" dirty="0">
              <a:latin typeface="Circe Light"/>
            </a:endParaRPr>
          </a:p>
          <a:p>
            <a:pPr marL="285750" indent="-285750"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ru-RU" sz="1200" dirty="0">
              <a:latin typeface="Circe Light"/>
            </a:endParaRPr>
          </a:p>
          <a:p>
            <a:pPr marL="285750" indent="-285750"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ru-RU" sz="1200" dirty="0">
              <a:latin typeface="Circe Light"/>
            </a:endParaRPr>
          </a:p>
          <a:p>
            <a:pPr marL="285750" indent="-285750"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ru-RU" sz="1300" dirty="0">
              <a:latin typeface="Circe Light"/>
            </a:endParaRPr>
          </a:p>
          <a:p>
            <a:pPr marL="285750" indent="-285750"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ru-RU" sz="1300" dirty="0">
              <a:latin typeface="Circe Light"/>
            </a:endParaRPr>
          </a:p>
          <a:p>
            <a:pPr>
              <a:lnSpc>
                <a:spcPct val="80000"/>
              </a:lnSpc>
            </a:pPr>
            <a:endParaRPr lang="ru-RU" sz="1300" dirty="0">
              <a:latin typeface="Circe Light"/>
            </a:endParaRPr>
          </a:p>
          <a:p>
            <a:pPr>
              <a:lnSpc>
                <a:spcPct val="80000"/>
              </a:lnSpc>
            </a:pPr>
            <a:endParaRPr lang="ru-RU" sz="1300" dirty="0">
              <a:latin typeface="Circe Light"/>
            </a:endParaRPr>
          </a:p>
          <a:p>
            <a:pPr marL="285750" indent="-285750"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ru-RU" sz="1300" dirty="0">
              <a:latin typeface="Circe Light"/>
            </a:endParaRPr>
          </a:p>
          <a:p>
            <a:pPr>
              <a:lnSpc>
                <a:spcPct val="80000"/>
              </a:lnSpc>
            </a:pPr>
            <a:endParaRPr lang="ru-RU" sz="1300" dirty="0">
              <a:latin typeface="Circe Light"/>
            </a:endParaRPr>
          </a:p>
          <a:p>
            <a:pPr marL="285750" indent="-285750"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ru-RU" sz="1400" dirty="0">
              <a:latin typeface="Circe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03E822-897E-4208-BC9B-734F25F2770F}"/>
              </a:ext>
            </a:extLst>
          </p:cNvPr>
          <p:cNvSpPr txBox="1"/>
          <p:nvPr/>
        </p:nvSpPr>
        <p:spPr>
          <a:xfrm>
            <a:off x="135889" y="5141571"/>
            <a:ext cx="4616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Отпуска, больничные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4C4C39-7726-419B-3CBC-15D3D439C34C}"/>
              </a:ext>
            </a:extLst>
          </p:cNvPr>
          <p:cNvSpPr txBox="1"/>
          <p:nvPr/>
        </p:nvSpPr>
        <p:spPr>
          <a:xfrm>
            <a:off x="74269" y="5595080"/>
            <a:ext cx="12061215" cy="834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sz="1200" dirty="0">
                <a:latin typeface="Circe Light"/>
                <a:ea typeface="+mj-ea"/>
                <a:cs typeface="+mj-cs"/>
              </a:rPr>
              <a:t>КРСК:</a:t>
            </a:r>
          </a:p>
          <a:p>
            <a:pPr marL="285750" indent="-285750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sz="1200" dirty="0">
                <a:latin typeface="Circe Light"/>
                <a:ea typeface="+mj-ea"/>
                <a:cs typeface="+mj-cs"/>
              </a:rPr>
              <a:t> Отпуска</a:t>
            </a:r>
            <a:r>
              <a:rPr lang="en-US" sz="1200" dirty="0">
                <a:latin typeface="Circe Light"/>
                <a:ea typeface="+mj-ea"/>
                <a:cs typeface="+mj-cs"/>
              </a:rPr>
              <a:t>: </a:t>
            </a:r>
            <a:r>
              <a:rPr lang="ru-RU" sz="1200" dirty="0">
                <a:latin typeface="Circe Light"/>
                <a:ea typeface="+mj-ea"/>
                <a:cs typeface="+mj-cs"/>
              </a:rPr>
              <a:t>Все в работе.</a:t>
            </a:r>
          </a:p>
          <a:p>
            <a:pPr marL="285750" indent="-285750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sz="1200" dirty="0">
                <a:latin typeface="Circe Light"/>
                <a:ea typeface="+mj-ea"/>
                <a:cs typeface="+mj-cs"/>
              </a:rPr>
              <a:t>Больничные</a:t>
            </a:r>
            <a:r>
              <a:rPr lang="en-US" sz="1200" dirty="0">
                <a:latin typeface="Circe Light"/>
                <a:ea typeface="+mj-ea"/>
                <a:cs typeface="+mj-cs"/>
              </a:rPr>
              <a:t>:</a:t>
            </a:r>
            <a:r>
              <a:rPr lang="ru-RU" sz="1200" dirty="0">
                <a:latin typeface="Circe Light"/>
                <a:ea typeface="+mj-ea"/>
                <a:cs typeface="+mj-cs"/>
              </a:rPr>
              <a:t> 0</a:t>
            </a:r>
          </a:p>
          <a:p>
            <a:pPr marL="285750" indent="-285750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sz="1200" dirty="0">
                <a:latin typeface="Circe Light"/>
                <a:ea typeface="+mj-ea"/>
                <a:cs typeface="+mj-cs"/>
              </a:rPr>
              <a:t>МСК: 1 отпуск. 1 выходной.</a:t>
            </a:r>
          </a:p>
          <a:p>
            <a:pPr marL="285750" indent="-285750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ru-RU" sz="1200" dirty="0">
                <a:latin typeface="Circe Light"/>
                <a:ea typeface="+mj-ea"/>
                <a:cs typeface="+mj-cs"/>
              </a:rPr>
              <a:t>Увольнений: 0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1A345A2-C025-455C-CDB6-FE652138FFE1}"/>
              </a:ext>
            </a:extLst>
          </p:cNvPr>
          <p:cNvSpPr/>
          <p:nvPr/>
        </p:nvSpPr>
        <p:spPr>
          <a:xfrm>
            <a:off x="6935135" y="3956011"/>
            <a:ext cx="4499573" cy="6116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80000"/>
              </a:lnSpc>
            </a:pPr>
            <a:endParaRPr lang="ru-RU" sz="1200" dirty="0">
              <a:solidFill>
                <a:schemeClr val="tx1"/>
              </a:solidFill>
              <a:latin typeface="Circe Ligh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33912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5"/>
          <p:cNvSpPr txBox="1">
            <a:spLocks/>
          </p:cNvSpPr>
          <p:nvPr/>
        </p:nvSpPr>
        <p:spPr>
          <a:xfrm>
            <a:off x="-51942" y="3521253"/>
            <a:ext cx="1259969" cy="42962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>
                <a:solidFill>
                  <a:srgbClr val="F15E23"/>
                </a:solidFill>
                <a:latin typeface="Circe Bold" panose="020B0602020203020203" pitchFamily="34" charset="-52"/>
              </a:rPr>
              <a:t>Планы: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6335363B-45DF-9751-4BD6-4C5E24766429}"/>
              </a:ext>
            </a:extLst>
          </p:cNvPr>
          <p:cNvSpPr/>
          <p:nvPr/>
        </p:nvSpPr>
        <p:spPr>
          <a:xfrm>
            <a:off x="905855" y="5317416"/>
            <a:ext cx="4400960" cy="123074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dirty="0">
                <a:solidFill>
                  <a:srgbClr val="573D8C"/>
                </a:solidFill>
                <a:latin typeface="Circe Bold" panose="020B0602020203020203" pitchFamily="34" charset="-52"/>
              </a:rPr>
              <a:t>Отпуск/больничный: </a:t>
            </a:r>
          </a:p>
          <a:p>
            <a:pPr marL="285750" indent="-285750">
              <a:buFontTx/>
              <a:buChar char="-"/>
            </a:pPr>
            <a:r>
              <a:rPr lang="ru-RU" dirty="0">
                <a:solidFill>
                  <a:srgbClr val="573D8C"/>
                </a:solidFill>
                <a:latin typeface="Circe Bold" panose="020B0602020203020203" pitchFamily="34" charset="-52"/>
              </a:rPr>
              <a:t>Соколова Ольга с 12.06 по 02.07.</a:t>
            </a:r>
          </a:p>
          <a:p>
            <a:pPr marL="285750" indent="-285750">
              <a:buFontTx/>
              <a:buChar char="-"/>
            </a:pPr>
            <a:r>
              <a:rPr lang="ru-RU" dirty="0">
                <a:solidFill>
                  <a:srgbClr val="573D8C"/>
                </a:solidFill>
                <a:latin typeface="Circe Bold" panose="020B0602020203020203" pitchFamily="34" charset="-52"/>
              </a:rPr>
              <a:t>Шайдурова Надежда 19.07 и 22.07</a:t>
            </a:r>
          </a:p>
          <a:p>
            <a:r>
              <a:rPr lang="ru-RU" dirty="0">
                <a:solidFill>
                  <a:srgbClr val="573D8C"/>
                </a:solidFill>
                <a:latin typeface="Circe Bold" panose="020B0602020203020203" pitchFamily="34" charset="-52"/>
              </a:rPr>
              <a:t> </a:t>
            </a:r>
            <a:br>
              <a:rPr lang="ru-RU" dirty="0">
                <a:solidFill>
                  <a:srgbClr val="573D8C"/>
                </a:solidFill>
                <a:latin typeface="Circe Bold" panose="020B0602020203020203" pitchFamily="34" charset="-52"/>
              </a:rPr>
            </a:br>
            <a:br>
              <a:rPr lang="ru-RU" dirty="0">
                <a:solidFill>
                  <a:srgbClr val="573D8C"/>
                </a:solidFill>
                <a:latin typeface="Circe Bold" panose="020B0602020203020203" pitchFamily="34" charset="-52"/>
              </a:rPr>
            </a:br>
            <a:endParaRPr lang="ru-RU" dirty="0">
              <a:solidFill>
                <a:srgbClr val="573D8C"/>
              </a:solidFill>
              <a:latin typeface="Circe Bold" panose="020B0602020203020203" pitchFamily="34" charset="-52"/>
            </a:endParaRPr>
          </a:p>
          <a:p>
            <a:br>
              <a:rPr lang="ru-RU" dirty="0">
                <a:solidFill>
                  <a:srgbClr val="573D8C"/>
                </a:solidFill>
                <a:latin typeface="Circe Bold" panose="020B0602020203020203" pitchFamily="34" charset="-52"/>
              </a:rPr>
            </a:br>
            <a:br>
              <a:rPr lang="ru-RU" dirty="0">
                <a:solidFill>
                  <a:srgbClr val="573D8C"/>
                </a:solidFill>
                <a:latin typeface="Circe Bold" panose="020B0602020203020203" pitchFamily="34" charset="-52"/>
              </a:rPr>
            </a:br>
            <a:br>
              <a:rPr lang="ru-RU" dirty="0">
                <a:solidFill>
                  <a:srgbClr val="573D8C"/>
                </a:solidFill>
                <a:latin typeface="Circe Bold" panose="020B0602020203020203" pitchFamily="34" charset="-52"/>
              </a:rPr>
            </a:br>
            <a:endParaRPr lang="ru-RU" dirty="0">
              <a:solidFill>
                <a:srgbClr val="573D8C"/>
              </a:solidFill>
              <a:latin typeface="Circe Bold" panose="020B0602020203020203" pitchFamily="34" charset="-52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BCF1F14A-6FDA-24E9-7C51-8933152CBD72}"/>
              </a:ext>
            </a:extLst>
          </p:cNvPr>
          <p:cNvSpPr/>
          <p:nvPr/>
        </p:nvSpPr>
        <p:spPr>
          <a:xfrm>
            <a:off x="4824817" y="5308727"/>
            <a:ext cx="3586637" cy="81480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dirty="0">
                <a:solidFill>
                  <a:srgbClr val="573D8C"/>
                </a:solidFill>
                <a:latin typeface="Circe Bold" panose="020B0602020203020203" pitchFamily="34" charset="-52"/>
              </a:rPr>
              <a:t>Командировка: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EBB6B4EE-9212-B926-F679-9088D90F2025}"/>
              </a:ext>
            </a:extLst>
          </p:cNvPr>
          <p:cNvSpPr/>
          <p:nvPr/>
        </p:nvSpPr>
        <p:spPr>
          <a:xfrm>
            <a:off x="8581929" y="5313899"/>
            <a:ext cx="3606404" cy="79492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dirty="0">
                <a:solidFill>
                  <a:srgbClr val="573D8C"/>
                </a:solidFill>
                <a:latin typeface="Circe Bold" panose="020B0602020203020203" pitchFamily="34" charset="-52"/>
              </a:rPr>
              <a:t>Найм/увольнение:</a:t>
            </a:r>
            <a:br>
              <a:rPr lang="ru-RU" dirty="0">
                <a:solidFill>
                  <a:srgbClr val="573D8C"/>
                </a:solidFill>
                <a:latin typeface="Circe Bold" panose="020B0602020203020203" pitchFamily="34" charset="-52"/>
              </a:rPr>
            </a:br>
            <a:br>
              <a:rPr lang="ru-RU" dirty="0">
                <a:solidFill>
                  <a:srgbClr val="573D8C"/>
                </a:solidFill>
                <a:latin typeface="Circe Bold" panose="020B0602020203020203" pitchFamily="34" charset="-52"/>
              </a:rPr>
            </a:br>
            <a:r>
              <a:rPr lang="ru-RU" dirty="0">
                <a:solidFill>
                  <a:srgbClr val="573D8C"/>
                </a:solidFill>
                <a:latin typeface="Circe Bold" panose="020B0602020203020203" pitchFamily="34" charset="-52"/>
              </a:rPr>
              <a:t> </a:t>
            </a:r>
            <a:br>
              <a:rPr lang="ru-RU" dirty="0">
                <a:solidFill>
                  <a:srgbClr val="573D8C"/>
                </a:solidFill>
                <a:latin typeface="Circe Bold" panose="020B0602020203020203" pitchFamily="34" charset="-52"/>
              </a:rPr>
            </a:br>
            <a:r>
              <a:rPr lang="ru-RU" dirty="0">
                <a:solidFill>
                  <a:srgbClr val="573D8C"/>
                </a:solidFill>
                <a:latin typeface="Circe Bold" panose="020B0602020203020203" pitchFamily="34" charset="-52"/>
              </a:rPr>
              <a:t>  </a:t>
            </a:r>
            <a:br>
              <a:rPr lang="ru-RU" dirty="0">
                <a:solidFill>
                  <a:srgbClr val="573D8C"/>
                </a:solidFill>
                <a:latin typeface="Circe Bold" panose="020B0602020203020203" pitchFamily="34" charset="-52"/>
              </a:rPr>
            </a:br>
            <a:endParaRPr lang="ru-RU" dirty="0">
              <a:solidFill>
                <a:srgbClr val="573D8C"/>
              </a:solidFill>
              <a:latin typeface="Circe Bold" panose="020B0602020203020203" pitchFamily="34" charset="-52"/>
            </a:endParaRPr>
          </a:p>
        </p:txBody>
      </p: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52CEA26A-7F52-3B88-DA76-5BD16F089AB3}"/>
              </a:ext>
            </a:extLst>
          </p:cNvPr>
          <p:cNvCxnSpPr>
            <a:cxnSpLocks/>
          </p:cNvCxnSpPr>
          <p:nvPr/>
        </p:nvCxnSpPr>
        <p:spPr>
          <a:xfrm flipV="1">
            <a:off x="-102310" y="5908874"/>
            <a:ext cx="11219411" cy="23912"/>
          </a:xfrm>
          <a:prstGeom prst="line">
            <a:avLst/>
          </a:prstGeom>
          <a:ln w="762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218A6E05-E731-FBF1-0485-ACB8E97E97B8}"/>
              </a:ext>
            </a:extLst>
          </p:cNvPr>
          <p:cNvSpPr/>
          <p:nvPr/>
        </p:nvSpPr>
        <p:spPr>
          <a:xfrm>
            <a:off x="1238063" y="2354412"/>
            <a:ext cx="3590424" cy="16560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20000"/>
              </a:lnSpc>
            </a:pPr>
            <a:endParaRPr lang="ru-RU" sz="1400" dirty="0">
              <a:solidFill>
                <a:srgbClr val="1C125C"/>
              </a:solidFill>
              <a:latin typeface="Circe Light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ru-RU" sz="1400" dirty="0">
              <a:solidFill>
                <a:srgbClr val="1C125C"/>
              </a:solidFill>
              <a:latin typeface="Circe Light"/>
            </a:endParaRPr>
          </a:p>
        </p:txBody>
      </p:sp>
      <p:sp>
        <p:nvSpPr>
          <p:cNvPr id="41" name="Заголовок 5">
            <a:extLst>
              <a:ext uri="{FF2B5EF4-FFF2-40B4-BE49-F238E27FC236}">
                <a16:creationId xmlns:a16="http://schemas.microsoft.com/office/drawing/2014/main" id="{4A4D1A42-7213-7676-C6E8-EC6269A27A08}"/>
              </a:ext>
            </a:extLst>
          </p:cNvPr>
          <p:cNvSpPr txBox="1">
            <a:spLocks/>
          </p:cNvSpPr>
          <p:nvPr/>
        </p:nvSpPr>
        <p:spPr>
          <a:xfrm>
            <a:off x="-19703" y="5301659"/>
            <a:ext cx="1227730" cy="42962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>
                <a:solidFill>
                  <a:srgbClr val="F15E23"/>
                </a:solidFill>
                <a:latin typeface="Circe Bold" panose="020B0602020203020203" pitchFamily="34" charset="-52"/>
              </a:rPr>
              <a:t>Отдел:</a:t>
            </a:r>
          </a:p>
        </p:txBody>
      </p:sp>
      <p:sp>
        <p:nvSpPr>
          <p:cNvPr id="45" name="Заголовок 5">
            <a:extLst>
              <a:ext uri="{FF2B5EF4-FFF2-40B4-BE49-F238E27FC236}">
                <a16:creationId xmlns:a16="http://schemas.microsoft.com/office/drawing/2014/main" id="{2686E590-86DC-F5FF-49A9-21FF1D41473E}"/>
              </a:ext>
            </a:extLst>
          </p:cNvPr>
          <p:cNvSpPr txBox="1">
            <a:spLocks/>
          </p:cNvSpPr>
          <p:nvPr/>
        </p:nvSpPr>
        <p:spPr>
          <a:xfrm>
            <a:off x="-66959" y="2369959"/>
            <a:ext cx="1259968" cy="42962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dirty="0">
                <a:solidFill>
                  <a:srgbClr val="F15E23"/>
                </a:solidFill>
                <a:latin typeface="Circe Bold" panose="020B0602020203020203" pitchFamily="34" charset="-52"/>
              </a:rPr>
              <a:t>События:</a:t>
            </a:r>
          </a:p>
        </p:txBody>
      </p:sp>
      <p:sp>
        <p:nvSpPr>
          <p:cNvPr id="67" name="Заголовок 5">
            <a:extLst>
              <a:ext uri="{FF2B5EF4-FFF2-40B4-BE49-F238E27FC236}">
                <a16:creationId xmlns:a16="http://schemas.microsoft.com/office/drawing/2014/main" id="{1D13394D-344E-A521-4F29-07FCB464C04C}"/>
              </a:ext>
            </a:extLst>
          </p:cNvPr>
          <p:cNvSpPr txBox="1">
            <a:spLocks/>
          </p:cNvSpPr>
          <p:nvPr/>
        </p:nvSpPr>
        <p:spPr>
          <a:xfrm>
            <a:off x="-41717" y="887842"/>
            <a:ext cx="1299590" cy="42962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dirty="0">
                <a:solidFill>
                  <a:srgbClr val="F15E23"/>
                </a:solidFill>
                <a:latin typeface="Circe Bold" panose="020B0602020203020203" pitchFamily="34" charset="-52"/>
              </a:rPr>
              <a:t>Метрики:</a:t>
            </a:r>
          </a:p>
        </p:txBody>
      </p:sp>
      <p:sp>
        <p:nvSpPr>
          <p:cNvPr id="72" name="Прямоугольник 71">
            <a:extLst>
              <a:ext uri="{FF2B5EF4-FFF2-40B4-BE49-F238E27FC236}">
                <a16:creationId xmlns:a16="http://schemas.microsoft.com/office/drawing/2014/main" id="{680E0B42-B90B-7AB9-12E3-6630F31D602E}"/>
              </a:ext>
            </a:extLst>
          </p:cNvPr>
          <p:cNvSpPr/>
          <p:nvPr/>
        </p:nvSpPr>
        <p:spPr>
          <a:xfrm>
            <a:off x="1208027" y="900440"/>
            <a:ext cx="9409931" cy="1343356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20000"/>
              </a:lnSpc>
            </a:pPr>
            <a:r>
              <a:rPr lang="ru-RU" sz="1400" dirty="0">
                <a:solidFill>
                  <a:srgbClr val="1C125C"/>
                </a:solidFill>
                <a:latin typeface="Circe Light"/>
              </a:rPr>
              <a:t>ПДЗ – </a:t>
            </a:r>
            <a:r>
              <a:rPr lang="ru-RU" sz="1400" dirty="0">
                <a:solidFill>
                  <a:srgbClr val="FF0000"/>
                </a:solidFill>
                <a:latin typeface="Circe Light"/>
              </a:rPr>
              <a:t>31% (было 40%)</a:t>
            </a:r>
            <a:br>
              <a:rPr lang="ru-RU" sz="1400" dirty="0">
                <a:solidFill>
                  <a:srgbClr val="FF0000"/>
                </a:solidFill>
                <a:latin typeface="Circe Light"/>
              </a:rPr>
            </a:br>
            <a:r>
              <a:rPr lang="ru-RU" sz="1400" dirty="0">
                <a:solidFill>
                  <a:srgbClr val="1C125C"/>
                </a:solidFill>
                <a:latin typeface="Circe Light"/>
              </a:rPr>
              <a:t>Количество просроченных задач в ДО –</a:t>
            </a:r>
            <a:r>
              <a:rPr lang="en-US" sz="1400" dirty="0">
                <a:solidFill>
                  <a:srgbClr val="1C125C"/>
                </a:solidFill>
                <a:latin typeface="Circe Light"/>
              </a:rPr>
              <a:t> </a:t>
            </a:r>
            <a:r>
              <a:rPr lang="ru-RU" sz="1400" dirty="0">
                <a:solidFill>
                  <a:srgbClr val="1C125C"/>
                </a:solidFill>
                <a:latin typeface="Circe Light"/>
              </a:rPr>
              <a:t>72</a:t>
            </a:r>
            <a:r>
              <a:rPr lang="en-US" sz="1400" dirty="0">
                <a:solidFill>
                  <a:srgbClr val="1C125C"/>
                </a:solidFill>
                <a:latin typeface="Circe Light"/>
              </a:rPr>
              <a:t>  </a:t>
            </a:r>
            <a:r>
              <a:rPr lang="ru-RU" sz="1400" dirty="0">
                <a:solidFill>
                  <a:srgbClr val="FF0000"/>
                </a:solidFill>
                <a:latin typeface="Circe Light"/>
              </a:rPr>
              <a:t>(было 71) </a:t>
            </a:r>
            <a:br>
              <a:rPr lang="ru-RU" sz="1400" dirty="0">
                <a:solidFill>
                  <a:srgbClr val="FF0000"/>
                </a:solidFill>
                <a:highlight>
                  <a:srgbClr val="FFFF00"/>
                </a:highlight>
                <a:latin typeface="Circe Light"/>
              </a:rPr>
            </a:br>
            <a:r>
              <a:rPr lang="ru-RU" sz="1400" dirty="0">
                <a:solidFill>
                  <a:srgbClr val="1C125C"/>
                </a:solidFill>
                <a:latin typeface="Circe Light"/>
              </a:rPr>
              <a:t>Количество закрытых перевозок </a:t>
            </a:r>
            <a:r>
              <a:rPr lang="ru-RU" sz="1400" dirty="0" err="1">
                <a:solidFill>
                  <a:srgbClr val="1C125C"/>
                </a:solidFill>
                <a:latin typeface="Circe Light"/>
              </a:rPr>
              <a:t>ктк</a:t>
            </a:r>
            <a:r>
              <a:rPr lang="ru-RU" sz="1400" dirty="0">
                <a:solidFill>
                  <a:srgbClr val="1C125C"/>
                </a:solidFill>
                <a:latin typeface="Circe Light"/>
              </a:rPr>
              <a:t> за неделю– </a:t>
            </a:r>
            <a:r>
              <a:rPr lang="ru-RU" sz="1400" b="0" i="0" dirty="0">
                <a:solidFill>
                  <a:srgbClr val="333333"/>
                </a:solidFill>
                <a:effectLst/>
                <a:latin typeface="system-ui"/>
              </a:rPr>
              <a:t>60</a:t>
            </a:r>
            <a:r>
              <a:rPr lang="ru-RU" sz="1400" dirty="0">
                <a:solidFill>
                  <a:srgbClr val="1C125C"/>
                </a:solidFill>
                <a:latin typeface="Circe Light"/>
              </a:rPr>
              <a:t>  </a:t>
            </a:r>
            <a:r>
              <a:rPr lang="ru-RU" sz="1400" dirty="0" err="1">
                <a:solidFill>
                  <a:srgbClr val="1C125C"/>
                </a:solidFill>
                <a:latin typeface="Circe Light"/>
              </a:rPr>
              <a:t>ктк</a:t>
            </a:r>
            <a:r>
              <a:rPr lang="ru-RU" sz="1400" dirty="0">
                <a:solidFill>
                  <a:srgbClr val="1C125C"/>
                </a:solidFill>
                <a:latin typeface="Circe Light"/>
              </a:rPr>
              <a:t>, отправлено </a:t>
            </a:r>
            <a:r>
              <a:rPr lang="ru-RU" sz="1400" b="0" i="0" dirty="0">
                <a:solidFill>
                  <a:srgbClr val="333333"/>
                </a:solidFill>
                <a:effectLst/>
                <a:latin typeface="system-ui"/>
              </a:rPr>
              <a:t>107 </a:t>
            </a:r>
            <a:r>
              <a:rPr lang="ru-RU" sz="1400" dirty="0" err="1">
                <a:solidFill>
                  <a:srgbClr val="1C125C"/>
                </a:solidFill>
                <a:latin typeface="Circe Light"/>
              </a:rPr>
              <a:t>ктк</a:t>
            </a:r>
            <a:r>
              <a:rPr lang="ru-RU" sz="1400" dirty="0">
                <a:solidFill>
                  <a:srgbClr val="1C125C"/>
                </a:solidFill>
                <a:latin typeface="Circe Light"/>
              </a:rPr>
              <a:t> , </a:t>
            </a:r>
            <a:r>
              <a:rPr lang="ru-RU" sz="1400" dirty="0">
                <a:solidFill>
                  <a:schemeClr val="accent6">
                    <a:lumMod val="50000"/>
                  </a:schemeClr>
                </a:solidFill>
                <a:latin typeface="Circe Light"/>
              </a:rPr>
              <a:t>отработано – 100% заявок.</a:t>
            </a:r>
          </a:p>
        </p:txBody>
      </p:sp>
      <p:sp>
        <p:nvSpPr>
          <p:cNvPr id="75" name="Заголовок 5">
            <a:extLst>
              <a:ext uri="{FF2B5EF4-FFF2-40B4-BE49-F238E27FC236}">
                <a16:creationId xmlns:a16="http://schemas.microsoft.com/office/drawing/2014/main" id="{A7AD4376-F2C2-6E62-2B55-2326376B2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650" y="7114"/>
            <a:ext cx="12196650" cy="366155"/>
          </a:xfrm>
          <a:solidFill>
            <a:srgbClr val="002060"/>
          </a:solidFill>
          <a:ln>
            <a:noFill/>
          </a:ln>
        </p:spPr>
        <p:txBody>
          <a:bodyPr>
            <a:normAutofit fontScale="90000"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Circe Light"/>
              </a:rPr>
              <a:t>КС СЛ</a:t>
            </a:r>
          </a:p>
        </p:txBody>
      </p:sp>
      <p:cxnSp>
        <p:nvCxnSpPr>
          <p:cNvPr id="79" name="Прямая соединительная линия 78">
            <a:extLst>
              <a:ext uri="{FF2B5EF4-FFF2-40B4-BE49-F238E27FC236}">
                <a16:creationId xmlns:a16="http://schemas.microsoft.com/office/drawing/2014/main" id="{3AD8CAEE-62BF-0D1B-E8AF-23C2572425DD}"/>
              </a:ext>
            </a:extLst>
          </p:cNvPr>
          <p:cNvCxnSpPr>
            <a:cxnSpLocks/>
          </p:cNvCxnSpPr>
          <p:nvPr/>
        </p:nvCxnSpPr>
        <p:spPr>
          <a:xfrm>
            <a:off x="1011354" y="5054715"/>
            <a:ext cx="10840257" cy="0"/>
          </a:xfrm>
          <a:prstGeom prst="line">
            <a:avLst/>
          </a:prstGeom>
          <a:ln>
            <a:solidFill>
              <a:srgbClr val="1C125C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65933BC-38D2-65D8-56D6-0B2E96912980}"/>
              </a:ext>
            </a:extLst>
          </p:cNvPr>
          <p:cNvSpPr/>
          <p:nvPr/>
        </p:nvSpPr>
        <p:spPr>
          <a:xfrm>
            <a:off x="1238063" y="2143427"/>
            <a:ext cx="9922084" cy="1592639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endParaRPr lang="ru-RU" sz="1400" dirty="0">
              <a:solidFill>
                <a:srgbClr val="493482"/>
              </a:solidFill>
              <a:latin typeface="Circe Light" panose="020B0402020203020203" pitchFamily="34" charset="-52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9293BC7-01B1-465A-C3F7-6C50421852FA}"/>
              </a:ext>
            </a:extLst>
          </p:cNvPr>
          <p:cNvSpPr/>
          <p:nvPr/>
        </p:nvSpPr>
        <p:spPr>
          <a:xfrm>
            <a:off x="1257873" y="1691456"/>
            <a:ext cx="9756084" cy="165862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endParaRPr lang="ru-RU" sz="1400" dirty="0">
              <a:solidFill>
                <a:srgbClr val="493482"/>
              </a:solidFill>
              <a:latin typeface="Circe Light" panose="020B0402020203020203" pitchFamily="34" charset="-52"/>
            </a:endParaRPr>
          </a:p>
          <a:p>
            <a:br>
              <a:rPr lang="ru-RU" sz="1400" dirty="0">
                <a:solidFill>
                  <a:srgbClr val="493482"/>
                </a:solidFill>
                <a:latin typeface="Circe Light" panose="020B0402020203020203" pitchFamily="34" charset="-52"/>
              </a:rPr>
            </a:br>
            <a:r>
              <a:rPr lang="ru-RU" sz="1400" dirty="0">
                <a:solidFill>
                  <a:srgbClr val="493482"/>
                </a:solidFill>
                <a:latin typeface="Circe Light" panose="020B0402020203020203" pitchFamily="34" charset="-52"/>
              </a:rPr>
              <a:t>- Оперативная работа;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solidFill>
                  <a:srgbClr val="493482"/>
                </a:solidFill>
                <a:latin typeface="Circe Light" panose="020B0402020203020203" pitchFamily="34" charset="-52"/>
              </a:rPr>
              <a:t>Клиент Апогей – металл (ВРП) получили оригинал претензии 18.06, ожидаем ОС от них;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solidFill>
                  <a:srgbClr val="493482"/>
                </a:solidFill>
                <a:latin typeface="Circe Light" panose="020B0402020203020203" pitchFamily="34" charset="-52"/>
              </a:rPr>
              <a:t>Участие в тендере Русала по </a:t>
            </a:r>
            <a:r>
              <a:rPr lang="ru-RU" sz="1400" dirty="0" err="1">
                <a:solidFill>
                  <a:srgbClr val="493482"/>
                </a:solidFill>
                <a:latin typeface="Circe Light" panose="020B0402020203020203" pitchFamily="34" charset="-52"/>
              </a:rPr>
              <a:t>автовывозу</a:t>
            </a:r>
            <a:r>
              <a:rPr lang="ru-RU" sz="1400" dirty="0">
                <a:solidFill>
                  <a:srgbClr val="493482"/>
                </a:solidFill>
                <a:latin typeface="Circe Light" panose="020B0402020203020203" pitchFamily="34" charset="-52"/>
              </a:rPr>
              <a:t> в Красноярске 40ф </a:t>
            </a:r>
            <a:r>
              <a:rPr lang="ru-RU" sz="1400" dirty="0" err="1">
                <a:solidFill>
                  <a:srgbClr val="493482"/>
                </a:solidFill>
                <a:latin typeface="Circe Light" panose="020B0402020203020203" pitchFamily="34" charset="-52"/>
              </a:rPr>
              <a:t>ктк</a:t>
            </a:r>
            <a:r>
              <a:rPr lang="ru-RU" sz="1400" dirty="0">
                <a:solidFill>
                  <a:srgbClr val="493482"/>
                </a:solidFill>
                <a:latin typeface="Circe Light" panose="020B0402020203020203" pitchFamily="34" charset="-52"/>
              </a:rPr>
              <a:t>;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solidFill>
                  <a:srgbClr val="493482"/>
                </a:solidFill>
                <a:latin typeface="Circe Light" panose="020B0402020203020203" pitchFamily="34" charset="-52"/>
              </a:rPr>
              <a:t>Возобновляем автоперевозки по Сибуру, объем 8 </a:t>
            </a:r>
            <a:r>
              <a:rPr lang="ru-RU" sz="1400" dirty="0" err="1">
                <a:solidFill>
                  <a:srgbClr val="493482"/>
                </a:solidFill>
                <a:latin typeface="Circe Light" panose="020B0402020203020203" pitchFamily="34" charset="-52"/>
              </a:rPr>
              <a:t>ктк</a:t>
            </a:r>
            <a:r>
              <a:rPr lang="ru-RU" sz="1400" dirty="0">
                <a:solidFill>
                  <a:srgbClr val="493482"/>
                </a:solidFill>
                <a:latin typeface="Circe Light" panose="020B0402020203020203" pitchFamily="34" charset="-52"/>
              </a:rPr>
              <a:t>, ожидаем планы на июль;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solidFill>
                  <a:srgbClr val="493482"/>
                </a:solidFill>
                <a:latin typeface="Circe Light" panose="020B0402020203020203" pitchFamily="34" charset="-52"/>
              </a:rPr>
              <a:t>Запустили подписание договора по ДНС – проект хранения их груза в наших </a:t>
            </a:r>
            <a:r>
              <a:rPr lang="ru-RU" sz="1400" dirty="0" err="1">
                <a:solidFill>
                  <a:srgbClr val="493482"/>
                </a:solidFill>
                <a:latin typeface="Circe Light" panose="020B0402020203020203" pitchFamily="34" charset="-52"/>
              </a:rPr>
              <a:t>ктк</a:t>
            </a:r>
            <a:r>
              <a:rPr lang="ru-RU" sz="1400" dirty="0">
                <a:solidFill>
                  <a:srgbClr val="493482"/>
                </a:solidFill>
                <a:latin typeface="Circe Light" panose="020B0402020203020203" pitchFamily="34" charset="-52"/>
              </a:rPr>
              <a:t> + </a:t>
            </a:r>
            <a:r>
              <a:rPr lang="ru-RU" sz="1400" dirty="0" err="1">
                <a:solidFill>
                  <a:srgbClr val="493482"/>
                </a:solidFill>
                <a:latin typeface="Circe Light" panose="020B0402020203020203" pitchFamily="34" charset="-52"/>
              </a:rPr>
              <a:t>автовывоз</a:t>
            </a:r>
            <a:r>
              <a:rPr lang="ru-RU" sz="1400" dirty="0">
                <a:solidFill>
                  <a:srgbClr val="493482"/>
                </a:solidFill>
                <a:latin typeface="Circe Light" panose="020B0402020203020203" pitchFamily="34" charset="-52"/>
              </a:rPr>
              <a:t> (Красноярск). </a:t>
            </a:r>
          </a:p>
          <a:p>
            <a:br>
              <a:rPr lang="ru-RU" sz="1400" dirty="0">
                <a:solidFill>
                  <a:srgbClr val="493482"/>
                </a:solidFill>
                <a:latin typeface="Circe Light" panose="020B0402020203020203" pitchFamily="34" charset="-52"/>
              </a:rPr>
            </a:br>
            <a:r>
              <a:rPr lang="ru-RU" sz="1400" dirty="0">
                <a:solidFill>
                  <a:srgbClr val="493482"/>
                </a:solidFill>
                <a:latin typeface="Circe Light" panose="020B0402020203020203" pitchFamily="34" charset="-52"/>
              </a:rPr>
              <a:t>  </a:t>
            </a:r>
          </a:p>
          <a:p>
            <a:endParaRPr lang="ru-RU" sz="1400" dirty="0">
              <a:solidFill>
                <a:srgbClr val="493482"/>
              </a:solidFill>
              <a:latin typeface="Circe Light" panose="020B0402020203020203" pitchFamily="34" charset="-52"/>
            </a:endParaRPr>
          </a:p>
          <a:p>
            <a:pPr marL="285750" indent="-285750">
              <a:buFontTx/>
              <a:buChar char="-"/>
            </a:pPr>
            <a:endParaRPr lang="ru-RU" sz="1400" dirty="0">
              <a:solidFill>
                <a:srgbClr val="493482"/>
              </a:solidFill>
              <a:latin typeface="Circe Light" panose="020B0402020203020203" pitchFamily="34" charset="-52"/>
            </a:endParaRPr>
          </a:p>
          <a:p>
            <a:endParaRPr lang="ru-RU" sz="1400" dirty="0">
              <a:solidFill>
                <a:srgbClr val="493482"/>
              </a:solidFill>
              <a:latin typeface="Circe Light" panose="020B0402020203020203" pitchFamily="34" charset="-52"/>
            </a:endParaRPr>
          </a:p>
          <a:p>
            <a:endParaRPr lang="ru-RU" sz="1400" dirty="0">
              <a:solidFill>
                <a:srgbClr val="493482"/>
              </a:solidFill>
              <a:latin typeface="Circe Light" panose="020B0402020203020203" pitchFamily="34" charset="-52"/>
            </a:endParaRPr>
          </a:p>
          <a:p>
            <a:r>
              <a:rPr lang="ru-RU" sz="1400" dirty="0">
                <a:solidFill>
                  <a:srgbClr val="493482"/>
                </a:solidFill>
                <a:latin typeface="Circe Light" panose="020B0402020203020203" pitchFamily="34" charset="-52"/>
              </a:rPr>
              <a:t> </a:t>
            </a:r>
          </a:p>
          <a:p>
            <a:r>
              <a:rPr lang="ru-RU" sz="1400" dirty="0">
                <a:solidFill>
                  <a:srgbClr val="493482"/>
                </a:solidFill>
                <a:latin typeface="Circe Light" panose="020B0402020203020203" pitchFamily="34" charset="-52"/>
              </a:rPr>
              <a:t> </a:t>
            </a:r>
            <a:br>
              <a:rPr lang="ru-RU" sz="1400" dirty="0">
                <a:solidFill>
                  <a:srgbClr val="493482"/>
                </a:solidFill>
                <a:latin typeface="Circe Light" panose="020B0402020203020203" pitchFamily="34" charset="-52"/>
              </a:rPr>
            </a:br>
            <a:br>
              <a:rPr lang="ru-RU" sz="1400" dirty="0">
                <a:solidFill>
                  <a:srgbClr val="493482"/>
                </a:solidFill>
                <a:latin typeface="Circe Light" panose="020B0402020203020203" pitchFamily="34" charset="-52"/>
              </a:rPr>
            </a:br>
            <a:endParaRPr lang="ru-RU" sz="1400" dirty="0">
              <a:solidFill>
                <a:srgbClr val="493482"/>
              </a:solidFill>
              <a:latin typeface="Circe Light" panose="020B0402020203020203" pitchFamily="34" charset="-52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8A6C62C-10E3-2240-53C1-3E665BF850ED}"/>
              </a:ext>
            </a:extLst>
          </p:cNvPr>
          <p:cNvSpPr/>
          <p:nvPr/>
        </p:nvSpPr>
        <p:spPr>
          <a:xfrm>
            <a:off x="1257873" y="3169452"/>
            <a:ext cx="9756084" cy="165862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endParaRPr lang="ru-RU" sz="1400" dirty="0">
              <a:solidFill>
                <a:srgbClr val="493482"/>
              </a:solidFill>
              <a:latin typeface="Circe Light" panose="020B0402020203020203" pitchFamily="34" charset="-52"/>
            </a:endParaRPr>
          </a:p>
          <a:p>
            <a:br>
              <a:rPr lang="ru-RU" sz="1400" dirty="0">
                <a:solidFill>
                  <a:srgbClr val="493482"/>
                </a:solidFill>
                <a:latin typeface="Circe Light" panose="020B0402020203020203" pitchFamily="34" charset="-52"/>
              </a:rPr>
            </a:br>
            <a:r>
              <a:rPr lang="ru-RU" sz="1400" dirty="0">
                <a:solidFill>
                  <a:srgbClr val="493482"/>
                </a:solidFill>
                <a:latin typeface="Circe Light" panose="020B0402020203020203" pitchFamily="34" charset="-52"/>
              </a:rPr>
              <a:t>- Оперативная работа;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solidFill>
                  <a:srgbClr val="493482"/>
                </a:solidFill>
                <a:latin typeface="Circe Light" panose="020B0402020203020203" pitchFamily="34" charset="-52"/>
              </a:rPr>
              <a:t>Участие в тендере Русала по </a:t>
            </a:r>
            <a:r>
              <a:rPr lang="ru-RU" sz="1400" dirty="0" err="1">
                <a:solidFill>
                  <a:srgbClr val="493482"/>
                </a:solidFill>
                <a:latin typeface="Circe Light" panose="020B0402020203020203" pitchFamily="34" charset="-52"/>
              </a:rPr>
              <a:t>автовывозу</a:t>
            </a:r>
            <a:r>
              <a:rPr lang="ru-RU" sz="1400" dirty="0">
                <a:solidFill>
                  <a:srgbClr val="493482"/>
                </a:solidFill>
                <a:latin typeface="Circe Light" panose="020B0402020203020203" pitchFamily="34" charset="-52"/>
              </a:rPr>
              <a:t> в Красноярске 20ф </a:t>
            </a:r>
            <a:r>
              <a:rPr lang="ru-RU" sz="1400" dirty="0" err="1">
                <a:solidFill>
                  <a:srgbClr val="493482"/>
                </a:solidFill>
                <a:latin typeface="Circe Light" panose="020B0402020203020203" pitchFamily="34" charset="-52"/>
              </a:rPr>
              <a:t>ктк</a:t>
            </a:r>
            <a:r>
              <a:rPr lang="ru-RU" sz="1400" dirty="0">
                <a:solidFill>
                  <a:srgbClr val="493482"/>
                </a:solidFill>
                <a:latin typeface="Circe Light" panose="020B0402020203020203" pitchFamily="34" charset="-52"/>
              </a:rPr>
              <a:t>;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solidFill>
                  <a:srgbClr val="493482"/>
                </a:solidFill>
                <a:latin typeface="Circe Light" panose="020B0402020203020203" pitchFamily="34" charset="-52"/>
              </a:rPr>
              <a:t>Отправить 41 </a:t>
            </a:r>
            <a:r>
              <a:rPr lang="ru-RU" sz="1400" dirty="0" err="1">
                <a:solidFill>
                  <a:srgbClr val="493482"/>
                </a:solidFill>
                <a:latin typeface="Circe Light" panose="020B0402020203020203" pitchFamily="34" charset="-52"/>
              </a:rPr>
              <a:t>ктк</a:t>
            </a:r>
            <a:r>
              <a:rPr lang="ru-RU" sz="1400" dirty="0">
                <a:solidFill>
                  <a:srgbClr val="493482"/>
                </a:solidFill>
                <a:latin typeface="Circe Light" panose="020B0402020203020203" pitchFamily="34" charset="-52"/>
              </a:rPr>
              <a:t> – Красноярск; </a:t>
            </a:r>
          </a:p>
          <a:p>
            <a:br>
              <a:rPr lang="ru-RU" sz="1400" dirty="0">
                <a:solidFill>
                  <a:srgbClr val="493482"/>
                </a:solidFill>
                <a:latin typeface="Circe Light" panose="020B0402020203020203" pitchFamily="34" charset="-52"/>
              </a:rPr>
            </a:br>
            <a:r>
              <a:rPr lang="ru-RU" sz="1400" dirty="0">
                <a:solidFill>
                  <a:srgbClr val="493482"/>
                </a:solidFill>
                <a:latin typeface="Circe Light" panose="020B0402020203020203" pitchFamily="34" charset="-52"/>
              </a:rPr>
              <a:t>  </a:t>
            </a:r>
          </a:p>
          <a:p>
            <a:endParaRPr lang="ru-RU" sz="1400" dirty="0">
              <a:solidFill>
                <a:srgbClr val="493482"/>
              </a:solidFill>
              <a:latin typeface="Circe Light" panose="020B0402020203020203" pitchFamily="34" charset="-52"/>
            </a:endParaRPr>
          </a:p>
          <a:p>
            <a:pPr marL="285750" indent="-285750">
              <a:buFontTx/>
              <a:buChar char="-"/>
            </a:pPr>
            <a:endParaRPr lang="ru-RU" sz="1400" dirty="0">
              <a:solidFill>
                <a:srgbClr val="493482"/>
              </a:solidFill>
              <a:latin typeface="Circe Light" panose="020B0402020203020203" pitchFamily="34" charset="-52"/>
            </a:endParaRPr>
          </a:p>
          <a:p>
            <a:endParaRPr lang="ru-RU" sz="1400" dirty="0">
              <a:solidFill>
                <a:srgbClr val="493482"/>
              </a:solidFill>
              <a:latin typeface="Circe Light" panose="020B0402020203020203" pitchFamily="34" charset="-52"/>
            </a:endParaRPr>
          </a:p>
          <a:p>
            <a:endParaRPr lang="ru-RU" sz="1400" dirty="0">
              <a:solidFill>
                <a:srgbClr val="493482"/>
              </a:solidFill>
              <a:latin typeface="Circe Light" panose="020B0402020203020203" pitchFamily="34" charset="-52"/>
            </a:endParaRPr>
          </a:p>
          <a:p>
            <a:r>
              <a:rPr lang="ru-RU" sz="1400" dirty="0">
                <a:solidFill>
                  <a:srgbClr val="493482"/>
                </a:solidFill>
                <a:latin typeface="Circe Light" panose="020B0402020203020203" pitchFamily="34" charset="-52"/>
              </a:rPr>
              <a:t> </a:t>
            </a:r>
          </a:p>
          <a:p>
            <a:r>
              <a:rPr lang="ru-RU" sz="1400" dirty="0">
                <a:solidFill>
                  <a:srgbClr val="493482"/>
                </a:solidFill>
                <a:latin typeface="Circe Light" panose="020B0402020203020203" pitchFamily="34" charset="-52"/>
              </a:rPr>
              <a:t> </a:t>
            </a:r>
            <a:br>
              <a:rPr lang="ru-RU" sz="1400" dirty="0">
                <a:solidFill>
                  <a:srgbClr val="493482"/>
                </a:solidFill>
                <a:latin typeface="Circe Light" panose="020B0402020203020203" pitchFamily="34" charset="-52"/>
              </a:rPr>
            </a:br>
            <a:br>
              <a:rPr lang="ru-RU" sz="1400" dirty="0">
                <a:solidFill>
                  <a:srgbClr val="493482"/>
                </a:solidFill>
                <a:latin typeface="Circe Light" panose="020B0402020203020203" pitchFamily="34" charset="-52"/>
              </a:rPr>
            </a:br>
            <a:endParaRPr lang="ru-RU" sz="1400" dirty="0">
              <a:solidFill>
                <a:srgbClr val="493482"/>
              </a:solidFill>
              <a:latin typeface="Circe Light" panose="020B0402020203020203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547282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Shape-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21239" y="308139"/>
            <a:ext cx="11670762" cy="6499211"/>
          </a:xfrm>
          <a:prstGeom prst="rect">
            <a:avLst/>
          </a:prstGeom>
        </p:spPr>
      </p:pic>
      <p:sp>
        <p:nvSpPr>
          <p:cNvPr id="4" name="title copy"/>
          <p:cNvSpPr/>
          <p:nvPr/>
        </p:nvSpPr>
        <p:spPr bwMode="auto">
          <a:xfrm>
            <a:off x="1292080" y="497982"/>
            <a:ext cx="10138419" cy="5162351"/>
          </a:xfrm>
          <a:prstGeom prst="rect">
            <a:avLst/>
          </a:prstGeom>
        </p:spPr>
        <p:txBody>
          <a:bodyPr spcFirstLastPara="0" lIns="33734" tIns="33734" rIns="33734" bIns="33734" anchor="t"/>
          <a:lstStyle/>
          <a:p>
            <a:pPr algn="l">
              <a:lnSpc>
                <a:spcPct val="150000"/>
              </a:lnSpc>
              <a:defRPr/>
            </a:pPr>
            <a:endParaRPr sz="2249">
              <a:solidFill>
                <a:srgbClr val="6045A4"/>
              </a:solidFill>
              <a:latin typeface="Circe Light"/>
              <a:cs typeface="Libre-Baskerville"/>
            </a:endParaRPr>
          </a:p>
        </p:txBody>
      </p:sp>
      <p:sp>
        <p:nvSpPr>
          <p:cNvPr id="11" name="title copy"/>
          <p:cNvSpPr/>
          <p:nvPr/>
        </p:nvSpPr>
        <p:spPr bwMode="auto">
          <a:xfrm>
            <a:off x="253329" y="5461571"/>
            <a:ext cx="2391988" cy="847906"/>
          </a:xfrm>
          <a:prstGeom prst="rect">
            <a:avLst/>
          </a:prstGeom>
        </p:spPr>
        <p:txBody>
          <a:bodyPr spcFirstLastPara="0" lIns="33734" tIns="33734" rIns="33734" bIns="33734" anchor="t"/>
          <a:lstStyle/>
          <a:p>
            <a:pPr>
              <a:lnSpc>
                <a:spcPct val="83333"/>
              </a:lnSpc>
              <a:defRPr/>
            </a:pPr>
            <a:endParaRPr sz="3373">
              <a:solidFill>
                <a:srgbClr val="FAFBFF"/>
              </a:solidFill>
              <a:latin typeface="Circe Bold"/>
              <a:cs typeface="&quot;Josefin Sans&quot;"/>
            </a:endParaRPr>
          </a:p>
        </p:txBody>
      </p:sp>
      <p:sp>
        <p:nvSpPr>
          <p:cNvPr id="12" name="title copy"/>
          <p:cNvSpPr/>
          <p:nvPr/>
        </p:nvSpPr>
        <p:spPr bwMode="auto">
          <a:xfrm>
            <a:off x="4120846" y="374596"/>
            <a:ext cx="1161520" cy="321312"/>
          </a:xfrm>
          <a:prstGeom prst="rect">
            <a:avLst/>
          </a:prstGeom>
        </p:spPr>
        <p:txBody>
          <a:bodyPr spcFirstLastPara="0" lIns="33734" tIns="33734" rIns="33734" bIns="33734" anchor="t"/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5000"/>
              </a:lnSpc>
              <a:defRPr/>
            </a:pPr>
            <a:r>
              <a:rPr lang="ru-RU" sz="2249" b="1">
                <a:solidFill>
                  <a:srgbClr val="FF824D"/>
                </a:solidFill>
                <a:latin typeface="Circe"/>
                <a:cs typeface="&quot;Josefin Sans&quot;"/>
              </a:rPr>
              <a:t>Экспорт</a:t>
            </a:r>
            <a:endParaRPr sz="2249" b="1">
              <a:solidFill>
                <a:srgbClr val="FF824D"/>
              </a:solidFill>
              <a:latin typeface="Circe"/>
              <a:cs typeface="&quot;Josefin Sans&quot;"/>
            </a:endParaRPr>
          </a:p>
        </p:txBody>
      </p:sp>
      <p:grpSp>
        <p:nvGrpSpPr>
          <p:cNvPr id="13" name="Group 10"/>
          <p:cNvGrpSpPr/>
          <p:nvPr/>
        </p:nvGrpSpPr>
        <p:grpSpPr bwMode="auto">
          <a:xfrm>
            <a:off x="3668645" y="401151"/>
            <a:ext cx="307179" cy="340362"/>
            <a:chOff x="981231" y="2566987"/>
            <a:chExt cx="514350" cy="569913"/>
          </a:xfrm>
        </p:grpSpPr>
        <p:sp>
          <p:nvSpPr>
            <p:cNvPr id="14" name="Freeform 10"/>
            <p:cNvSpPr/>
            <p:nvPr/>
          </p:nvSpPr>
          <p:spPr bwMode="auto">
            <a:xfrm>
              <a:off x="981231" y="2566987"/>
              <a:ext cx="342900" cy="569913"/>
            </a:xfrm>
            <a:custGeom>
              <a:avLst/>
              <a:gdLst>
                <a:gd name="T0" fmla="*/ 0 w 216"/>
                <a:gd name="T1" fmla="*/ 136 h 359"/>
                <a:gd name="T2" fmla="*/ 216 w 216"/>
                <a:gd name="T3" fmla="*/ 0 h 359"/>
                <a:gd name="T4" fmla="*/ 216 w 216"/>
                <a:gd name="T5" fmla="*/ 223 h 359"/>
                <a:gd name="T6" fmla="*/ 0 w 216"/>
                <a:gd name="T7" fmla="*/ 359 h 359"/>
                <a:gd name="T8" fmla="*/ 0 w 216"/>
                <a:gd name="T9" fmla="*/ 136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6" h="359" extrusionOk="0">
                  <a:moveTo>
                    <a:pt x="0" y="136"/>
                  </a:moveTo>
                  <a:lnTo>
                    <a:pt x="216" y="0"/>
                  </a:lnTo>
                  <a:lnTo>
                    <a:pt x="216" y="223"/>
                  </a:lnTo>
                  <a:lnTo>
                    <a:pt x="0" y="359"/>
                  </a:lnTo>
                  <a:lnTo>
                    <a:pt x="0" y="136"/>
                  </a:lnTo>
                  <a:close/>
                </a:path>
              </a:pathLst>
            </a:custGeom>
            <a:gradFill>
              <a:gsLst>
                <a:gs pos="0">
                  <a:srgbClr val="FF5C00"/>
                </a:gs>
                <a:gs pos="100000">
                  <a:srgbClr val="ED7D31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85683" tIns="42842" rIns="85683" bIns="42842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856793">
                <a:defRPr/>
              </a:pPr>
              <a:endParaRPr lang="en-US" sz="1687">
                <a:solidFill>
                  <a:prstClr val="black"/>
                </a:solidFill>
                <a:latin typeface="Segoe UI"/>
                <a:cs typeface="Arial"/>
              </a:endParaRPr>
            </a:p>
          </p:txBody>
        </p:sp>
        <p:sp>
          <p:nvSpPr>
            <p:cNvPr id="15" name="Freeform 10"/>
            <p:cNvSpPr/>
            <p:nvPr/>
          </p:nvSpPr>
          <p:spPr bwMode="auto">
            <a:xfrm>
              <a:off x="1152681" y="2566987"/>
              <a:ext cx="342900" cy="569913"/>
            </a:xfrm>
            <a:custGeom>
              <a:avLst/>
              <a:gdLst>
                <a:gd name="T0" fmla="*/ 0 w 216"/>
                <a:gd name="T1" fmla="*/ 136 h 359"/>
                <a:gd name="T2" fmla="*/ 216 w 216"/>
                <a:gd name="T3" fmla="*/ 0 h 359"/>
                <a:gd name="T4" fmla="*/ 216 w 216"/>
                <a:gd name="T5" fmla="*/ 223 h 359"/>
                <a:gd name="T6" fmla="*/ 0 w 216"/>
                <a:gd name="T7" fmla="*/ 359 h 359"/>
                <a:gd name="T8" fmla="*/ 0 w 216"/>
                <a:gd name="T9" fmla="*/ 136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6" h="359" extrusionOk="0">
                  <a:moveTo>
                    <a:pt x="0" y="136"/>
                  </a:moveTo>
                  <a:lnTo>
                    <a:pt x="216" y="0"/>
                  </a:lnTo>
                  <a:lnTo>
                    <a:pt x="216" y="223"/>
                  </a:lnTo>
                  <a:lnTo>
                    <a:pt x="0" y="359"/>
                  </a:lnTo>
                  <a:lnTo>
                    <a:pt x="0" y="136"/>
                  </a:lnTo>
                  <a:close/>
                </a:path>
              </a:pathLst>
            </a:custGeom>
            <a:gradFill>
              <a:gsLst>
                <a:gs pos="0">
                  <a:srgbClr val="FF5C00"/>
                </a:gs>
                <a:gs pos="100000">
                  <a:srgbClr val="ED7D31">
                    <a:lumMod val="60000"/>
                    <a:lumOff val="40000"/>
                  </a:srgbClr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85683" tIns="42842" rIns="85683" bIns="42842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856793">
                <a:defRPr/>
              </a:pPr>
              <a:endParaRPr lang="en-US" sz="1687">
                <a:solidFill>
                  <a:prstClr val="black"/>
                </a:solidFill>
                <a:latin typeface="Segoe UI"/>
                <a:cs typeface="Arial"/>
              </a:endParaRPr>
            </a:p>
          </p:txBody>
        </p:sp>
      </p:grpSp>
      <p:sp>
        <p:nvSpPr>
          <p:cNvPr id="17" name="title copy"/>
          <p:cNvSpPr/>
          <p:nvPr/>
        </p:nvSpPr>
        <p:spPr bwMode="auto">
          <a:xfrm>
            <a:off x="4749632" y="743929"/>
            <a:ext cx="6820477" cy="700059"/>
          </a:xfrm>
          <a:prstGeom prst="rect">
            <a:avLst/>
          </a:prstGeom>
        </p:spPr>
        <p:txBody>
          <a:bodyPr spcFirstLastPara="0" lIns="33734" tIns="33734" rIns="33734" bIns="33734" anchor="t"/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sz="1312">
              <a:solidFill>
                <a:srgbClr val="6045A4"/>
              </a:solidFill>
              <a:latin typeface="Circe"/>
            </a:endParaRPr>
          </a:p>
        </p:txBody>
      </p:sp>
      <p:sp>
        <p:nvSpPr>
          <p:cNvPr id="20" name="title copy"/>
          <p:cNvSpPr/>
          <p:nvPr/>
        </p:nvSpPr>
        <p:spPr bwMode="auto">
          <a:xfrm>
            <a:off x="4888901" y="613226"/>
            <a:ext cx="4314961" cy="405995"/>
          </a:xfrm>
          <a:prstGeom prst="rect">
            <a:avLst/>
          </a:prstGeom>
        </p:spPr>
        <p:txBody>
          <a:bodyPr spcFirstLastPara="0" lIns="33734" tIns="33734" rIns="33734" bIns="33734" anchor="t"/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defRPr/>
            </a:pPr>
            <a:endParaRPr sz="1499">
              <a:solidFill>
                <a:srgbClr val="6045A4"/>
              </a:solidFill>
              <a:latin typeface="Circe"/>
            </a:endParaRPr>
          </a:p>
        </p:txBody>
      </p:sp>
      <p:sp>
        <p:nvSpPr>
          <p:cNvPr id="40" name="title copy"/>
          <p:cNvSpPr/>
          <p:nvPr/>
        </p:nvSpPr>
        <p:spPr bwMode="auto">
          <a:xfrm>
            <a:off x="8997262" y="367525"/>
            <a:ext cx="748755" cy="321312"/>
          </a:xfrm>
          <a:prstGeom prst="rect">
            <a:avLst/>
          </a:prstGeom>
        </p:spPr>
        <p:txBody>
          <a:bodyPr spcFirstLastPara="0" lIns="33734" tIns="33734" rIns="33734" bIns="33734" anchor="t"/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5000"/>
              </a:lnSpc>
              <a:defRPr/>
            </a:pPr>
            <a:r>
              <a:rPr lang="ru-RU" sz="2249" b="1" dirty="0">
                <a:solidFill>
                  <a:srgbClr val="FF824D"/>
                </a:solidFill>
                <a:latin typeface="Circe"/>
                <a:cs typeface="&quot;Josefin Sans&quot;"/>
              </a:rPr>
              <a:t>ВРП</a:t>
            </a:r>
            <a:endParaRPr sz="2249" b="1" dirty="0">
              <a:solidFill>
                <a:srgbClr val="FF824D"/>
              </a:solidFill>
              <a:latin typeface="Circe"/>
              <a:cs typeface="&quot;Josefin Sans&quot;"/>
            </a:endParaRPr>
          </a:p>
        </p:txBody>
      </p:sp>
      <p:grpSp>
        <p:nvGrpSpPr>
          <p:cNvPr id="41" name="Group 10"/>
          <p:cNvGrpSpPr/>
          <p:nvPr/>
        </p:nvGrpSpPr>
        <p:grpSpPr bwMode="auto">
          <a:xfrm>
            <a:off x="8466859" y="389651"/>
            <a:ext cx="307179" cy="340362"/>
            <a:chOff x="981231" y="2566987"/>
            <a:chExt cx="514350" cy="569913"/>
          </a:xfrm>
        </p:grpSpPr>
        <p:sp>
          <p:nvSpPr>
            <p:cNvPr id="42" name="Freeform 10"/>
            <p:cNvSpPr/>
            <p:nvPr/>
          </p:nvSpPr>
          <p:spPr bwMode="auto">
            <a:xfrm>
              <a:off x="981231" y="2566987"/>
              <a:ext cx="342900" cy="569913"/>
            </a:xfrm>
            <a:custGeom>
              <a:avLst/>
              <a:gdLst>
                <a:gd name="T0" fmla="*/ 0 w 216"/>
                <a:gd name="T1" fmla="*/ 136 h 359"/>
                <a:gd name="T2" fmla="*/ 216 w 216"/>
                <a:gd name="T3" fmla="*/ 0 h 359"/>
                <a:gd name="T4" fmla="*/ 216 w 216"/>
                <a:gd name="T5" fmla="*/ 223 h 359"/>
                <a:gd name="T6" fmla="*/ 0 w 216"/>
                <a:gd name="T7" fmla="*/ 359 h 359"/>
                <a:gd name="T8" fmla="*/ 0 w 216"/>
                <a:gd name="T9" fmla="*/ 136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6" h="359" extrusionOk="0">
                  <a:moveTo>
                    <a:pt x="0" y="136"/>
                  </a:moveTo>
                  <a:lnTo>
                    <a:pt x="216" y="0"/>
                  </a:lnTo>
                  <a:lnTo>
                    <a:pt x="216" y="223"/>
                  </a:lnTo>
                  <a:lnTo>
                    <a:pt x="0" y="359"/>
                  </a:lnTo>
                  <a:lnTo>
                    <a:pt x="0" y="136"/>
                  </a:lnTo>
                  <a:close/>
                </a:path>
              </a:pathLst>
            </a:custGeom>
            <a:gradFill>
              <a:gsLst>
                <a:gs pos="0">
                  <a:srgbClr val="FF5C00"/>
                </a:gs>
                <a:gs pos="100000">
                  <a:srgbClr val="ED7D31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85683" tIns="42842" rIns="85683" bIns="42842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856793">
                <a:defRPr/>
              </a:pPr>
              <a:endParaRPr lang="en-US" sz="1687">
                <a:solidFill>
                  <a:prstClr val="black"/>
                </a:solidFill>
                <a:latin typeface="Segoe UI"/>
                <a:cs typeface="Arial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>
              <a:off x="1152681" y="2566987"/>
              <a:ext cx="342900" cy="569913"/>
            </a:xfrm>
            <a:custGeom>
              <a:avLst/>
              <a:gdLst>
                <a:gd name="T0" fmla="*/ 0 w 216"/>
                <a:gd name="T1" fmla="*/ 136 h 359"/>
                <a:gd name="T2" fmla="*/ 216 w 216"/>
                <a:gd name="T3" fmla="*/ 0 h 359"/>
                <a:gd name="T4" fmla="*/ 216 w 216"/>
                <a:gd name="T5" fmla="*/ 223 h 359"/>
                <a:gd name="T6" fmla="*/ 0 w 216"/>
                <a:gd name="T7" fmla="*/ 359 h 359"/>
                <a:gd name="T8" fmla="*/ 0 w 216"/>
                <a:gd name="T9" fmla="*/ 136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6" h="359" extrusionOk="0">
                  <a:moveTo>
                    <a:pt x="0" y="136"/>
                  </a:moveTo>
                  <a:lnTo>
                    <a:pt x="216" y="0"/>
                  </a:lnTo>
                  <a:lnTo>
                    <a:pt x="216" y="223"/>
                  </a:lnTo>
                  <a:lnTo>
                    <a:pt x="0" y="359"/>
                  </a:lnTo>
                  <a:lnTo>
                    <a:pt x="0" y="136"/>
                  </a:lnTo>
                  <a:close/>
                </a:path>
              </a:pathLst>
            </a:custGeom>
            <a:gradFill>
              <a:gsLst>
                <a:gs pos="0">
                  <a:srgbClr val="FF5C00"/>
                </a:gs>
                <a:gs pos="100000">
                  <a:srgbClr val="ED7D31">
                    <a:lumMod val="60000"/>
                    <a:lumOff val="40000"/>
                  </a:srgbClr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85683" tIns="42842" rIns="85683" bIns="42842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856793">
                <a:defRPr/>
              </a:pPr>
              <a:endParaRPr lang="en-US" sz="1687">
                <a:solidFill>
                  <a:prstClr val="black"/>
                </a:solidFill>
                <a:latin typeface="Segoe UI"/>
                <a:cs typeface="Arial"/>
              </a:endParaRPr>
            </a:p>
          </p:txBody>
        </p:sp>
      </p:grpSp>
      <p:sp>
        <p:nvSpPr>
          <p:cNvPr id="48" name="title copy"/>
          <p:cNvSpPr/>
          <p:nvPr/>
        </p:nvSpPr>
        <p:spPr bwMode="auto">
          <a:xfrm>
            <a:off x="2803898" y="3634118"/>
            <a:ext cx="8961230" cy="748508"/>
          </a:xfrm>
          <a:prstGeom prst="rect">
            <a:avLst/>
          </a:prstGeom>
        </p:spPr>
        <p:txBody>
          <a:bodyPr spcFirstLastPara="0" lIns="33734" tIns="33734" rIns="33734" bIns="33734" anchor="t"/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defRPr/>
            </a:pPr>
            <a:endParaRPr lang="ru-RU" sz="1499">
              <a:solidFill>
                <a:srgbClr val="6045A4"/>
              </a:solidFill>
              <a:latin typeface="Circe"/>
            </a:endParaRPr>
          </a:p>
        </p:txBody>
      </p:sp>
      <p:sp>
        <p:nvSpPr>
          <p:cNvPr id="54" name="title copy"/>
          <p:cNvSpPr/>
          <p:nvPr/>
        </p:nvSpPr>
        <p:spPr bwMode="auto">
          <a:xfrm>
            <a:off x="5584701" y="4811855"/>
            <a:ext cx="5591102" cy="1115784"/>
          </a:xfrm>
          <a:prstGeom prst="rect">
            <a:avLst/>
          </a:prstGeom>
        </p:spPr>
        <p:txBody>
          <a:bodyPr spcFirstLastPara="0" lIns="33734" tIns="33734" rIns="33734" bIns="33734" anchor="t"/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7748" indent="-267748">
              <a:lnSpc>
                <a:spcPct val="150000"/>
              </a:lnSpc>
              <a:buFontTx/>
              <a:buChar char="-"/>
              <a:defRPr/>
            </a:pPr>
            <a:endParaRPr lang="en-US" sz="1499">
              <a:solidFill>
                <a:srgbClr val="6045A4"/>
              </a:solidFill>
              <a:latin typeface="Circe"/>
            </a:endParaRPr>
          </a:p>
        </p:txBody>
      </p:sp>
      <p:sp>
        <p:nvSpPr>
          <p:cNvPr id="30" name="Заголовок 5"/>
          <p:cNvSpPr txBox="1"/>
          <p:nvPr/>
        </p:nvSpPr>
        <p:spPr bwMode="auto">
          <a:xfrm>
            <a:off x="-4358" y="-11134"/>
            <a:ext cx="12212918" cy="386232"/>
          </a:xfrm>
          <a:prstGeom prst="rect">
            <a:avLst/>
          </a:prstGeom>
          <a:solidFill>
            <a:srgbClr val="6045A4"/>
          </a:solidFill>
          <a:ln>
            <a:noFill/>
          </a:ln>
        </p:spPr>
        <p:txBody>
          <a:bodyPr vert="horz" lIns="85683" tIns="42842" rIns="85683" bIns="42842" rtlCol="0" anchor="b">
            <a:normAutofit fontScale="82500" lnSpcReduction="20000"/>
          </a:bodyPr>
          <a:lstStyle>
            <a:lvl1pPr algn="ctr" defTabSz="457200"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  <a:defRPr/>
            </a:pPr>
            <a:r>
              <a:rPr lang="ru-RU" sz="2249" b="1" dirty="0">
                <a:solidFill>
                  <a:schemeClr val="bg1"/>
                </a:solidFill>
                <a:latin typeface="Circe Light"/>
              </a:rPr>
              <a:t>Отдел продаж (Экспорт/ВРП) </a:t>
            </a:r>
            <a:r>
              <a:rPr lang="ru-RU" sz="2249" b="1">
                <a:solidFill>
                  <a:schemeClr val="bg1"/>
                </a:solidFill>
                <a:latin typeface="Circe Light"/>
              </a:rPr>
              <a:t>– Капустин В.В.</a:t>
            </a:r>
            <a:endParaRPr lang="ru-RU" sz="750" b="1" dirty="0"/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989349" y="-62631"/>
            <a:ext cx="1161520" cy="533773"/>
          </a:xfrm>
          <a:prstGeom prst="rect">
            <a:avLst/>
          </a:prstGeom>
        </p:spPr>
      </p:pic>
      <p:sp>
        <p:nvSpPr>
          <p:cNvPr id="32" name="title copy"/>
          <p:cNvSpPr/>
          <p:nvPr/>
        </p:nvSpPr>
        <p:spPr bwMode="auto">
          <a:xfrm>
            <a:off x="865126" y="740040"/>
            <a:ext cx="1333928" cy="321312"/>
          </a:xfrm>
          <a:prstGeom prst="rect">
            <a:avLst/>
          </a:prstGeom>
        </p:spPr>
        <p:txBody>
          <a:bodyPr spcFirstLastPara="0" lIns="33734" tIns="33734" rIns="33734" bIns="33734" anchor="t"/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5000"/>
              </a:lnSpc>
              <a:defRPr/>
            </a:pPr>
            <a:r>
              <a:rPr lang="ru-RU" sz="2249" b="1" dirty="0">
                <a:solidFill>
                  <a:srgbClr val="FF824D"/>
                </a:solidFill>
                <a:latin typeface="Circe"/>
                <a:cs typeface="&quot;Josefin Sans&quot;"/>
              </a:rPr>
              <a:t>Метрики:</a:t>
            </a:r>
            <a:endParaRPr sz="2249" b="1" dirty="0">
              <a:solidFill>
                <a:srgbClr val="FF824D"/>
              </a:solidFill>
              <a:latin typeface="Circe"/>
              <a:cs typeface="&quot;Josefin Sans&quot;"/>
            </a:endParaRPr>
          </a:p>
        </p:txBody>
      </p:sp>
      <p:sp>
        <p:nvSpPr>
          <p:cNvPr id="33" name="title copy"/>
          <p:cNvSpPr/>
          <p:nvPr/>
        </p:nvSpPr>
        <p:spPr bwMode="auto">
          <a:xfrm>
            <a:off x="952701" y="2646112"/>
            <a:ext cx="1312171" cy="321312"/>
          </a:xfrm>
          <a:prstGeom prst="rect">
            <a:avLst/>
          </a:prstGeom>
        </p:spPr>
        <p:txBody>
          <a:bodyPr spcFirstLastPara="0" lIns="33734" tIns="33734" rIns="33734" bIns="33734" anchor="t"/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5000"/>
              </a:lnSpc>
              <a:defRPr/>
            </a:pPr>
            <a:r>
              <a:rPr lang="ru-RU" sz="2249" b="1">
                <a:solidFill>
                  <a:srgbClr val="FF824D"/>
                </a:solidFill>
                <a:latin typeface="Circe"/>
                <a:cs typeface="&quot;Josefin Sans&quot;"/>
              </a:rPr>
              <a:t>События:</a:t>
            </a:r>
            <a:endParaRPr sz="2249" b="1">
              <a:solidFill>
                <a:srgbClr val="FF824D"/>
              </a:solidFill>
              <a:latin typeface="Circe"/>
              <a:cs typeface="&quot;Josefin Sans&quot;"/>
            </a:endParaRPr>
          </a:p>
        </p:txBody>
      </p:sp>
      <p:sp>
        <p:nvSpPr>
          <p:cNvPr id="34" name="title copy"/>
          <p:cNvSpPr/>
          <p:nvPr/>
        </p:nvSpPr>
        <p:spPr bwMode="auto">
          <a:xfrm>
            <a:off x="1250970" y="4309328"/>
            <a:ext cx="1161520" cy="321312"/>
          </a:xfrm>
          <a:prstGeom prst="rect">
            <a:avLst/>
          </a:prstGeom>
        </p:spPr>
        <p:txBody>
          <a:bodyPr spcFirstLastPara="0" lIns="33734" tIns="33734" rIns="33734" bIns="33734" anchor="t"/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5000"/>
              </a:lnSpc>
              <a:defRPr/>
            </a:pPr>
            <a:r>
              <a:rPr lang="ru-RU" sz="2249" b="1">
                <a:solidFill>
                  <a:srgbClr val="FF824D"/>
                </a:solidFill>
                <a:latin typeface="Circe"/>
                <a:cs typeface="&quot;Josefin Sans&quot;"/>
              </a:rPr>
              <a:t>Планы:</a:t>
            </a:r>
            <a:endParaRPr sz="2249" b="1">
              <a:solidFill>
                <a:srgbClr val="FF824D"/>
              </a:solidFill>
              <a:latin typeface="Circe"/>
              <a:cs typeface="&quot;Josefin Sans&quot;"/>
            </a:endParaRPr>
          </a:p>
        </p:txBody>
      </p:sp>
      <p:sp>
        <p:nvSpPr>
          <p:cNvPr id="35" name="title copy"/>
          <p:cNvSpPr/>
          <p:nvPr/>
        </p:nvSpPr>
        <p:spPr bwMode="auto">
          <a:xfrm>
            <a:off x="1254904" y="6326974"/>
            <a:ext cx="1161520" cy="321312"/>
          </a:xfrm>
          <a:prstGeom prst="rect">
            <a:avLst/>
          </a:prstGeom>
        </p:spPr>
        <p:txBody>
          <a:bodyPr spcFirstLastPara="0" lIns="33734" tIns="33734" rIns="33734" bIns="33734" anchor="t"/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5000"/>
              </a:lnSpc>
              <a:defRPr/>
            </a:pPr>
            <a:r>
              <a:rPr lang="ru-RU" sz="2249" b="1">
                <a:solidFill>
                  <a:srgbClr val="FF824D"/>
                </a:solidFill>
                <a:latin typeface="Circe"/>
                <a:cs typeface="&quot;Josefin Sans&quot;"/>
              </a:rPr>
              <a:t>Отдел:</a:t>
            </a:r>
            <a:endParaRPr sz="2249" b="1">
              <a:solidFill>
                <a:srgbClr val="FF824D"/>
              </a:solidFill>
              <a:latin typeface="Circe"/>
              <a:cs typeface="&quot;Josefin Sans&quot;"/>
            </a:endParaRPr>
          </a:p>
        </p:txBody>
      </p:sp>
      <p:cxnSp>
        <p:nvCxnSpPr>
          <p:cNvPr id="5" name="Прямая соединительная линия 4"/>
          <p:cNvCxnSpPr>
            <a:cxnSpLocks/>
          </p:cNvCxnSpPr>
          <p:nvPr/>
        </p:nvCxnSpPr>
        <p:spPr bwMode="auto">
          <a:xfrm>
            <a:off x="2280132" y="825724"/>
            <a:ext cx="0" cy="6027296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>
            <a:cxnSpLocks/>
          </p:cNvCxnSpPr>
          <p:nvPr/>
        </p:nvCxnSpPr>
        <p:spPr bwMode="auto">
          <a:xfrm>
            <a:off x="6806103" y="673863"/>
            <a:ext cx="6100" cy="5728839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>
            <a:cxnSpLocks/>
          </p:cNvCxnSpPr>
          <p:nvPr/>
        </p:nvCxnSpPr>
        <p:spPr bwMode="auto">
          <a:xfrm flipH="1">
            <a:off x="2280132" y="2685223"/>
            <a:ext cx="9484996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/>
          <p:cNvCxnSpPr>
            <a:cxnSpLocks/>
          </p:cNvCxnSpPr>
          <p:nvPr/>
        </p:nvCxnSpPr>
        <p:spPr bwMode="auto">
          <a:xfrm flipH="1">
            <a:off x="2280132" y="4469984"/>
            <a:ext cx="9469736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/>
          <p:cNvCxnSpPr>
            <a:cxnSpLocks/>
          </p:cNvCxnSpPr>
          <p:nvPr/>
        </p:nvCxnSpPr>
        <p:spPr bwMode="auto">
          <a:xfrm flipH="1">
            <a:off x="2268855" y="6456146"/>
            <a:ext cx="9484996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/>
          <p:cNvCxnSpPr>
            <a:cxnSpLocks/>
          </p:cNvCxnSpPr>
          <p:nvPr/>
        </p:nvCxnSpPr>
        <p:spPr bwMode="auto">
          <a:xfrm>
            <a:off x="11732264" y="652854"/>
            <a:ext cx="0" cy="6203472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6" name="title copy"/>
          <p:cNvSpPr/>
          <p:nvPr/>
        </p:nvSpPr>
        <p:spPr bwMode="auto">
          <a:xfrm>
            <a:off x="2404143" y="6563035"/>
            <a:ext cx="9214421" cy="244315"/>
          </a:xfrm>
          <a:prstGeom prst="rect">
            <a:avLst/>
          </a:prstGeom>
        </p:spPr>
        <p:txBody>
          <a:bodyPr spcFirstLastPara="0" lIns="33734" tIns="33734" rIns="33734" bIns="33734" anchor="t"/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1031" dirty="0">
                <a:latin typeface="Circe"/>
                <a:cs typeface="&quot;Josefin Sans&quot;"/>
              </a:rPr>
              <a:t>Отпуск: </a:t>
            </a:r>
            <a:r>
              <a:rPr lang="en-US" sz="1031" dirty="0">
                <a:latin typeface="Circe"/>
                <a:cs typeface="&quot;Josefin Sans&quot;"/>
              </a:rPr>
              <a:t>1;</a:t>
            </a:r>
            <a:r>
              <a:rPr lang="ru-RU" sz="1031" dirty="0">
                <a:latin typeface="Circe"/>
                <a:cs typeface="&quot;Josefin Sans&quot;"/>
              </a:rPr>
              <a:t> Командировки: </a:t>
            </a:r>
            <a:r>
              <a:rPr lang="en-US" sz="1031" dirty="0">
                <a:latin typeface="Circe"/>
                <a:cs typeface="&quot;Josefin Sans&quot;"/>
              </a:rPr>
              <a:t>0; </a:t>
            </a:r>
            <a:r>
              <a:rPr lang="ru-RU" sz="1031" dirty="0">
                <a:latin typeface="Circe"/>
                <a:cs typeface="&quot;Josefin Sans&quot;"/>
              </a:rPr>
              <a:t>Болеет: нет</a:t>
            </a:r>
            <a:r>
              <a:rPr lang="en-US" sz="1031" dirty="0">
                <a:latin typeface="Circe"/>
                <a:cs typeface="&quot;Josefin Sans&quot;"/>
              </a:rPr>
              <a:t>; </a:t>
            </a:r>
            <a:r>
              <a:rPr lang="ru-RU" sz="1031" dirty="0">
                <a:latin typeface="Circe"/>
                <a:cs typeface="&quot;Josefin Sans&quot;"/>
              </a:rPr>
              <a:t>Увольняются:</a:t>
            </a:r>
            <a:r>
              <a:rPr lang="en-US" sz="1031" dirty="0">
                <a:latin typeface="Circe"/>
                <a:cs typeface="&quot;Josefin Sans&quot;"/>
              </a:rPr>
              <a:t>0; </a:t>
            </a:r>
            <a:r>
              <a:rPr lang="ru-RU" sz="1031" dirty="0">
                <a:latin typeface="Circe"/>
                <a:cs typeface="&quot;Josefin Sans&quot;"/>
              </a:rPr>
              <a:t>Ещё не наняты:</a:t>
            </a:r>
            <a:r>
              <a:rPr lang="en-US" sz="1031" dirty="0">
                <a:latin typeface="Circe"/>
                <a:cs typeface="&quot;Josefin Sans&quot;"/>
              </a:rPr>
              <a:t> 0.</a:t>
            </a:r>
            <a:r>
              <a:rPr lang="ru-RU" sz="1031" dirty="0">
                <a:latin typeface="Circe"/>
                <a:cs typeface="&quot;Josefin Sans&quot;"/>
              </a:rPr>
              <a:t>  </a:t>
            </a:r>
            <a:endParaRPr sz="1687" dirty="0"/>
          </a:p>
          <a:p>
            <a:pPr algn="l">
              <a:defRPr/>
            </a:pPr>
            <a:r>
              <a:rPr lang="en-US" sz="1031" dirty="0">
                <a:latin typeface="Circe"/>
                <a:cs typeface="&quot;Josefin Sans&quot;"/>
              </a:rPr>
              <a:t> </a:t>
            </a:r>
            <a:endParaRPr lang="ru-RU" sz="1031" dirty="0">
              <a:latin typeface="Circe"/>
              <a:cs typeface="&quot;Josefin Sans&quot;"/>
            </a:endParaRPr>
          </a:p>
        </p:txBody>
      </p:sp>
      <p:sp>
        <p:nvSpPr>
          <p:cNvPr id="74" name="title copy"/>
          <p:cNvSpPr/>
          <p:nvPr/>
        </p:nvSpPr>
        <p:spPr bwMode="auto">
          <a:xfrm>
            <a:off x="2342407" y="4502167"/>
            <a:ext cx="4429845" cy="1900535"/>
          </a:xfrm>
          <a:prstGeom prst="rect">
            <a:avLst/>
          </a:prstGeom>
        </p:spPr>
        <p:txBody>
          <a:bodyPr spcFirstLastPara="0" lIns="33734" tIns="33734" rIns="33734" bIns="33734" anchor="t"/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7748" indent="-267748">
              <a:buFont typeface="Courier New"/>
              <a:buChar char="o"/>
              <a:defRPr/>
            </a:pPr>
            <a:r>
              <a:rPr lang="ru-RU" sz="1031" dirty="0">
                <a:latin typeface="Circe"/>
                <a:cs typeface="&quot;Josefin Sans&quot;"/>
              </a:rPr>
              <a:t>Поиск и привлечение</a:t>
            </a:r>
            <a:r>
              <a:rPr lang="en-US" sz="1031" dirty="0">
                <a:latin typeface="Circe"/>
                <a:cs typeface="&quot;Josefin Sans&quot;"/>
              </a:rPr>
              <a:t> </a:t>
            </a:r>
            <a:r>
              <a:rPr lang="ru-RU" sz="1031" dirty="0">
                <a:latin typeface="Circe"/>
                <a:cs typeface="&quot;Josefin Sans&quot;"/>
              </a:rPr>
              <a:t>составов на Июль (КРС + СЕВ </a:t>
            </a:r>
            <a:r>
              <a:rPr lang="ru-RU" sz="1031" dirty="0" err="1">
                <a:latin typeface="Circe"/>
                <a:cs typeface="&quot;Josefin Sans&quot;"/>
              </a:rPr>
              <a:t>ж.д</a:t>
            </a:r>
            <a:r>
              <a:rPr lang="ru-RU" sz="1031" dirty="0">
                <a:latin typeface="Circe"/>
                <a:cs typeface="&quot;Josefin Sans&quot;"/>
              </a:rPr>
              <a:t>.)</a:t>
            </a:r>
            <a:r>
              <a:rPr lang="en-US" sz="1031" dirty="0">
                <a:latin typeface="Circe"/>
                <a:cs typeface="&quot;Josefin Sans&quot;"/>
              </a:rPr>
              <a:t>; </a:t>
            </a:r>
            <a:endParaRPr lang="en-US" sz="1031" dirty="0">
              <a:latin typeface="Circe"/>
            </a:endParaRPr>
          </a:p>
          <a:p>
            <a:pPr marL="267748" indent="-267748">
              <a:buFont typeface="Courier New"/>
              <a:buChar char="o"/>
              <a:defRPr/>
            </a:pPr>
            <a:r>
              <a:rPr lang="ru-RU" sz="1031" dirty="0">
                <a:latin typeface="Circe"/>
              </a:rPr>
              <a:t>Проработка продажи КП с КРС (ЗУ + ЗБК), СЕВ (ЗБК) на Июль</a:t>
            </a:r>
            <a:r>
              <a:rPr lang="en-US" sz="1031" dirty="0">
                <a:latin typeface="Circe"/>
              </a:rPr>
              <a:t>;  </a:t>
            </a:r>
          </a:p>
          <a:p>
            <a:pPr marL="267748" indent="-267748">
              <a:buFont typeface="Courier New"/>
              <a:buChar char="o"/>
              <a:defRPr/>
            </a:pPr>
            <a:r>
              <a:rPr lang="ru-RU" sz="1031" dirty="0">
                <a:latin typeface="Circe"/>
              </a:rPr>
              <a:t>Поиск возможности выдачи лота контейнеров по маршруту Базаиха – Китай</a:t>
            </a:r>
            <a:r>
              <a:rPr lang="en-US" sz="1031" dirty="0">
                <a:latin typeface="Circe"/>
              </a:rPr>
              <a:t>; </a:t>
            </a:r>
          </a:p>
          <a:p>
            <a:pPr marL="267748" indent="-267748">
              <a:buFont typeface="Courier New"/>
              <a:buChar char="o"/>
              <a:defRPr/>
            </a:pPr>
            <a:r>
              <a:rPr lang="ru-RU" sz="1031" dirty="0">
                <a:latin typeface="Circe"/>
              </a:rPr>
              <a:t>Работа по тендеру клиента Тайга</a:t>
            </a:r>
            <a:r>
              <a:rPr lang="en-US" sz="1031" dirty="0">
                <a:latin typeface="Circe"/>
              </a:rPr>
              <a:t>; </a:t>
            </a:r>
          </a:p>
          <a:p>
            <a:pPr marL="267748" indent="-267748">
              <a:buFont typeface="Courier New"/>
              <a:buChar char="o"/>
              <a:defRPr/>
            </a:pPr>
            <a:r>
              <a:rPr lang="ru-RU" sz="1031" dirty="0">
                <a:latin typeface="Circe"/>
              </a:rPr>
              <a:t>Работа по согласованию КП </a:t>
            </a:r>
            <a:r>
              <a:rPr lang="ru-RU" sz="1031" dirty="0">
                <a:latin typeface="Circe"/>
                <a:cs typeface="&quot;Josefin Sans&quot;"/>
              </a:rPr>
              <a:t>(УЛК, ВЛП, СЕГЕЖА, </a:t>
            </a:r>
            <a:r>
              <a:rPr lang="ru-RU" sz="1031" dirty="0" err="1">
                <a:latin typeface="Circe"/>
                <a:cs typeface="&quot;Josefin Sans&quot;"/>
              </a:rPr>
              <a:t>Лузалес</a:t>
            </a:r>
            <a:r>
              <a:rPr lang="ru-RU" sz="1031" dirty="0">
                <a:latin typeface="Circe"/>
                <a:cs typeface="&quot;Josefin Sans&quot;"/>
              </a:rPr>
              <a:t>)</a:t>
            </a:r>
            <a:r>
              <a:rPr lang="en-US" sz="1031" dirty="0">
                <a:latin typeface="Circe"/>
                <a:cs typeface="&quot;Josefin Sans&quot;"/>
              </a:rPr>
              <a:t>; </a:t>
            </a:r>
            <a:endParaRPr lang="en-US" sz="1031" dirty="0">
              <a:latin typeface="Circe"/>
            </a:endParaRPr>
          </a:p>
          <a:p>
            <a:pPr marL="267748" indent="-267748">
              <a:buFont typeface="Courier New"/>
              <a:buChar char="o"/>
              <a:defRPr/>
            </a:pPr>
            <a:r>
              <a:rPr lang="ru-RU" sz="1031" dirty="0">
                <a:latin typeface="Circe"/>
              </a:rPr>
              <a:t>Работа с потенциальной клиентской базой</a:t>
            </a:r>
            <a:r>
              <a:rPr lang="en-US" sz="1031" dirty="0">
                <a:latin typeface="Circe"/>
              </a:rPr>
              <a:t>; </a:t>
            </a:r>
          </a:p>
          <a:p>
            <a:pPr marL="267748" indent="-267748">
              <a:buFont typeface="Courier New"/>
              <a:buChar char="o"/>
              <a:defRPr/>
            </a:pPr>
            <a:endParaRPr lang="ru-RU" sz="1031" dirty="0"/>
          </a:p>
          <a:p>
            <a:pPr marL="267748" indent="-267748">
              <a:buFont typeface="Courier New"/>
              <a:buChar char="o"/>
              <a:defRPr/>
            </a:pPr>
            <a:endParaRPr lang="ru-RU" sz="1031" dirty="0">
              <a:latin typeface="Circe"/>
              <a:cs typeface="&quot;Josefin Sans&quot;"/>
            </a:endParaRPr>
          </a:p>
          <a:p>
            <a:pPr marL="267748" indent="-267748">
              <a:buFont typeface="Courier New"/>
              <a:buChar char="o"/>
              <a:defRPr/>
            </a:pPr>
            <a:endParaRPr lang="ru-RU" sz="1031" dirty="0">
              <a:latin typeface="Circe"/>
              <a:cs typeface="&quot;Josefin Sans&quot;"/>
            </a:endParaRPr>
          </a:p>
          <a:p>
            <a:pPr algn="l">
              <a:defRPr/>
            </a:pPr>
            <a:endParaRPr lang="ru-RU" sz="1031" dirty="0">
              <a:latin typeface="Circe"/>
              <a:cs typeface="&quot;Josefin Sans&quot;"/>
            </a:endParaRPr>
          </a:p>
          <a:p>
            <a:pPr algn="l">
              <a:defRPr/>
            </a:pPr>
            <a:endParaRPr lang="ru-RU" sz="1031" dirty="0">
              <a:latin typeface="Circe"/>
              <a:cs typeface="&quot;Josefin Sans&quot;"/>
            </a:endParaRPr>
          </a:p>
          <a:p>
            <a:pPr algn="l">
              <a:defRPr/>
            </a:pPr>
            <a:endParaRPr lang="ru-RU" sz="1124" dirty="0">
              <a:latin typeface="Circe"/>
              <a:cs typeface="&quot;Josefin Sans&quot;"/>
            </a:endParaRPr>
          </a:p>
        </p:txBody>
      </p:sp>
      <p:sp>
        <p:nvSpPr>
          <p:cNvPr id="79" name="title copy"/>
          <p:cNvSpPr/>
          <p:nvPr/>
        </p:nvSpPr>
        <p:spPr bwMode="auto">
          <a:xfrm>
            <a:off x="6941725" y="4536328"/>
            <a:ext cx="4676838" cy="1773149"/>
          </a:xfrm>
          <a:prstGeom prst="rect">
            <a:avLst/>
          </a:prstGeom>
        </p:spPr>
        <p:txBody>
          <a:bodyPr spcFirstLastPara="0" lIns="33734" tIns="33734" rIns="33734" bIns="33734" anchor="t"/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7748" indent="-267748">
              <a:buFont typeface="Courier New"/>
              <a:buChar char="o"/>
              <a:defRPr/>
            </a:pPr>
            <a:r>
              <a:rPr lang="ru-RU" sz="1031" dirty="0">
                <a:latin typeface="Circe"/>
              </a:rPr>
              <a:t>Работа по согласованию плана работы и квоты на Июль</a:t>
            </a:r>
            <a:r>
              <a:rPr lang="en-US" sz="1031" dirty="0">
                <a:latin typeface="Circe"/>
              </a:rPr>
              <a:t> </a:t>
            </a:r>
            <a:r>
              <a:rPr lang="ru-RU" sz="1031" dirty="0">
                <a:latin typeface="Circe"/>
              </a:rPr>
              <a:t>на </a:t>
            </a:r>
            <a:r>
              <a:rPr lang="en-US" sz="1031" dirty="0">
                <a:latin typeface="Circe"/>
              </a:rPr>
              <a:t>SOC|COC; </a:t>
            </a:r>
            <a:endParaRPr lang="ru-RU" sz="1031" dirty="0">
              <a:latin typeface="Circe"/>
            </a:endParaRPr>
          </a:p>
          <a:p>
            <a:pPr marL="267748" indent="-267748">
              <a:buFont typeface="Courier New"/>
              <a:buChar char="o"/>
              <a:defRPr/>
            </a:pPr>
            <a:r>
              <a:rPr lang="ru-RU" sz="1031" dirty="0">
                <a:latin typeface="Circe"/>
              </a:rPr>
              <a:t>Работа по заполнению поездов, продажа согласованных объёмов</a:t>
            </a:r>
            <a:r>
              <a:rPr lang="en-US" sz="1031" dirty="0">
                <a:latin typeface="Circe"/>
              </a:rPr>
              <a:t>/</a:t>
            </a:r>
            <a:r>
              <a:rPr lang="ru-RU" sz="1031" dirty="0">
                <a:latin typeface="Circe"/>
              </a:rPr>
              <a:t>квот</a:t>
            </a:r>
            <a:r>
              <a:rPr lang="en-US" sz="1031" dirty="0">
                <a:latin typeface="Circe"/>
              </a:rPr>
              <a:t>/ </a:t>
            </a:r>
            <a:r>
              <a:rPr lang="ru-RU" sz="1031" dirty="0">
                <a:latin typeface="Circe"/>
              </a:rPr>
              <a:t>План на неделю: 69 контейнеров </a:t>
            </a:r>
            <a:r>
              <a:rPr lang="en-US" sz="1031" dirty="0">
                <a:latin typeface="Circe"/>
              </a:rPr>
              <a:t>;</a:t>
            </a:r>
            <a:endParaRPr lang="ru-RU" sz="1031" dirty="0">
              <a:latin typeface="Circe"/>
            </a:endParaRPr>
          </a:p>
          <a:p>
            <a:pPr marL="267748" indent="-267748">
              <a:buFont typeface="Courier New"/>
              <a:buChar char="o"/>
              <a:defRPr/>
            </a:pPr>
            <a:r>
              <a:rPr lang="ru-RU" sz="1031" dirty="0">
                <a:latin typeface="Circe"/>
              </a:rPr>
              <a:t>Работа над увеличением клиентской базы по Красноярску. Детальная работа по клиентам: Водолей, Форт-Нокс, АО «Прогресс»</a:t>
            </a:r>
            <a:r>
              <a:rPr lang="en-US" sz="1031" dirty="0">
                <a:latin typeface="Circe"/>
              </a:rPr>
              <a:t>, </a:t>
            </a:r>
            <a:r>
              <a:rPr lang="ru-RU" sz="1031" dirty="0">
                <a:latin typeface="Circe"/>
              </a:rPr>
              <a:t>Мир Инструментов»</a:t>
            </a:r>
            <a:r>
              <a:rPr lang="en-US" sz="1031" dirty="0">
                <a:latin typeface="Circe"/>
              </a:rPr>
              <a:t>, </a:t>
            </a:r>
            <a:r>
              <a:rPr lang="ru-RU" sz="1031" dirty="0">
                <a:latin typeface="Circe"/>
              </a:rPr>
              <a:t>«Аскона»</a:t>
            </a:r>
            <a:r>
              <a:rPr lang="en-US" sz="1031" dirty="0">
                <a:latin typeface="Circe"/>
              </a:rPr>
              <a:t>; </a:t>
            </a:r>
          </a:p>
          <a:p>
            <a:pPr marL="267748" indent="-267748">
              <a:buFont typeface="Courier New"/>
              <a:buChar char="o"/>
              <a:defRPr/>
            </a:pPr>
            <a:r>
              <a:rPr lang="ru-RU" sz="1031" dirty="0">
                <a:latin typeface="Circe"/>
              </a:rPr>
              <a:t>Работа с оперативными вопросами по проданным квотам</a:t>
            </a:r>
            <a:r>
              <a:rPr lang="en-US" sz="1031" dirty="0">
                <a:latin typeface="Circe"/>
              </a:rPr>
              <a:t>; </a:t>
            </a:r>
          </a:p>
          <a:p>
            <a:pPr>
              <a:defRPr/>
            </a:pPr>
            <a:endParaRPr lang="en-US" sz="1031" dirty="0">
              <a:latin typeface="Circe"/>
            </a:endParaRPr>
          </a:p>
          <a:p>
            <a:pPr marL="267748" indent="-267748">
              <a:buFont typeface="Courier New"/>
              <a:buChar char="o"/>
              <a:defRPr/>
            </a:pPr>
            <a:endParaRPr lang="ru-RU" sz="1031" dirty="0">
              <a:latin typeface="Circe"/>
              <a:cs typeface="&quot;Josefin Sans&quot;"/>
            </a:endParaRPr>
          </a:p>
          <a:p>
            <a:pPr algn="l">
              <a:defRPr/>
            </a:pPr>
            <a:endParaRPr lang="ru-RU" sz="1031" dirty="0">
              <a:latin typeface="Circe"/>
              <a:cs typeface="&quot;Josefin Sans&quot;"/>
            </a:endParaRPr>
          </a:p>
          <a:p>
            <a:pPr algn="l">
              <a:defRPr/>
            </a:pPr>
            <a:endParaRPr lang="ru-RU" sz="1031" dirty="0">
              <a:latin typeface="Circe"/>
              <a:cs typeface="&quot;Josefin Sans&quot;"/>
            </a:endParaRPr>
          </a:p>
        </p:txBody>
      </p:sp>
      <p:sp>
        <p:nvSpPr>
          <p:cNvPr id="16" name="title copy"/>
          <p:cNvSpPr/>
          <p:nvPr/>
        </p:nvSpPr>
        <p:spPr bwMode="auto">
          <a:xfrm>
            <a:off x="2346541" y="2742218"/>
            <a:ext cx="4429845" cy="1682626"/>
          </a:xfrm>
          <a:prstGeom prst="rect">
            <a:avLst/>
          </a:prstGeom>
        </p:spPr>
        <p:txBody>
          <a:bodyPr spcFirstLastPara="0" lIns="33734" tIns="33734" rIns="33734" bIns="33734" anchor="t"/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7748" indent="-267748">
              <a:buFont typeface="Courier New"/>
              <a:buChar char="o"/>
              <a:defRPr/>
            </a:pPr>
            <a:r>
              <a:rPr lang="ru-RU" sz="1031" dirty="0">
                <a:latin typeface="Circe"/>
                <a:cs typeface="&quot;Josefin Sans&quot;"/>
              </a:rPr>
              <a:t>Работа </a:t>
            </a:r>
            <a:r>
              <a:rPr lang="en-US" sz="1031" dirty="0">
                <a:latin typeface="Circe"/>
                <a:cs typeface="&quot;Josefin Sans&quot;"/>
              </a:rPr>
              <a:t>c </a:t>
            </a:r>
            <a:r>
              <a:rPr lang="ru-RU" sz="1031" dirty="0">
                <a:latin typeface="Circe"/>
                <a:cs typeface="&quot;Josefin Sans&quot;"/>
              </a:rPr>
              <a:t>операторами по привлечению вагонов </a:t>
            </a:r>
            <a:r>
              <a:rPr lang="en-US" sz="1031" dirty="0">
                <a:latin typeface="Circe"/>
                <a:cs typeface="&quot;Josefin Sans&quot;"/>
              </a:rPr>
              <a:t>SOC</a:t>
            </a:r>
            <a:r>
              <a:rPr lang="ru-RU" sz="1031" dirty="0">
                <a:latin typeface="Circe"/>
                <a:cs typeface="&quot;Josefin Sans&quot;"/>
              </a:rPr>
              <a:t> на Июль (ТС, СКЛ, РЖДБА). Договорились о привлечении КП 1 СКЛ, 1 РЖДБА. Предварительная договорённость с ТС</a:t>
            </a:r>
            <a:r>
              <a:rPr lang="en-US" sz="1031" dirty="0">
                <a:latin typeface="Circe"/>
                <a:cs typeface="&quot;Josefin Sans&quot;"/>
              </a:rPr>
              <a:t> </a:t>
            </a:r>
            <a:r>
              <a:rPr lang="ru-RU" sz="1031" dirty="0">
                <a:latin typeface="Circe"/>
                <a:cs typeface="&quot;Josefin Sans&quot;"/>
              </a:rPr>
              <a:t>на 1 КП</a:t>
            </a:r>
            <a:r>
              <a:rPr lang="en-US" sz="1031" dirty="0">
                <a:latin typeface="Circe"/>
                <a:cs typeface="&quot;Josefin Sans&quot;"/>
              </a:rPr>
              <a:t>;</a:t>
            </a:r>
          </a:p>
          <a:p>
            <a:pPr marL="267748" indent="-267748">
              <a:buFont typeface="Courier New"/>
              <a:buChar char="o"/>
              <a:defRPr/>
            </a:pPr>
            <a:r>
              <a:rPr lang="ru-RU" sz="1031" dirty="0">
                <a:latin typeface="Circe"/>
                <a:cs typeface="&quot;Josefin Sans&quot;"/>
              </a:rPr>
              <a:t>Продали 2-кп с БЗХ (БЗХ-ЗУ, БЗХ-ЗБК</a:t>
            </a:r>
            <a:r>
              <a:rPr lang="en-US" sz="1031" dirty="0">
                <a:latin typeface="Circe"/>
                <a:cs typeface="&quot;Josefin Sans&quot;"/>
              </a:rPr>
              <a:t>);</a:t>
            </a:r>
            <a:endParaRPr lang="ru-RU" sz="1031" dirty="0">
              <a:latin typeface="Circe"/>
              <a:cs typeface="&quot;Josefin Sans&quot;"/>
            </a:endParaRPr>
          </a:p>
          <a:p>
            <a:pPr marL="267748" indent="-267748">
              <a:buFont typeface="Courier New"/>
              <a:buChar char="o"/>
              <a:defRPr/>
            </a:pPr>
            <a:r>
              <a:rPr lang="ru-RU" sz="1031" dirty="0">
                <a:latin typeface="Circe"/>
                <a:cs typeface="&quot;Josefin Sans&quot;"/>
              </a:rPr>
              <a:t>Расчёт и направление КП (УЛК, ВЛП, СЕГЕЖА, </a:t>
            </a:r>
            <a:r>
              <a:rPr lang="ru-RU" sz="1031" dirty="0" err="1">
                <a:latin typeface="Circe"/>
                <a:cs typeface="&quot;Josefin Sans&quot;"/>
              </a:rPr>
              <a:t>Лузалес</a:t>
            </a:r>
            <a:r>
              <a:rPr lang="ru-RU" sz="1031" dirty="0">
                <a:latin typeface="Circe"/>
                <a:cs typeface="&quot;Josefin Sans&quot;"/>
              </a:rPr>
              <a:t>)</a:t>
            </a:r>
            <a:r>
              <a:rPr lang="en-US" sz="1031" dirty="0">
                <a:latin typeface="Circe"/>
                <a:cs typeface="&quot;Josefin Sans&quot;"/>
              </a:rPr>
              <a:t>; </a:t>
            </a:r>
          </a:p>
          <a:p>
            <a:pPr marL="267748" indent="-267748">
              <a:buFont typeface="Courier New"/>
              <a:buChar char="o"/>
              <a:defRPr/>
            </a:pPr>
            <a:r>
              <a:rPr lang="ru-RU" sz="1031" dirty="0">
                <a:latin typeface="Circe"/>
                <a:cs typeface="&quot;Josefin Sans&quot;"/>
              </a:rPr>
              <a:t>ТАЙГА. Получили ОС по ставкам, работали над сбором документов и прохождению СБ, </a:t>
            </a:r>
          </a:p>
        </p:txBody>
      </p:sp>
      <p:sp>
        <p:nvSpPr>
          <p:cNvPr id="22" name="title copy"/>
          <p:cNvSpPr/>
          <p:nvPr/>
        </p:nvSpPr>
        <p:spPr bwMode="auto">
          <a:xfrm>
            <a:off x="6923135" y="2770865"/>
            <a:ext cx="4676838" cy="1618794"/>
          </a:xfrm>
          <a:prstGeom prst="rect">
            <a:avLst/>
          </a:prstGeom>
        </p:spPr>
        <p:txBody>
          <a:bodyPr spcFirstLastPara="0" lIns="33734" tIns="33734" rIns="33734" bIns="33734" anchor="t"/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7748" indent="-267748">
              <a:buFont typeface="Courier New"/>
              <a:buChar char="o"/>
              <a:defRPr/>
            </a:pPr>
            <a:r>
              <a:rPr lang="ru-RU" sz="1031" dirty="0">
                <a:latin typeface="Circe"/>
              </a:rPr>
              <a:t>Работа по заполнению поездов, продажа согласованных объёмов</a:t>
            </a:r>
            <a:r>
              <a:rPr lang="en-US" sz="1031" dirty="0">
                <a:latin typeface="Circe"/>
              </a:rPr>
              <a:t>/</a:t>
            </a:r>
            <a:r>
              <a:rPr lang="ru-RU" sz="1031" dirty="0">
                <a:latin typeface="Circe"/>
              </a:rPr>
              <a:t>квот</a:t>
            </a:r>
            <a:r>
              <a:rPr lang="en-US" sz="1031" dirty="0">
                <a:latin typeface="Circe"/>
              </a:rPr>
              <a:t>. </a:t>
            </a:r>
            <a:r>
              <a:rPr lang="ru-RU" sz="1031" dirty="0">
                <a:latin typeface="Circe"/>
              </a:rPr>
              <a:t>Реализовано продаж за неделю:  70</a:t>
            </a:r>
            <a:r>
              <a:rPr lang="en-US" sz="1031" dirty="0">
                <a:latin typeface="Circe"/>
              </a:rPr>
              <a:t> </a:t>
            </a:r>
            <a:r>
              <a:rPr lang="ru-RU" sz="1031" dirty="0">
                <a:latin typeface="Circe"/>
              </a:rPr>
              <a:t>контейнеров</a:t>
            </a:r>
            <a:r>
              <a:rPr lang="en-US" sz="1031" dirty="0">
                <a:latin typeface="Circe"/>
              </a:rPr>
              <a:t>;</a:t>
            </a:r>
          </a:p>
          <a:p>
            <a:pPr marL="267748" indent="-267748">
              <a:buFont typeface="Courier New"/>
              <a:buChar char="o"/>
              <a:defRPr/>
            </a:pPr>
            <a:r>
              <a:rPr lang="ru-RU" sz="1031" dirty="0">
                <a:latin typeface="Circe"/>
              </a:rPr>
              <a:t>Работа над увеличением клиентской базы по Красноярск</a:t>
            </a:r>
            <a:r>
              <a:rPr lang="en-US" sz="1031" dirty="0">
                <a:latin typeface="Circe"/>
              </a:rPr>
              <a:t>.</a:t>
            </a:r>
            <a:r>
              <a:rPr lang="ru-RU" sz="1031" dirty="0">
                <a:latin typeface="Circe"/>
              </a:rPr>
              <a:t> Работа по договорам с клиентами: Водолей, Форт-Нокс </a:t>
            </a:r>
            <a:r>
              <a:rPr lang="en-US" sz="1031" dirty="0">
                <a:latin typeface="Circe"/>
              </a:rPr>
              <a:t>;  </a:t>
            </a:r>
          </a:p>
          <a:p>
            <a:pPr marL="267748" indent="-267748">
              <a:buFont typeface="Courier New"/>
              <a:buChar char="o"/>
              <a:defRPr/>
            </a:pPr>
            <a:r>
              <a:rPr lang="ru-RU" sz="1031" dirty="0">
                <a:latin typeface="Circe"/>
                <a:cs typeface="&quot;Josefin Sans&quot;"/>
              </a:rPr>
              <a:t>Подписали первую ЭТРН с ОЗОН. Плохо выстроенный тех. процесс у ОЗОНА</a:t>
            </a:r>
            <a:r>
              <a:rPr lang="en-US" sz="1031" dirty="0">
                <a:latin typeface="Circe"/>
                <a:cs typeface="&quot;Josefin Sans&quot;"/>
              </a:rPr>
              <a:t>; </a:t>
            </a:r>
          </a:p>
          <a:p>
            <a:pPr marL="267748" indent="-267748">
              <a:buFont typeface="Courier New"/>
              <a:buChar char="o"/>
              <a:defRPr/>
            </a:pPr>
            <a:r>
              <a:rPr lang="en-US" sz="1031" dirty="0">
                <a:latin typeface="Circe"/>
                <a:cs typeface="&quot;Josefin Sans&quot;"/>
              </a:rPr>
              <a:t>C</a:t>
            </a:r>
            <a:r>
              <a:rPr lang="ru-RU" sz="1031" dirty="0" err="1">
                <a:latin typeface="Circe"/>
                <a:cs typeface="&quot;Josefin Sans&quot;"/>
              </a:rPr>
              <a:t>огласовали</a:t>
            </a:r>
            <a:r>
              <a:rPr lang="ru-RU" sz="1031" dirty="0">
                <a:latin typeface="Circe"/>
                <a:cs typeface="&quot;Josefin Sans&quot;"/>
              </a:rPr>
              <a:t> с клиентом Сен-</a:t>
            </a:r>
            <a:r>
              <a:rPr lang="ru-RU" sz="1031" dirty="0" err="1">
                <a:latin typeface="Circe"/>
                <a:cs typeface="&quot;Josefin Sans&quot;"/>
              </a:rPr>
              <a:t>Гобен</a:t>
            </a:r>
            <a:r>
              <a:rPr lang="ru-RU" sz="1031" dirty="0">
                <a:latin typeface="Circe"/>
                <a:cs typeface="&quot;Josefin Sans&quot;"/>
              </a:rPr>
              <a:t> – 1 КТК МСК-НСК</a:t>
            </a:r>
            <a:r>
              <a:rPr lang="en-US" sz="1031" dirty="0">
                <a:latin typeface="Circe"/>
                <a:cs typeface="&quot;Josefin Sans&quot;"/>
              </a:rPr>
              <a:t> + </a:t>
            </a:r>
            <a:r>
              <a:rPr lang="ru-RU" sz="1031" dirty="0">
                <a:latin typeface="Circe"/>
                <a:cs typeface="&quot;Josefin Sans&quot;"/>
              </a:rPr>
              <a:t>работа по ЭТРН</a:t>
            </a:r>
            <a:r>
              <a:rPr lang="en-US" sz="1031" dirty="0">
                <a:latin typeface="Circe"/>
                <a:cs typeface="&quot;Josefin Sans&quot;"/>
              </a:rPr>
              <a:t>; </a:t>
            </a:r>
          </a:p>
          <a:p>
            <a:pPr marL="267748" indent="-267748">
              <a:buFont typeface="Courier New"/>
              <a:buChar char="o"/>
              <a:defRPr/>
            </a:pPr>
            <a:endParaRPr lang="ru-RU" sz="1031" dirty="0">
              <a:latin typeface="Circe"/>
              <a:cs typeface="&quot;Josefin Sans&quot;"/>
            </a:endParaRPr>
          </a:p>
          <a:p>
            <a:pPr marL="267748" indent="-267748">
              <a:buFont typeface="Courier New"/>
              <a:buChar char="o"/>
              <a:defRPr/>
            </a:pPr>
            <a:endParaRPr lang="ru-RU" sz="1031" dirty="0">
              <a:latin typeface="Circe"/>
              <a:cs typeface="&quot;Josefin Sans&quot;"/>
            </a:endParaRPr>
          </a:p>
        </p:txBody>
      </p:sp>
      <p:sp>
        <p:nvSpPr>
          <p:cNvPr id="6" name="title copy">
            <a:extLst>
              <a:ext uri="{FF2B5EF4-FFF2-40B4-BE49-F238E27FC236}">
                <a16:creationId xmlns:a16="http://schemas.microsoft.com/office/drawing/2014/main" id="{D2957037-4AC6-0D6F-82D9-F5415B34EEA4}"/>
              </a:ext>
            </a:extLst>
          </p:cNvPr>
          <p:cNvSpPr/>
          <p:nvPr/>
        </p:nvSpPr>
        <p:spPr bwMode="auto">
          <a:xfrm>
            <a:off x="2440941" y="809397"/>
            <a:ext cx="2061569" cy="1190040"/>
          </a:xfrm>
          <a:prstGeom prst="rect">
            <a:avLst/>
          </a:prstGeom>
        </p:spPr>
        <p:txBody>
          <a:bodyPr spcFirstLastPara="0" lIns="33734" tIns="33734" rIns="33734" bIns="33734" anchor="t"/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ru-RU" sz="1031" dirty="0">
                <a:latin typeface="Circe"/>
                <a:cs typeface="&quot;Josefin Sans&quot;"/>
              </a:rPr>
              <a:t>План Июнь (Экспорт):</a:t>
            </a:r>
            <a:endParaRPr sz="1687" dirty="0"/>
          </a:p>
          <a:p>
            <a:pPr marL="160649" indent="-160649">
              <a:buClr>
                <a:srgbClr val="92D050"/>
              </a:buClr>
              <a:buFont typeface="Wingdings"/>
              <a:buChar char="q"/>
              <a:defRPr/>
            </a:pPr>
            <a:r>
              <a:rPr lang="ru-RU" sz="984" dirty="0">
                <a:latin typeface="Circe"/>
              </a:rPr>
              <a:t>218</a:t>
            </a:r>
            <a:r>
              <a:rPr lang="en-US" sz="984" dirty="0">
                <a:latin typeface="Circe"/>
              </a:rPr>
              <a:t>EXPSL (</a:t>
            </a:r>
            <a:r>
              <a:rPr lang="ru-RU" sz="984" dirty="0">
                <a:latin typeface="Circe"/>
              </a:rPr>
              <a:t>УИ-ЗУ)</a:t>
            </a:r>
            <a:r>
              <a:rPr lang="en-US" sz="984" dirty="0">
                <a:latin typeface="Circe"/>
              </a:rPr>
              <a:t>; </a:t>
            </a:r>
            <a:endParaRPr lang="ru-RU" sz="984" dirty="0">
              <a:latin typeface="Circe"/>
            </a:endParaRPr>
          </a:p>
          <a:p>
            <a:pPr marL="160649" indent="-160649">
              <a:buClr>
                <a:srgbClr val="FFC000"/>
              </a:buClr>
              <a:buFont typeface="Wingdings"/>
              <a:buChar char="q"/>
              <a:defRPr/>
            </a:pPr>
            <a:r>
              <a:rPr lang="ru-RU" sz="984" dirty="0">
                <a:latin typeface="Circe"/>
              </a:rPr>
              <a:t>223</a:t>
            </a:r>
            <a:r>
              <a:rPr lang="en-US" sz="984" dirty="0">
                <a:latin typeface="Circe"/>
              </a:rPr>
              <a:t>EXPSL (</a:t>
            </a:r>
            <a:r>
              <a:rPr lang="ru-RU" sz="984" dirty="0">
                <a:latin typeface="Circe"/>
              </a:rPr>
              <a:t>УИ-ЗУ)</a:t>
            </a:r>
            <a:r>
              <a:rPr lang="en-US" sz="984" dirty="0">
                <a:latin typeface="Circe"/>
              </a:rPr>
              <a:t>; </a:t>
            </a:r>
          </a:p>
          <a:p>
            <a:pPr marL="160649" indent="-160649">
              <a:buClr>
                <a:srgbClr val="92D050"/>
              </a:buClr>
              <a:buFont typeface="Wingdings"/>
              <a:buChar char="q"/>
              <a:defRPr/>
            </a:pPr>
            <a:r>
              <a:rPr lang="en-US" sz="984" dirty="0">
                <a:latin typeface="Circe"/>
              </a:rPr>
              <a:t>22</a:t>
            </a:r>
            <a:r>
              <a:rPr lang="ru-RU" sz="984" dirty="0">
                <a:latin typeface="Circe"/>
              </a:rPr>
              <a:t>2</a:t>
            </a:r>
            <a:r>
              <a:rPr lang="en-US" sz="984" dirty="0">
                <a:latin typeface="Circe"/>
              </a:rPr>
              <a:t>EXPSL </a:t>
            </a:r>
            <a:r>
              <a:rPr lang="ru-RU" sz="984" dirty="0">
                <a:latin typeface="Circe"/>
              </a:rPr>
              <a:t>(БЗХ-ЗУ)</a:t>
            </a:r>
            <a:r>
              <a:rPr lang="en-US" sz="984" dirty="0">
                <a:latin typeface="Circe"/>
              </a:rPr>
              <a:t>;</a:t>
            </a:r>
          </a:p>
          <a:p>
            <a:pPr marL="160649" indent="-160649">
              <a:buClr>
                <a:srgbClr val="92D050"/>
              </a:buClr>
              <a:buFont typeface="Wingdings"/>
              <a:buChar char="q"/>
              <a:defRPr/>
            </a:pPr>
            <a:r>
              <a:rPr lang="en-US" sz="984" dirty="0">
                <a:latin typeface="Circe"/>
              </a:rPr>
              <a:t>224EXPSL </a:t>
            </a:r>
            <a:r>
              <a:rPr lang="ru-RU" sz="984" dirty="0">
                <a:latin typeface="Circe"/>
              </a:rPr>
              <a:t>(БЗХ-ЗУ)</a:t>
            </a:r>
            <a:r>
              <a:rPr lang="en-US" sz="984" dirty="0">
                <a:latin typeface="Circe"/>
              </a:rPr>
              <a:t>;</a:t>
            </a:r>
          </a:p>
          <a:p>
            <a:pPr marL="160649" indent="-160649">
              <a:buClr>
                <a:srgbClr val="FFC000"/>
              </a:buClr>
              <a:buFont typeface="Wingdings"/>
              <a:buChar char="q"/>
              <a:defRPr/>
            </a:pPr>
            <a:r>
              <a:rPr lang="en-US" sz="984" dirty="0">
                <a:latin typeface="Circe"/>
              </a:rPr>
              <a:t>225EXPSL (</a:t>
            </a:r>
            <a:r>
              <a:rPr lang="ru-RU" sz="984" dirty="0" err="1">
                <a:latin typeface="Circe"/>
              </a:rPr>
              <a:t>Костылево</a:t>
            </a:r>
            <a:r>
              <a:rPr lang="ru-RU" sz="984" dirty="0">
                <a:latin typeface="Circe"/>
              </a:rPr>
              <a:t> – ЗБК)</a:t>
            </a:r>
            <a:r>
              <a:rPr lang="en-US" sz="984" dirty="0">
                <a:latin typeface="Circe"/>
              </a:rPr>
              <a:t>;</a:t>
            </a:r>
            <a:endParaRPr lang="ru-RU" sz="984" dirty="0">
              <a:latin typeface="Circe"/>
            </a:endParaRPr>
          </a:p>
          <a:p>
            <a:pPr marL="160649" indent="-160649">
              <a:buClr>
                <a:srgbClr val="FFC000"/>
              </a:buClr>
              <a:buFont typeface="Wingdings"/>
              <a:buChar char="q"/>
              <a:defRPr/>
            </a:pPr>
            <a:r>
              <a:rPr lang="en-US" sz="984" dirty="0">
                <a:latin typeface="Circe"/>
              </a:rPr>
              <a:t>22</a:t>
            </a:r>
            <a:r>
              <a:rPr lang="ru-RU" sz="984" dirty="0">
                <a:latin typeface="Circe"/>
              </a:rPr>
              <a:t>6</a:t>
            </a:r>
            <a:r>
              <a:rPr lang="en-US" sz="984" dirty="0">
                <a:latin typeface="Circe"/>
              </a:rPr>
              <a:t>EXPSL (</a:t>
            </a:r>
            <a:r>
              <a:rPr lang="ru-RU" sz="984" dirty="0" err="1">
                <a:latin typeface="Circe"/>
              </a:rPr>
              <a:t>Костылево</a:t>
            </a:r>
            <a:r>
              <a:rPr lang="ru-RU" sz="984" dirty="0">
                <a:latin typeface="Circe"/>
              </a:rPr>
              <a:t> – ЗБК)</a:t>
            </a:r>
            <a:r>
              <a:rPr lang="en-US" sz="984" dirty="0">
                <a:latin typeface="Circe"/>
              </a:rPr>
              <a:t>;</a:t>
            </a:r>
            <a:endParaRPr lang="ru-RU" sz="1124" dirty="0">
              <a:latin typeface="Circe"/>
              <a:cs typeface="&quot;Josefin Sans&quot;"/>
            </a:endParaRPr>
          </a:p>
          <a:p>
            <a:pPr marL="160649" indent="-160649">
              <a:buClr>
                <a:srgbClr val="92D050"/>
              </a:buClr>
              <a:buFont typeface="Wingdings"/>
              <a:buChar char="q"/>
              <a:defRPr/>
            </a:pPr>
            <a:endParaRPr lang="ru-RU" sz="1124" dirty="0">
              <a:latin typeface="Circe"/>
              <a:cs typeface="&quot;Josefin Sans&quot;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BDE4F0-8616-1EB2-FA71-4EB891ED1C74}"/>
              </a:ext>
            </a:extLst>
          </p:cNvPr>
          <p:cNvSpPr txBox="1"/>
          <p:nvPr/>
        </p:nvSpPr>
        <p:spPr bwMode="auto">
          <a:xfrm>
            <a:off x="2412424" y="1992207"/>
            <a:ext cx="1597232" cy="5466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defRPr/>
            </a:pPr>
            <a:r>
              <a:rPr lang="ru-RU" sz="984" dirty="0">
                <a:latin typeface="Circe"/>
                <a:cs typeface="&quot;Josefin Sans&quot;"/>
              </a:rPr>
              <a:t>Под погрузкой: 3 - КП Отправлено: 3 - КП </a:t>
            </a:r>
            <a:endParaRPr lang="en-US" sz="984" dirty="0">
              <a:latin typeface="Circe"/>
              <a:cs typeface="&quot;Josefin Sans&quot;"/>
            </a:endParaRPr>
          </a:p>
          <a:p>
            <a:pPr algn="l">
              <a:defRPr/>
            </a:pPr>
            <a:r>
              <a:rPr lang="ru-RU" sz="984" dirty="0">
                <a:latin typeface="Circe"/>
                <a:cs typeface="&quot;Josefin Sans&quot;"/>
              </a:rPr>
              <a:t>В разработке:  0 - КП</a:t>
            </a:r>
            <a:endParaRPr sz="1687" dirty="0"/>
          </a:p>
        </p:txBody>
      </p:sp>
      <p:sp>
        <p:nvSpPr>
          <p:cNvPr id="49" name="title copy">
            <a:extLst>
              <a:ext uri="{FF2B5EF4-FFF2-40B4-BE49-F238E27FC236}">
                <a16:creationId xmlns:a16="http://schemas.microsoft.com/office/drawing/2014/main" id="{BA63B920-49C6-455C-AA27-F23A98F1CFD1}"/>
              </a:ext>
            </a:extLst>
          </p:cNvPr>
          <p:cNvSpPr/>
          <p:nvPr/>
        </p:nvSpPr>
        <p:spPr bwMode="auto">
          <a:xfrm>
            <a:off x="6903336" y="640594"/>
            <a:ext cx="2905001" cy="1987634"/>
          </a:xfrm>
          <a:prstGeom prst="rect">
            <a:avLst/>
          </a:prstGeom>
        </p:spPr>
        <p:txBody>
          <a:bodyPr spcFirstLastPara="0" lIns="33734" tIns="33734" rIns="33734" bIns="33734" anchor="t"/>
          <a:lstStyle>
            <a:defPPr>
              <a:defRPr lang="en-US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ru-RU" sz="1031" dirty="0">
                <a:latin typeface="Circe"/>
                <a:cs typeface="&quot;Josefin Sans&quot;"/>
              </a:rPr>
              <a:t>План Июнь (ВРП):</a:t>
            </a:r>
            <a:endParaRPr sz="1687" dirty="0"/>
          </a:p>
          <a:p>
            <a:pPr algn="l">
              <a:buClr>
                <a:srgbClr val="92D050"/>
              </a:buClr>
              <a:defRPr/>
            </a:pPr>
            <a:r>
              <a:rPr lang="ru-RU" sz="1031" dirty="0">
                <a:latin typeface="Circe"/>
                <a:cs typeface="&quot;Josefin Sans&quot;"/>
              </a:rPr>
              <a:t>Москва – КРС: 280 к</a:t>
            </a:r>
            <a:r>
              <a:rPr lang="en-US" sz="1031" dirty="0">
                <a:latin typeface="Circe"/>
                <a:cs typeface="&quot;Josefin Sans&quot;"/>
              </a:rPr>
              <a:t> </a:t>
            </a:r>
            <a:r>
              <a:rPr lang="en-US" sz="1031" dirty="0">
                <a:solidFill>
                  <a:srgbClr val="00B050"/>
                </a:solidFill>
                <a:latin typeface="Circe"/>
                <a:cs typeface="&quot;Josefin Sans&quot;"/>
              </a:rPr>
              <a:t>&gt; </a:t>
            </a:r>
            <a:r>
              <a:rPr lang="ru-RU" sz="1031" dirty="0">
                <a:solidFill>
                  <a:srgbClr val="00B050"/>
                </a:solidFill>
                <a:latin typeface="Circe"/>
                <a:cs typeface="&quot;Josefin Sans&quot;"/>
              </a:rPr>
              <a:t>9</a:t>
            </a:r>
            <a:r>
              <a:rPr lang="en-US" sz="1031" dirty="0">
                <a:solidFill>
                  <a:srgbClr val="00B050"/>
                </a:solidFill>
                <a:latin typeface="Circe"/>
                <a:cs typeface="&quot;Josefin Sans&quot;"/>
              </a:rPr>
              <a:t> </a:t>
            </a:r>
            <a:r>
              <a:rPr lang="ru-RU" sz="1031" dirty="0">
                <a:solidFill>
                  <a:srgbClr val="00B050"/>
                </a:solidFill>
                <a:latin typeface="Circe"/>
                <a:cs typeface="&quot;Josefin Sans&quot;"/>
              </a:rPr>
              <a:t>контейнеров. </a:t>
            </a:r>
            <a:endParaRPr sz="1687" dirty="0">
              <a:solidFill>
                <a:srgbClr val="00B050"/>
              </a:solidFill>
            </a:endParaRPr>
          </a:p>
          <a:p>
            <a:pPr algn="l">
              <a:buClr>
                <a:srgbClr val="92D050"/>
              </a:buClr>
              <a:defRPr/>
            </a:pPr>
            <a:r>
              <a:rPr lang="ru-RU" sz="1031" dirty="0">
                <a:latin typeface="Circe"/>
                <a:cs typeface="&quot;Josefin Sans&quot;"/>
              </a:rPr>
              <a:t>Москва – ИРК: 0 к.</a:t>
            </a:r>
            <a:endParaRPr sz="1687" dirty="0"/>
          </a:p>
          <a:p>
            <a:pPr algn="l">
              <a:buClr>
                <a:srgbClr val="92D050"/>
              </a:buClr>
              <a:defRPr/>
            </a:pPr>
            <a:r>
              <a:rPr lang="ru-RU" sz="1031" dirty="0">
                <a:latin typeface="Circe"/>
                <a:cs typeface="&quot;Josefin Sans&quot;"/>
              </a:rPr>
              <a:t>Москва – ЕКБ: 0 к.</a:t>
            </a:r>
            <a:endParaRPr sz="1687" dirty="0"/>
          </a:p>
          <a:p>
            <a:pPr algn="l">
              <a:buClr>
                <a:srgbClr val="92D050"/>
              </a:buClr>
              <a:defRPr/>
            </a:pPr>
            <a:r>
              <a:rPr lang="ru-RU" sz="1031" dirty="0">
                <a:latin typeface="Circe"/>
                <a:cs typeface="&quot;Josefin Sans&quot;"/>
              </a:rPr>
              <a:t>Москва – НСК: 1 к. </a:t>
            </a:r>
            <a:r>
              <a:rPr lang="ru-RU" sz="1031" dirty="0">
                <a:solidFill>
                  <a:srgbClr val="00B050"/>
                </a:solidFill>
                <a:latin typeface="Circe"/>
              </a:rPr>
              <a:t>&gt; 1 контейнер</a:t>
            </a:r>
            <a:r>
              <a:rPr lang="en-US" sz="1031" dirty="0">
                <a:solidFill>
                  <a:srgbClr val="00B050"/>
                </a:solidFill>
                <a:latin typeface="Circe"/>
              </a:rPr>
              <a:t>;</a:t>
            </a:r>
            <a:endParaRPr lang="ru-RU" sz="1031" dirty="0">
              <a:solidFill>
                <a:srgbClr val="00B050"/>
              </a:solidFill>
              <a:latin typeface="Circe"/>
            </a:endParaRPr>
          </a:p>
          <a:p>
            <a:pPr algn="l">
              <a:buClr>
                <a:srgbClr val="92D050"/>
              </a:buClr>
              <a:defRPr/>
            </a:pPr>
            <a:r>
              <a:rPr lang="ru-RU" sz="1031" dirty="0">
                <a:latin typeface="Circe"/>
                <a:cs typeface="&quot;Josefin Sans&quot;"/>
              </a:rPr>
              <a:t>Москва – ДВ: 0</a:t>
            </a:r>
            <a:r>
              <a:rPr lang="en-US" sz="1031" dirty="0">
                <a:latin typeface="Circe"/>
                <a:cs typeface="&quot;Josefin Sans&quot;"/>
              </a:rPr>
              <a:t> </a:t>
            </a:r>
            <a:r>
              <a:rPr lang="ru-RU" sz="1031" dirty="0">
                <a:latin typeface="Circe"/>
                <a:cs typeface="&quot;Josefin Sans&quot;"/>
              </a:rPr>
              <a:t>к</a:t>
            </a:r>
            <a:r>
              <a:rPr lang="en-US" sz="1031" dirty="0">
                <a:latin typeface="Circe"/>
                <a:cs typeface="&quot;Josefin Sans&quot;"/>
              </a:rPr>
              <a:t>; </a:t>
            </a:r>
            <a:endParaRPr sz="1687" dirty="0">
              <a:solidFill>
                <a:srgbClr val="FF0000"/>
              </a:solidFill>
            </a:endParaRPr>
          </a:p>
          <a:p>
            <a:pPr>
              <a:buClr>
                <a:srgbClr val="92D050"/>
              </a:buClr>
              <a:defRPr/>
            </a:pPr>
            <a:r>
              <a:rPr lang="ru-RU" sz="1031" dirty="0">
                <a:latin typeface="Circe"/>
                <a:cs typeface="&quot;Josefin Sans&quot;"/>
              </a:rPr>
              <a:t>КРС – ДВ (ПСЖВС): 6 к.</a:t>
            </a:r>
            <a:r>
              <a:rPr lang="en-US" sz="1031" dirty="0">
                <a:latin typeface="Circe"/>
                <a:cs typeface="&quot;Josefin Sans&quot;"/>
              </a:rPr>
              <a:t> </a:t>
            </a:r>
            <a:r>
              <a:rPr lang="ru-RU" sz="1031" dirty="0">
                <a:latin typeface="Circe"/>
                <a:cs typeface="&quot;Josefin Sans&quot;"/>
              </a:rPr>
              <a:t>. </a:t>
            </a:r>
            <a:r>
              <a:rPr lang="ru-RU" sz="1031" dirty="0">
                <a:solidFill>
                  <a:srgbClr val="00B050"/>
                </a:solidFill>
                <a:latin typeface="Circe"/>
              </a:rPr>
              <a:t>&gt; 1 контейнер</a:t>
            </a:r>
            <a:r>
              <a:rPr lang="en-US" sz="1031" dirty="0">
                <a:solidFill>
                  <a:srgbClr val="00B050"/>
                </a:solidFill>
                <a:latin typeface="Circe"/>
              </a:rPr>
              <a:t>;</a:t>
            </a:r>
            <a:endParaRPr lang="ru-RU" sz="1031" dirty="0">
              <a:solidFill>
                <a:srgbClr val="00B050"/>
              </a:solidFill>
              <a:latin typeface="Circe"/>
            </a:endParaRPr>
          </a:p>
          <a:p>
            <a:pPr>
              <a:buClr>
                <a:srgbClr val="92D050"/>
              </a:buClr>
              <a:defRPr/>
            </a:pPr>
            <a:r>
              <a:rPr lang="ru-RU" sz="1031" dirty="0">
                <a:latin typeface="Circe"/>
                <a:cs typeface="&quot;Josefin Sans&quot;"/>
              </a:rPr>
              <a:t>МСК – ОМСК: 0 к. </a:t>
            </a:r>
            <a:endParaRPr sz="1687" dirty="0"/>
          </a:p>
          <a:p>
            <a:pPr>
              <a:buClr>
                <a:srgbClr val="92D050"/>
              </a:buClr>
              <a:defRPr/>
            </a:pPr>
            <a:r>
              <a:rPr lang="ru-RU" sz="1031" dirty="0">
                <a:latin typeface="Circe"/>
                <a:cs typeface="&quot;Josefin Sans&quot;"/>
              </a:rPr>
              <a:t>СПБ – КРС: 0 к. </a:t>
            </a:r>
            <a:endParaRPr sz="1687" dirty="0"/>
          </a:p>
          <a:p>
            <a:pPr algn="l">
              <a:buClr>
                <a:srgbClr val="92D050"/>
              </a:buClr>
              <a:defRPr/>
            </a:pPr>
            <a:endParaRPr lang="ru-RU" sz="1031" dirty="0">
              <a:latin typeface="Circe"/>
              <a:cs typeface="&quot;Josefin Sans&quot;"/>
            </a:endParaRPr>
          </a:p>
          <a:p>
            <a:pPr algn="l">
              <a:buClr>
                <a:srgbClr val="92D050"/>
              </a:buClr>
              <a:defRPr/>
            </a:pPr>
            <a:r>
              <a:rPr lang="ru-RU" sz="1031" dirty="0">
                <a:latin typeface="Circe"/>
              </a:rPr>
              <a:t>План: </a:t>
            </a:r>
            <a:r>
              <a:rPr lang="en-US" sz="1031" dirty="0">
                <a:latin typeface="Circe"/>
              </a:rPr>
              <a:t>287 </a:t>
            </a:r>
            <a:r>
              <a:rPr lang="ru-RU" sz="1031" dirty="0">
                <a:latin typeface="Circe"/>
              </a:rPr>
              <a:t> контейнер </a:t>
            </a:r>
            <a:r>
              <a:rPr lang="en-US" sz="1031" dirty="0">
                <a:solidFill>
                  <a:srgbClr val="00B050"/>
                </a:solidFill>
                <a:latin typeface="Circe"/>
              </a:rPr>
              <a:t>&gt; 11 </a:t>
            </a:r>
            <a:r>
              <a:rPr lang="ru-RU" sz="1031" dirty="0">
                <a:solidFill>
                  <a:srgbClr val="00B050"/>
                </a:solidFill>
                <a:latin typeface="Circe"/>
              </a:rPr>
              <a:t>контейнеров</a:t>
            </a:r>
          </a:p>
          <a:p>
            <a:pPr algn="l">
              <a:buClr>
                <a:srgbClr val="92D050"/>
              </a:buClr>
              <a:defRPr/>
            </a:pPr>
            <a:r>
              <a:rPr lang="ru-RU" sz="1031" dirty="0">
                <a:latin typeface="Circe"/>
              </a:rPr>
              <a:t>Факт: 216 контейнеров</a:t>
            </a:r>
            <a:r>
              <a:rPr lang="en-US" sz="1031" dirty="0">
                <a:solidFill>
                  <a:srgbClr val="00B050"/>
                </a:solidFill>
                <a:latin typeface="Circe"/>
              </a:rPr>
              <a:t>; </a:t>
            </a:r>
            <a:endParaRPr lang="ru-RU" sz="1031" dirty="0">
              <a:solidFill>
                <a:srgbClr val="00B050"/>
              </a:solidFill>
              <a:latin typeface="Circ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B96F8518-7EF2-A03C-A614-453BFEDBF075}"/>
              </a:ext>
            </a:extLst>
          </p:cNvPr>
          <p:cNvSpPr txBox="1"/>
          <p:nvPr/>
        </p:nvSpPr>
        <p:spPr bwMode="auto">
          <a:xfrm>
            <a:off x="4998325" y="3948907"/>
            <a:ext cx="3305783" cy="8457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 sz="1000" b="1" dirty="0">
                <a:latin typeface="Circe Light"/>
              </a:rPr>
              <a:t> </a:t>
            </a:r>
            <a:endParaRPr lang="ru-RU" sz="800" b="1" dirty="0">
              <a:latin typeface="Circe Light"/>
            </a:endParaRPr>
          </a:p>
        </p:txBody>
      </p:sp>
      <p:sp>
        <p:nvSpPr>
          <p:cNvPr id="3" name="Заголовок 5">
            <a:extLst>
              <a:ext uri="{FF2B5EF4-FFF2-40B4-BE49-F238E27FC236}">
                <a16:creationId xmlns:a16="http://schemas.microsoft.com/office/drawing/2014/main" id="{7982DB7F-A9DB-8DF3-37E0-6BB5C60149DA}"/>
              </a:ext>
            </a:extLst>
          </p:cNvPr>
          <p:cNvSpPr txBox="1"/>
          <p:nvPr/>
        </p:nvSpPr>
        <p:spPr bwMode="auto">
          <a:xfrm>
            <a:off x="3776268" y="634313"/>
            <a:ext cx="8415731" cy="43715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ru-RU" sz="800" b="1" dirty="0">
              <a:latin typeface="Circe Light"/>
            </a:endParaRPr>
          </a:p>
          <a:p>
            <a:pPr>
              <a:defRPr/>
            </a:pPr>
            <a:endParaRPr lang="ru-RU" sz="1000" b="1" dirty="0">
              <a:latin typeface="Circe Light"/>
            </a:endParaRPr>
          </a:p>
          <a:p>
            <a:pPr>
              <a:defRPr/>
            </a:pPr>
            <a:endParaRPr lang="ru-RU" sz="1000" b="1" dirty="0">
              <a:latin typeface="Circe Light"/>
            </a:endParaRPr>
          </a:p>
          <a:p>
            <a:pPr>
              <a:defRPr/>
            </a:pPr>
            <a:endParaRPr lang="ru-RU" sz="1000" b="1" dirty="0">
              <a:latin typeface="Circe Light"/>
            </a:endParaRPr>
          </a:p>
          <a:p>
            <a:pPr>
              <a:defRPr/>
            </a:pPr>
            <a:endParaRPr lang="ru-RU" sz="800" b="1" dirty="0">
              <a:latin typeface="Circe Light"/>
            </a:endParaRPr>
          </a:p>
          <a:p>
            <a:pPr>
              <a:defRPr/>
            </a:pPr>
            <a:endParaRPr lang="ru-RU" sz="800" b="1" dirty="0">
              <a:latin typeface="Circe Light"/>
            </a:endParaRPr>
          </a:p>
          <a:p>
            <a:pPr>
              <a:defRPr/>
            </a:pPr>
            <a:endParaRPr lang="en-US" sz="800" b="1" dirty="0">
              <a:latin typeface="Circe Light"/>
            </a:endParaRPr>
          </a:p>
          <a:p>
            <a:pPr>
              <a:defRPr/>
            </a:pPr>
            <a:endParaRPr lang="ru-RU" sz="1000" b="1" dirty="0">
              <a:latin typeface="Circe Light"/>
            </a:endParaRPr>
          </a:p>
          <a:p>
            <a:pPr>
              <a:defRPr/>
            </a:pPr>
            <a:r>
              <a:rPr lang="ru-RU" sz="800" b="1" dirty="0">
                <a:latin typeface="Circe Light"/>
              </a:rPr>
              <a:t>                                                                                                                 </a:t>
            </a:r>
          </a:p>
          <a:p>
            <a:pPr>
              <a:defRPr/>
            </a:pPr>
            <a:r>
              <a:rPr lang="ru-RU" sz="800" b="1" dirty="0">
                <a:latin typeface="Circe Light"/>
              </a:rPr>
              <a:t>                                                                                                                     </a:t>
            </a:r>
          </a:p>
          <a:p>
            <a:pPr>
              <a:defRPr/>
            </a:pPr>
            <a:r>
              <a:rPr lang="ru-RU" sz="800" b="1" dirty="0">
                <a:latin typeface="Circe Light"/>
              </a:rPr>
              <a:t> </a:t>
            </a:r>
          </a:p>
          <a:p>
            <a:pPr>
              <a:defRPr/>
            </a:pPr>
            <a:endParaRPr lang="ru-RU" sz="800" b="1" dirty="0">
              <a:latin typeface="Circe Light"/>
            </a:endParaRPr>
          </a:p>
          <a:p>
            <a:pPr>
              <a:defRPr/>
            </a:pPr>
            <a:endParaRPr lang="ru-RU" sz="800" b="1" dirty="0">
              <a:latin typeface="Circe Light"/>
            </a:endParaRPr>
          </a:p>
          <a:p>
            <a:pPr>
              <a:defRPr/>
            </a:pPr>
            <a:endParaRPr lang="ru-RU" sz="800" b="1" dirty="0">
              <a:latin typeface="Circe Light"/>
            </a:endParaRPr>
          </a:p>
          <a:p>
            <a:pPr>
              <a:defRPr/>
            </a:pPr>
            <a:endParaRPr lang="ru-RU" sz="800" b="1" dirty="0">
              <a:latin typeface="Circe Light"/>
            </a:endParaRPr>
          </a:p>
          <a:p>
            <a:pPr>
              <a:defRPr/>
            </a:pPr>
            <a:endParaRPr lang="ru-RU" sz="800" b="1" dirty="0">
              <a:latin typeface="Circe Light"/>
            </a:endParaRPr>
          </a:p>
          <a:p>
            <a:pPr>
              <a:defRPr/>
            </a:pPr>
            <a:endParaRPr lang="ru-RU" sz="700" b="1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  <a:p>
            <a:pPr>
              <a:defRPr/>
            </a:pPr>
            <a:endParaRPr lang="ru-RU" sz="800" b="1" dirty="0">
              <a:latin typeface="Circe Light"/>
            </a:endParaRPr>
          </a:p>
          <a:p>
            <a:pPr>
              <a:defRPr/>
            </a:pPr>
            <a:endParaRPr lang="ru-RU" sz="800" b="1" dirty="0">
              <a:latin typeface="Circe Light"/>
            </a:endParaRPr>
          </a:p>
          <a:p>
            <a:pPr>
              <a:defRPr/>
            </a:pPr>
            <a:endParaRPr lang="ru-RU" sz="800" b="1" dirty="0">
              <a:latin typeface="Circe Light"/>
            </a:endParaRPr>
          </a:p>
          <a:p>
            <a:pPr>
              <a:defRPr/>
            </a:pPr>
            <a:endParaRPr lang="ru-RU" sz="800" b="1" dirty="0">
              <a:latin typeface="Circe Light"/>
            </a:endParaRPr>
          </a:p>
          <a:p>
            <a:pPr>
              <a:defRPr/>
            </a:pPr>
            <a:endParaRPr lang="ru-RU" sz="800" dirty="0">
              <a:latin typeface="Circe Light"/>
            </a:endParaRPr>
          </a:p>
          <a:p>
            <a:pPr>
              <a:defRPr/>
            </a:pPr>
            <a:endParaRPr lang="ru-RU" sz="800" b="1" dirty="0">
              <a:latin typeface="Circe Light"/>
            </a:endParaRPr>
          </a:p>
          <a:p>
            <a:pPr>
              <a:defRPr/>
            </a:pPr>
            <a:endParaRPr lang="ru-RU" sz="800" b="1" dirty="0">
              <a:latin typeface="Circe Light"/>
            </a:endParaRPr>
          </a:p>
          <a:p>
            <a:pPr>
              <a:defRPr/>
            </a:pPr>
            <a:endParaRPr lang="ru-RU" sz="800" b="1" dirty="0">
              <a:latin typeface="Circe Light"/>
            </a:endParaRPr>
          </a:p>
        </p:txBody>
      </p:sp>
      <p:sp>
        <p:nvSpPr>
          <p:cNvPr id="8" name="Заголовок 1"/>
          <p:cNvSpPr txBox="1"/>
          <p:nvPr/>
        </p:nvSpPr>
        <p:spPr bwMode="auto">
          <a:xfrm>
            <a:off x="-8881" y="0"/>
            <a:ext cx="12209757" cy="470517"/>
          </a:xfrm>
          <a:prstGeom prst="rect">
            <a:avLst/>
          </a:prstGeom>
          <a:solidFill>
            <a:srgbClr val="1C125C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  <a:defRPr/>
            </a:pPr>
            <a:r>
              <a:rPr lang="en-US" sz="1800" dirty="0">
                <a:solidFill>
                  <a:schemeClr val="bg1"/>
                </a:solidFill>
                <a:latin typeface="Circe Light"/>
              </a:rPr>
              <a:t>Отдел</a:t>
            </a:r>
            <a:r>
              <a:rPr lang="ru-RU" sz="1800" dirty="0">
                <a:solidFill>
                  <a:schemeClr val="bg1"/>
                </a:solidFill>
                <a:latin typeface="Circe Light"/>
              </a:rPr>
              <a:t> по работе с подрядчиками </a:t>
            </a:r>
            <a:r>
              <a:rPr lang="en-US" sz="1800" dirty="0">
                <a:solidFill>
                  <a:schemeClr val="bg1"/>
                </a:solidFill>
                <a:latin typeface="Circe Light"/>
              </a:rPr>
              <a:t>– </a:t>
            </a:r>
            <a:r>
              <a:rPr lang="ru-RU" sz="1800" dirty="0">
                <a:solidFill>
                  <a:schemeClr val="bg1"/>
                </a:solidFill>
                <a:latin typeface="Circe Light"/>
              </a:rPr>
              <a:t>Коротчикова М.Е.</a:t>
            </a:r>
            <a:endParaRPr sz="1800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 bwMode="auto">
          <a:xfrm>
            <a:off x="-17757" y="470516"/>
            <a:ext cx="5007206" cy="334281"/>
          </a:xfrm>
          <a:prstGeom prst="rect">
            <a:avLst/>
          </a:prstGeom>
          <a:solidFill>
            <a:srgbClr val="9E89C1"/>
          </a:solidFill>
        </p:spPr>
        <p:txBody>
          <a:bodyPr>
            <a:normAutofit/>
          </a:bodyPr>
          <a:lstStyle/>
          <a:p>
            <a:pPr algn="ctr">
              <a:defRPr/>
            </a:pPr>
            <a:r>
              <a:rPr lang="ru-RU" sz="1300" dirty="0">
                <a:latin typeface="Circe Light"/>
              </a:rPr>
              <a:t>Ключевые события </a:t>
            </a:r>
            <a:r>
              <a:rPr lang="ru-RU" sz="1300" b="1" dirty="0">
                <a:latin typeface="Circe Light"/>
              </a:rPr>
              <a:t>25</a:t>
            </a:r>
            <a:r>
              <a:rPr lang="ru-RU" sz="1300" dirty="0">
                <a:latin typeface="Circe Light"/>
              </a:rPr>
              <a:t> недели:</a:t>
            </a:r>
            <a:endParaRPr sz="1300" dirty="0"/>
          </a:p>
        </p:txBody>
      </p:sp>
      <p:sp>
        <p:nvSpPr>
          <p:cNvPr id="12" name="Заголовок 5"/>
          <p:cNvSpPr txBox="1"/>
          <p:nvPr/>
        </p:nvSpPr>
        <p:spPr bwMode="auto">
          <a:xfrm>
            <a:off x="-8881" y="5183930"/>
            <a:ext cx="6004187" cy="254585"/>
          </a:xfrm>
          <a:prstGeom prst="rect">
            <a:avLst/>
          </a:prstGeom>
          <a:solidFill>
            <a:srgbClr val="9E89C1"/>
          </a:solidFill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ru-RU" sz="2400" dirty="0">
                <a:latin typeface="Circe Light"/>
              </a:rPr>
              <a:t>Ключевые планы новой недели:</a:t>
            </a:r>
            <a:endParaRPr dirty="0"/>
          </a:p>
        </p:txBody>
      </p:sp>
      <p:sp>
        <p:nvSpPr>
          <p:cNvPr id="13" name="Заголовок 5"/>
          <p:cNvSpPr txBox="1"/>
          <p:nvPr/>
        </p:nvSpPr>
        <p:spPr bwMode="auto">
          <a:xfrm>
            <a:off x="0" y="804798"/>
            <a:ext cx="3723833" cy="436133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defPPr>
              <a:defRPr lang="ru-RU"/>
            </a:defPPr>
            <a:lvl1pPr marL="285750" indent="-285750">
              <a:lnSpc>
                <a:spcPct val="90000"/>
              </a:lnSpc>
              <a:spcBef>
                <a:spcPts val="0"/>
              </a:spcBef>
              <a:buFontTx/>
              <a:buChar char="-"/>
              <a:defRPr sz="1600">
                <a:latin typeface="Circe Light"/>
                <a:ea typeface="+mj-ea"/>
                <a:cs typeface="+mj-cs"/>
              </a:defRPr>
            </a:lvl1pPr>
          </a:lstStyle>
          <a:p>
            <a:pPr marL="0" indent="0">
              <a:buNone/>
              <a:defRPr/>
            </a:pPr>
            <a:r>
              <a:rPr lang="ru-RU" sz="900" dirty="0"/>
              <a:t>-Обеспечение контейнерами сервисов ВРП/Экспорт/Импорт. </a:t>
            </a:r>
            <a:endParaRPr lang="en-US" sz="900" dirty="0"/>
          </a:p>
          <a:p>
            <a:pPr marL="0" indent="0">
              <a:buNone/>
              <a:defRPr/>
            </a:pPr>
            <a:r>
              <a:rPr lang="en-US" sz="900" dirty="0"/>
              <a:t>-</a:t>
            </a:r>
            <a:r>
              <a:rPr lang="ru-RU" sz="900" dirty="0"/>
              <a:t>Бронирование объемов и получение спец. тарифов в поезда ВРП</a:t>
            </a:r>
            <a:r>
              <a:rPr lang="en-US" sz="900" dirty="0"/>
              <a:t>.</a:t>
            </a:r>
            <a:endParaRPr lang="ru-RU" sz="900" dirty="0"/>
          </a:p>
          <a:p>
            <a:pPr marL="0" indent="0">
              <a:buNone/>
              <a:defRPr/>
            </a:pPr>
            <a:r>
              <a:rPr lang="ru-RU" sz="900" dirty="0"/>
              <a:t>-Мониторинг тарифов операторов  в импорте и экспорте.</a:t>
            </a:r>
          </a:p>
          <a:p>
            <a:pPr marL="0" indent="0">
              <a:buNone/>
              <a:defRPr/>
            </a:pPr>
            <a:r>
              <a:rPr lang="ru-RU" sz="900" dirty="0"/>
              <a:t>-Передача собственных контейнеров в аренду.</a:t>
            </a:r>
          </a:p>
          <a:p>
            <a:pPr marL="0" indent="0">
              <a:buNone/>
              <a:defRPr/>
            </a:pPr>
            <a:r>
              <a:rPr lang="ru-RU" sz="900" dirty="0"/>
              <a:t>-Заключение договоров с новыми контрагентами.</a:t>
            </a:r>
          </a:p>
          <a:p>
            <a:pPr marL="0" indent="0">
              <a:buNone/>
              <a:defRPr/>
            </a:pPr>
            <a:r>
              <a:rPr lang="ru-RU" sz="900" dirty="0"/>
              <a:t>-Закрытие задач в ДО.</a:t>
            </a:r>
          </a:p>
          <a:p>
            <a:pPr marL="0" indent="0">
              <a:buNone/>
              <a:defRPr/>
            </a:pPr>
            <a:r>
              <a:rPr lang="ru-RU" sz="900" dirty="0"/>
              <a:t>-Актуализация кредиторской задолженности СЛ.</a:t>
            </a:r>
          </a:p>
          <a:p>
            <a:pPr marL="0" indent="0">
              <a:buNone/>
              <a:defRPr/>
            </a:pPr>
            <a:r>
              <a:rPr lang="ru-RU" sz="900" dirty="0"/>
              <a:t>-Актуализация </a:t>
            </a:r>
            <a:r>
              <a:rPr lang="en-US" sz="900" dirty="0"/>
              <a:t>bpmn</a:t>
            </a:r>
            <a:r>
              <a:rPr lang="ru-RU" sz="900" dirty="0"/>
              <a:t> процессов</a:t>
            </a:r>
            <a:r>
              <a:rPr lang="en-US" sz="900" dirty="0"/>
              <a:t> </a:t>
            </a:r>
            <a:r>
              <a:rPr lang="ru-RU" sz="900" dirty="0"/>
              <a:t>отдела.</a:t>
            </a:r>
          </a:p>
          <a:p>
            <a:pPr marL="0" indent="0">
              <a:buNone/>
              <a:defRPr/>
            </a:pPr>
            <a:r>
              <a:rPr lang="ru-RU" sz="900" dirty="0"/>
              <a:t>-«Поезд» в УАТ</a:t>
            </a:r>
          </a:p>
          <a:p>
            <a:pPr marL="0" indent="0">
              <a:buNone/>
              <a:defRPr/>
            </a:pPr>
            <a:r>
              <a:rPr lang="ru-RU" sz="900" dirty="0"/>
              <a:t>-Реестр поезда в УАТ.</a:t>
            </a:r>
          </a:p>
          <a:p>
            <a:pPr marL="0" indent="0">
              <a:buNone/>
              <a:defRPr/>
            </a:pPr>
            <a:r>
              <a:rPr lang="ru-RU" sz="900" dirty="0"/>
              <a:t>-Заявка подрядчику в УАТ (кроме авто МСК, КРСН).</a:t>
            </a:r>
          </a:p>
          <a:p>
            <a:pPr marL="0" indent="0">
              <a:buNone/>
              <a:defRPr/>
            </a:pPr>
            <a:r>
              <a:rPr lang="ru-RU" sz="900" dirty="0"/>
              <a:t>-Актуализация </a:t>
            </a:r>
            <a:r>
              <a:rPr lang="en-US" sz="900" dirty="0"/>
              <a:t>RACI</a:t>
            </a:r>
            <a:r>
              <a:rPr lang="ru-RU" sz="900" dirty="0"/>
              <a:t>.</a:t>
            </a:r>
          </a:p>
          <a:p>
            <a:pPr marL="0" indent="0">
              <a:buNone/>
              <a:defRPr/>
            </a:pPr>
            <a:endParaRPr lang="ru-RU" sz="4000" dirty="0"/>
          </a:p>
          <a:p>
            <a:pPr>
              <a:defRPr/>
            </a:pPr>
            <a:endParaRPr lang="ru-RU" sz="4000" dirty="0"/>
          </a:p>
          <a:p>
            <a:pPr>
              <a:defRPr/>
            </a:pPr>
            <a:endParaRPr lang="en-US" sz="4000" dirty="0">
              <a:latin typeface="Circe Light"/>
            </a:endParaRPr>
          </a:p>
          <a:p>
            <a:pPr marL="266700" indent="-266700">
              <a:defRPr/>
            </a:pPr>
            <a:endParaRPr lang="ru-RU" sz="4000" dirty="0"/>
          </a:p>
          <a:p>
            <a:pPr marL="0" indent="0">
              <a:buNone/>
              <a:defRPr/>
            </a:pPr>
            <a:endParaRPr lang="ru-RU" dirty="0"/>
          </a:p>
        </p:txBody>
      </p:sp>
      <p:sp>
        <p:nvSpPr>
          <p:cNvPr id="16" name="Заголовок 5"/>
          <p:cNvSpPr txBox="1"/>
          <p:nvPr/>
        </p:nvSpPr>
        <p:spPr bwMode="auto">
          <a:xfrm>
            <a:off x="7087891" y="6395188"/>
            <a:ext cx="2727701" cy="4705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Tx/>
              <a:buChar char="-"/>
              <a:defRPr/>
            </a:pPr>
            <a:r>
              <a:rPr lang="ru-RU" sz="1000" dirty="0">
                <a:latin typeface="Circe Light"/>
              </a:rPr>
              <a:t>Отпуск</a:t>
            </a:r>
            <a:r>
              <a:rPr lang="ru-RU" sz="1000">
                <a:latin typeface="Circe Light"/>
              </a:rPr>
              <a:t>: 1 </a:t>
            </a:r>
            <a:endParaRPr lang="ru-RU" sz="1000" dirty="0">
              <a:latin typeface="Circe Light"/>
            </a:endParaRPr>
          </a:p>
          <a:p>
            <a:pPr marL="285750" indent="-285750">
              <a:buFontTx/>
              <a:buChar char="-"/>
              <a:defRPr/>
            </a:pPr>
            <a:r>
              <a:rPr lang="ru-RU" sz="1000" dirty="0">
                <a:latin typeface="Circe Light"/>
              </a:rPr>
              <a:t>Командировки:</a:t>
            </a:r>
            <a:r>
              <a:rPr lang="en-US" sz="1000" dirty="0">
                <a:latin typeface="Circe Light"/>
              </a:rPr>
              <a:t> </a:t>
            </a:r>
            <a:r>
              <a:rPr lang="ru-RU" sz="1000" dirty="0">
                <a:latin typeface="Circe Light"/>
              </a:rPr>
              <a:t>0</a:t>
            </a:r>
            <a:endParaRPr sz="1000" dirty="0"/>
          </a:p>
        </p:txBody>
      </p:sp>
      <p:sp>
        <p:nvSpPr>
          <p:cNvPr id="17" name="Заголовок 5"/>
          <p:cNvSpPr txBox="1"/>
          <p:nvPr/>
        </p:nvSpPr>
        <p:spPr bwMode="auto">
          <a:xfrm>
            <a:off x="7087892" y="6058606"/>
            <a:ext cx="5112984" cy="318870"/>
          </a:xfrm>
          <a:prstGeom prst="rect">
            <a:avLst/>
          </a:prstGeom>
          <a:solidFill>
            <a:srgbClr val="9E89C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ru-RU" sz="1100" dirty="0">
                <a:latin typeface="Circe Light"/>
              </a:rPr>
              <a:t>Отпуск, отсутствия в отделе :</a:t>
            </a:r>
            <a:endParaRPr sz="1100" dirty="0"/>
          </a:p>
        </p:txBody>
      </p:sp>
      <p:sp>
        <p:nvSpPr>
          <p:cNvPr id="18" name="Заголовок 5"/>
          <p:cNvSpPr txBox="1"/>
          <p:nvPr/>
        </p:nvSpPr>
        <p:spPr bwMode="auto">
          <a:xfrm>
            <a:off x="3741591" y="470516"/>
            <a:ext cx="8450408" cy="334281"/>
          </a:xfrm>
          <a:prstGeom prst="rect">
            <a:avLst/>
          </a:prstGeom>
          <a:solidFill>
            <a:srgbClr val="9E89C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ru-RU" sz="1300" dirty="0">
                <a:latin typeface="Circe Light"/>
              </a:rPr>
              <a:t>Метрики, достижения, показатели:</a:t>
            </a:r>
            <a:endParaRPr sz="1300" dirty="0"/>
          </a:p>
        </p:txBody>
      </p:sp>
      <p:sp>
        <p:nvSpPr>
          <p:cNvPr id="20" name="Заголовок 5"/>
          <p:cNvSpPr txBox="1"/>
          <p:nvPr/>
        </p:nvSpPr>
        <p:spPr bwMode="auto">
          <a:xfrm>
            <a:off x="5964224" y="5182968"/>
            <a:ext cx="6243963" cy="236708"/>
          </a:xfrm>
          <a:prstGeom prst="rect">
            <a:avLst/>
          </a:prstGeom>
          <a:solidFill>
            <a:srgbClr val="9E89C1"/>
          </a:solidFill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ru-RU" sz="2700" dirty="0">
                <a:latin typeface="Circe Light"/>
              </a:rPr>
              <a:t>Риски, просьбы</a:t>
            </a:r>
            <a:r>
              <a:rPr lang="ru-RU" sz="2400" dirty="0">
                <a:latin typeface="Circe Light"/>
              </a:rPr>
              <a:t>:</a:t>
            </a:r>
            <a:endParaRPr dirty="0"/>
          </a:p>
        </p:txBody>
      </p:sp>
      <p:sp>
        <p:nvSpPr>
          <p:cNvPr id="21" name="Заголовок 5"/>
          <p:cNvSpPr txBox="1"/>
          <p:nvPr/>
        </p:nvSpPr>
        <p:spPr bwMode="auto">
          <a:xfrm>
            <a:off x="7087892" y="5419704"/>
            <a:ext cx="5112984" cy="62119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AutoNum type="arabicPeriod"/>
              <a:defRPr/>
            </a:pPr>
            <a:r>
              <a:rPr lang="ru-RU" sz="1000" dirty="0">
                <a:latin typeface="Circe Light"/>
              </a:rPr>
              <a:t>Нестабильная ситуация в рынке, влияние санкций</a:t>
            </a:r>
          </a:p>
          <a:p>
            <a:pPr marL="342900" indent="-342900">
              <a:buAutoNum type="arabicPeriod"/>
              <a:defRPr/>
            </a:pPr>
            <a:r>
              <a:rPr lang="ru-RU" sz="1000" dirty="0">
                <a:latin typeface="Circe Light"/>
              </a:rPr>
              <a:t>Задержки оплат</a:t>
            </a:r>
          </a:p>
          <a:p>
            <a:pPr marL="342900" indent="-342900">
              <a:buAutoNum type="arabicPeriod"/>
              <a:defRPr/>
            </a:pPr>
            <a:r>
              <a:rPr lang="ru-RU" sz="1000" dirty="0">
                <a:latin typeface="Circe Light"/>
              </a:rPr>
              <a:t>Курс валют ($, ¥)</a:t>
            </a:r>
          </a:p>
        </p:txBody>
      </p:sp>
      <p:sp>
        <p:nvSpPr>
          <p:cNvPr id="23" name="Заголовок 5"/>
          <p:cNvSpPr txBox="1"/>
          <p:nvPr/>
        </p:nvSpPr>
        <p:spPr bwMode="auto">
          <a:xfrm>
            <a:off x="8876" y="5420719"/>
            <a:ext cx="7079014" cy="14173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 fontScale="32500" lnSpcReduction="20000"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 sz="3200" dirty="0">
                <a:latin typeface="Circe Light"/>
              </a:rPr>
              <a:t>-Актуализация информации о публичных поездах операторов во внутрироссийском сообщении, изменению тарифов, свободным местам.</a:t>
            </a:r>
          </a:p>
          <a:p>
            <a:pPr>
              <a:defRPr/>
            </a:pPr>
            <a:r>
              <a:rPr lang="ru-RU" sz="3200" dirty="0">
                <a:latin typeface="Circe Light"/>
              </a:rPr>
              <a:t>-Обеспечение контейнерами объемов текущей недели и подготовка к следующей</a:t>
            </a:r>
            <a:r>
              <a:rPr lang="en-US" sz="3200" dirty="0">
                <a:latin typeface="Circe Light"/>
              </a:rPr>
              <a:t>;</a:t>
            </a:r>
            <a:r>
              <a:rPr lang="ru-RU" sz="3200" dirty="0">
                <a:latin typeface="Circe Light"/>
              </a:rPr>
              <a:t> </a:t>
            </a:r>
          </a:p>
          <a:p>
            <a:pPr>
              <a:defRPr/>
            </a:pPr>
            <a:r>
              <a:rPr lang="ru-RU" sz="3200" dirty="0">
                <a:latin typeface="Circe Light"/>
              </a:rPr>
              <a:t>-Актуализация расписания и мониторинг изменения тарифов операторов в международном сообщении.</a:t>
            </a:r>
          </a:p>
          <a:p>
            <a:pPr>
              <a:defRPr/>
            </a:pPr>
            <a:r>
              <a:rPr lang="en-US" sz="3200" dirty="0">
                <a:latin typeface="Circe Light"/>
              </a:rPr>
              <a:t>-</a:t>
            </a:r>
            <a:r>
              <a:rPr lang="ru-RU" sz="3200" dirty="0">
                <a:latin typeface="Circe Light"/>
              </a:rPr>
              <a:t>Заключение договоров с подрядчиками в рамках расширения базы подрядчиков по востребованным направлениям</a:t>
            </a:r>
            <a:r>
              <a:rPr lang="en-US" sz="3200" dirty="0">
                <a:latin typeface="Circe Light"/>
              </a:rPr>
              <a:t>;</a:t>
            </a:r>
          </a:p>
          <a:p>
            <a:pPr>
              <a:defRPr/>
            </a:pPr>
            <a:r>
              <a:rPr lang="en-US" sz="3200" dirty="0">
                <a:latin typeface="Circe Light"/>
              </a:rPr>
              <a:t>-Пол</a:t>
            </a:r>
            <a:r>
              <a:rPr lang="ru-RU" sz="3200" dirty="0">
                <a:latin typeface="Circe Light"/>
              </a:rPr>
              <a:t>у</a:t>
            </a:r>
            <a:r>
              <a:rPr lang="en-US" sz="3200" dirty="0">
                <a:latin typeface="Circe Light"/>
              </a:rPr>
              <a:t>чение</a:t>
            </a:r>
            <a:r>
              <a:rPr lang="ru-RU" sz="3200" dirty="0">
                <a:latin typeface="Circe Light"/>
              </a:rPr>
              <a:t>, проверка и передача к учету</a:t>
            </a:r>
            <a:r>
              <a:rPr lang="en-US" sz="3200" dirty="0">
                <a:latin typeface="Circe Light"/>
              </a:rPr>
              <a:t> закрывающих документов;</a:t>
            </a:r>
            <a:endParaRPr lang="ru-RU" sz="3200" dirty="0">
              <a:latin typeface="Circe Light"/>
            </a:endParaRPr>
          </a:p>
          <a:p>
            <a:pPr>
              <a:defRPr/>
            </a:pPr>
            <a:r>
              <a:rPr lang="ru-RU" sz="3200" dirty="0">
                <a:latin typeface="Circe Light"/>
              </a:rPr>
              <a:t>-Актуализация кредиторской задолженности перед подрядчиками</a:t>
            </a:r>
            <a:r>
              <a:rPr lang="en-US" sz="3200" dirty="0">
                <a:latin typeface="Circe Light"/>
              </a:rPr>
              <a:t>;</a:t>
            </a:r>
            <a:r>
              <a:rPr lang="ru-RU" sz="3200" dirty="0">
                <a:latin typeface="Circe Light"/>
              </a:rPr>
              <a:t> </a:t>
            </a:r>
          </a:p>
          <a:p>
            <a:pPr>
              <a:defRPr/>
            </a:pPr>
            <a:r>
              <a:rPr lang="ru-RU" sz="3200" dirty="0">
                <a:latin typeface="Circe Light"/>
              </a:rPr>
              <a:t>-Актуализация ДЗ с подрядчиками за возврат контейнеров</a:t>
            </a:r>
            <a:r>
              <a:rPr lang="en-US" sz="3200" dirty="0">
                <a:latin typeface="Circe Light"/>
              </a:rPr>
              <a:t>;</a:t>
            </a:r>
            <a:endParaRPr lang="ru-RU" sz="3200" dirty="0">
              <a:latin typeface="Circe Light"/>
            </a:endParaRPr>
          </a:p>
          <a:p>
            <a:pPr>
              <a:defRPr/>
            </a:pPr>
            <a:r>
              <a:rPr lang="ru-RU" sz="3200" dirty="0">
                <a:latin typeface="Circe Light"/>
              </a:rPr>
              <a:t>-Обновление </a:t>
            </a:r>
            <a:r>
              <a:rPr lang="en-US" sz="3200" dirty="0">
                <a:latin typeface="Circe Light"/>
              </a:rPr>
              <a:t>bpmn</a:t>
            </a:r>
            <a:r>
              <a:rPr lang="ru-RU" sz="3200" dirty="0">
                <a:latin typeface="Circe Light"/>
              </a:rPr>
              <a:t>  и </a:t>
            </a:r>
            <a:r>
              <a:rPr lang="en-US" sz="3200" dirty="0">
                <a:latin typeface="Circe Light"/>
              </a:rPr>
              <a:t>bpmn </a:t>
            </a:r>
            <a:r>
              <a:rPr lang="ru-RU" sz="3200" dirty="0">
                <a:latin typeface="Circe Light"/>
              </a:rPr>
              <a:t>«</a:t>
            </a:r>
            <a:r>
              <a:rPr lang="en-US" sz="3200" dirty="0">
                <a:latin typeface="Circe Light"/>
              </a:rPr>
              <a:t>to be</a:t>
            </a:r>
            <a:r>
              <a:rPr lang="ru-RU" sz="3200" dirty="0">
                <a:latin typeface="Circe Light"/>
              </a:rPr>
              <a:t>» с учетом обновления функционала</a:t>
            </a:r>
            <a:r>
              <a:rPr lang="en-US" sz="3200" dirty="0">
                <a:latin typeface="Circe Light"/>
              </a:rPr>
              <a:t>;</a:t>
            </a:r>
            <a:endParaRPr lang="ru-RU" sz="3200" dirty="0">
              <a:latin typeface="Circe Light"/>
            </a:endParaRPr>
          </a:p>
          <a:p>
            <a:pPr>
              <a:defRPr/>
            </a:pPr>
            <a:r>
              <a:rPr lang="ru-RU" sz="3200" dirty="0">
                <a:latin typeface="Circe Light"/>
              </a:rPr>
              <a:t>-Отчетность </a:t>
            </a:r>
            <a:r>
              <a:rPr lang="en-US" sz="3200" dirty="0">
                <a:latin typeface="Circe Light"/>
              </a:rPr>
              <a:t>AOP</a:t>
            </a:r>
            <a:r>
              <a:rPr lang="ru-RU" sz="3200" dirty="0">
                <a:latin typeface="Circe Light"/>
              </a:rPr>
              <a:t> май.</a:t>
            </a:r>
          </a:p>
          <a:p>
            <a:pPr>
              <a:defRPr/>
            </a:pPr>
            <a:r>
              <a:rPr lang="ru-RU" sz="3200" dirty="0">
                <a:latin typeface="Circe Light"/>
              </a:rPr>
              <a:t>-Сбор данных от КА по ЭПД, ГосЛог.</a:t>
            </a:r>
          </a:p>
          <a:p>
            <a:pPr>
              <a:defRPr/>
            </a:pPr>
            <a:r>
              <a:rPr lang="ru-RU" sz="3200" dirty="0">
                <a:latin typeface="Circe Light"/>
              </a:rPr>
              <a:t>-Обновление </a:t>
            </a:r>
            <a:r>
              <a:rPr lang="en-US" sz="3200" dirty="0">
                <a:latin typeface="Circe Light"/>
              </a:rPr>
              <a:t>RACI</a:t>
            </a:r>
            <a:r>
              <a:rPr lang="ru-RU" sz="3200" dirty="0">
                <a:latin typeface="Circe Light"/>
              </a:rPr>
              <a:t>.</a:t>
            </a:r>
          </a:p>
          <a:p>
            <a:pPr>
              <a:defRPr/>
            </a:pPr>
            <a:endParaRPr lang="ru-RU" sz="3200" dirty="0"/>
          </a:p>
          <a:p>
            <a:pPr>
              <a:defRPr/>
            </a:pPr>
            <a:endParaRPr lang="ru-RU" sz="3200" dirty="0"/>
          </a:p>
          <a:p>
            <a:pPr>
              <a:defRPr/>
            </a:pPr>
            <a:endParaRPr lang="ru-RU" sz="1100" dirty="0">
              <a:latin typeface="Circe Light"/>
            </a:endParaRPr>
          </a:p>
        </p:txBody>
      </p:sp>
      <p:sp>
        <p:nvSpPr>
          <p:cNvPr id="15" name="Заголовок 5"/>
          <p:cNvSpPr txBox="1"/>
          <p:nvPr/>
        </p:nvSpPr>
        <p:spPr bwMode="auto">
          <a:xfrm>
            <a:off x="9815593" y="6387483"/>
            <a:ext cx="2385283" cy="4653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 fontScale="70000" lnSpcReduction="20000"/>
          </a:bodyPr>
          <a:lstStyle>
            <a:defPPr>
              <a:defRPr lang="ru-RU"/>
            </a:defPPr>
            <a:lvl1pPr marL="285750" indent="-285750">
              <a:lnSpc>
                <a:spcPct val="90000"/>
              </a:lnSpc>
              <a:spcBef>
                <a:spcPts val="0"/>
              </a:spcBef>
              <a:buFontTx/>
              <a:buChar char="-"/>
              <a:defRPr sz="1600">
                <a:latin typeface="Circe Ligh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 dirty="0"/>
              <a:t>Болеет: 0</a:t>
            </a:r>
            <a:endParaRPr dirty="0"/>
          </a:p>
          <a:p>
            <a:pPr>
              <a:defRPr/>
            </a:pPr>
            <a:r>
              <a:rPr lang="ru-RU" dirty="0"/>
              <a:t>Увольняются:  0</a:t>
            </a:r>
            <a:endParaRPr dirty="0"/>
          </a:p>
          <a:p>
            <a:pPr>
              <a:defRPr/>
            </a:pPr>
            <a:r>
              <a:rPr lang="ru-RU" dirty="0"/>
              <a:t>Еще не наняты: 0 </a:t>
            </a:r>
            <a:endParaRPr dirty="0"/>
          </a:p>
        </p:txBody>
      </p:sp>
      <p:graphicFrame>
        <p:nvGraphicFramePr>
          <p:cNvPr id="26" name="Таблица 25">
            <a:extLst>
              <a:ext uri="{FF2B5EF4-FFF2-40B4-BE49-F238E27FC236}">
                <a16:creationId xmlns:a16="http://schemas.microsoft.com/office/drawing/2014/main" id="{8C9BA2B8-69AB-A3BC-5BF9-1129E57DB912}"/>
              </a:ext>
            </a:extLst>
          </p:cNvPr>
          <p:cNvGraphicFramePr>
            <a:graphicFrameLocks noGrp="1"/>
          </p:cNvGraphicFramePr>
          <p:nvPr/>
        </p:nvGraphicFramePr>
        <p:xfrm>
          <a:off x="31578" y="2499067"/>
          <a:ext cx="3611804" cy="252095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802622">
                  <a:extLst>
                    <a:ext uri="{9D8B030D-6E8A-4147-A177-3AD203B41FA5}">
                      <a16:colId xmlns:a16="http://schemas.microsoft.com/office/drawing/2014/main" val="2723720521"/>
                    </a:ext>
                  </a:extLst>
                </a:gridCol>
                <a:gridCol w="2809182">
                  <a:extLst>
                    <a:ext uri="{9D8B030D-6E8A-4147-A177-3AD203B41FA5}">
                      <a16:colId xmlns:a16="http://schemas.microsoft.com/office/drawing/2014/main" val="1602596171"/>
                    </a:ext>
                  </a:extLst>
                </a:gridCol>
              </a:tblGrid>
              <a:tr h="247369">
                <a:tc>
                  <a:txBody>
                    <a:bodyPr/>
                    <a:lstStyle/>
                    <a:p>
                      <a:r>
                        <a:rPr lang="ru-RU" sz="700" dirty="0"/>
                        <a:t>Сегмент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700" dirty="0"/>
                        <a:t>Новые КА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374205"/>
                  </a:ext>
                </a:extLst>
              </a:tr>
              <a:tr h="247369">
                <a:tc>
                  <a:txBody>
                    <a:bodyPr/>
                    <a:lstStyle/>
                    <a:p>
                      <a:r>
                        <a:rPr lang="ru-RU" sz="700" dirty="0"/>
                        <a:t>Линии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700" dirty="0"/>
                        <a:t>СК Транзит СВ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909439"/>
                  </a:ext>
                </a:extLst>
              </a:tr>
              <a:tr h="231021">
                <a:tc>
                  <a:txBody>
                    <a:bodyPr/>
                    <a:lstStyle/>
                    <a:p>
                      <a:r>
                        <a:rPr lang="ru-RU" sz="700" dirty="0"/>
                        <a:t>Автотранспорт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700" dirty="0"/>
                        <a:t>Полезный актив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3651621"/>
                  </a:ext>
                </a:extLst>
              </a:tr>
              <a:tr h="247369">
                <a:tc>
                  <a:txBody>
                    <a:bodyPr/>
                    <a:lstStyle/>
                    <a:p>
                      <a:r>
                        <a:rPr lang="ru-RU" sz="700" dirty="0"/>
                        <a:t>Контейнеры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RBS Logistics</a:t>
                      </a:r>
                      <a:r>
                        <a:rPr lang="ru-RU" sz="700" dirty="0"/>
                        <a:t>, </a:t>
                      </a:r>
                      <a:r>
                        <a:rPr lang="pt-PT" sz="700" dirty="0"/>
                        <a:t>Henan Huanhong Logistics </a:t>
                      </a:r>
                      <a:endParaRPr lang="ru-RU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199874"/>
                  </a:ext>
                </a:extLst>
              </a:tr>
              <a:tr h="310822">
                <a:tc>
                  <a:txBody>
                    <a:bodyPr/>
                    <a:lstStyle/>
                    <a:p>
                      <a:r>
                        <a:rPr lang="ru-RU" sz="700" dirty="0"/>
                        <a:t>Операторы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700" dirty="0"/>
                        <a:t>РАЙНОЛОДЖИСТИК ООО, </a:t>
                      </a:r>
                    </a:p>
                    <a:p>
                      <a:r>
                        <a:rPr lang="ru-RU" sz="700" dirty="0"/>
                        <a:t>Универсальный транспортный оператор ООО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3937714"/>
                  </a:ext>
                </a:extLst>
              </a:tr>
              <a:tr h="341511">
                <a:tc>
                  <a:txBody>
                    <a:bodyPr/>
                    <a:lstStyle/>
                    <a:p>
                      <a:r>
                        <a:rPr lang="ru-RU" sz="700" dirty="0"/>
                        <a:t>Терминалы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700" dirty="0"/>
                        <a:t>Единый Оператор, </a:t>
                      </a:r>
                      <a:r>
                        <a:rPr lang="en-US" sz="700" dirty="0"/>
                        <a:t>XMH</a:t>
                      </a:r>
                      <a:r>
                        <a:rPr lang="ru-RU" sz="700" dirty="0"/>
                        <a:t>, Рексервис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0289213"/>
                  </a:ext>
                </a:extLst>
              </a:tr>
              <a:tr h="317770">
                <a:tc>
                  <a:txBody>
                    <a:bodyPr/>
                    <a:lstStyle/>
                    <a:p>
                      <a:r>
                        <a:rPr lang="ru-RU" sz="700" dirty="0"/>
                        <a:t>Субсидии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7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0051909"/>
                  </a:ext>
                </a:extLst>
              </a:tr>
              <a:tr h="266904">
                <a:tc>
                  <a:txBody>
                    <a:bodyPr/>
                    <a:lstStyle/>
                    <a:p>
                      <a:r>
                        <a:rPr lang="ru-RU" sz="700" dirty="0"/>
                        <a:t>Прочие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700"/>
                        <a:t>-</a:t>
                      </a:r>
                      <a:endParaRPr lang="ru-RU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5318920"/>
                  </a:ext>
                </a:extLst>
              </a:tr>
              <a:tr h="310822">
                <a:tc>
                  <a:txBody>
                    <a:bodyPr/>
                    <a:lstStyle/>
                    <a:p>
                      <a:r>
                        <a:rPr lang="ru-RU" sz="700" dirty="0"/>
                        <a:t>Аренда </a:t>
                      </a:r>
                      <a:r>
                        <a:rPr lang="ru-RU" sz="700" dirty="0" err="1"/>
                        <a:t>ктк</a:t>
                      </a:r>
                      <a:endParaRPr lang="ru-RU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7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3502631"/>
                  </a:ext>
                </a:extLst>
              </a:tr>
            </a:tbl>
          </a:graphicData>
        </a:graphic>
      </p:graphicFrame>
      <p:graphicFrame>
        <p:nvGraphicFramePr>
          <p:cNvPr id="27" name="Таблица 26">
            <a:extLst>
              <a:ext uri="{FF2B5EF4-FFF2-40B4-BE49-F238E27FC236}">
                <a16:creationId xmlns:a16="http://schemas.microsoft.com/office/drawing/2014/main" id="{42F40A36-4B65-3D08-69E5-A91F65B905BB}"/>
              </a:ext>
            </a:extLst>
          </p:cNvPr>
          <p:cNvGraphicFramePr>
            <a:graphicFrameLocks noGrp="1"/>
          </p:cNvGraphicFramePr>
          <p:nvPr/>
        </p:nvGraphicFramePr>
        <p:xfrm>
          <a:off x="3776268" y="2020391"/>
          <a:ext cx="2373673" cy="183801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92785">
                  <a:extLst>
                    <a:ext uri="{9D8B030D-6E8A-4147-A177-3AD203B41FA5}">
                      <a16:colId xmlns:a16="http://schemas.microsoft.com/office/drawing/2014/main" val="1118745771"/>
                    </a:ext>
                  </a:extLst>
                </a:gridCol>
                <a:gridCol w="403954">
                  <a:extLst>
                    <a:ext uri="{9D8B030D-6E8A-4147-A177-3AD203B41FA5}">
                      <a16:colId xmlns:a16="http://schemas.microsoft.com/office/drawing/2014/main" val="2332632022"/>
                    </a:ext>
                  </a:extLst>
                </a:gridCol>
                <a:gridCol w="472210">
                  <a:extLst>
                    <a:ext uri="{9D8B030D-6E8A-4147-A177-3AD203B41FA5}">
                      <a16:colId xmlns:a16="http://schemas.microsoft.com/office/drawing/2014/main" val="2001469052"/>
                    </a:ext>
                  </a:extLst>
                </a:gridCol>
                <a:gridCol w="489263">
                  <a:extLst>
                    <a:ext uri="{9D8B030D-6E8A-4147-A177-3AD203B41FA5}">
                      <a16:colId xmlns:a16="http://schemas.microsoft.com/office/drawing/2014/main" val="829394871"/>
                    </a:ext>
                  </a:extLst>
                </a:gridCol>
                <a:gridCol w="515461">
                  <a:extLst>
                    <a:ext uri="{9D8B030D-6E8A-4147-A177-3AD203B41FA5}">
                      <a16:colId xmlns:a16="http://schemas.microsoft.com/office/drawing/2014/main" val="4205864192"/>
                    </a:ext>
                  </a:extLst>
                </a:gridCol>
              </a:tblGrid>
              <a:tr h="204224">
                <a:tc>
                  <a:txBody>
                    <a:bodyPr/>
                    <a:lstStyle/>
                    <a:p>
                      <a:r>
                        <a:rPr lang="ru-RU" sz="700" dirty="0"/>
                        <a:t>Неделя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700" dirty="0"/>
                        <a:t>ВРП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700" dirty="0"/>
                        <a:t>ЭКС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700" dirty="0"/>
                        <a:t>ИМП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700" dirty="0"/>
                        <a:t>Аренда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8506510"/>
                  </a:ext>
                </a:extLst>
              </a:tr>
              <a:tr h="204224">
                <a:tc>
                  <a:txBody>
                    <a:bodyPr/>
                    <a:lstStyle/>
                    <a:p>
                      <a:r>
                        <a:rPr lang="ru-RU" sz="7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 dirty="0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 dirty="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 dirty="0"/>
                        <a:t>-18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874238"/>
                  </a:ext>
                </a:extLst>
              </a:tr>
              <a:tr h="204224">
                <a:tc>
                  <a:txBody>
                    <a:bodyPr/>
                    <a:lstStyle/>
                    <a:p>
                      <a:r>
                        <a:rPr lang="ru-RU" sz="700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64</a:t>
                      </a:r>
                      <a:endParaRPr lang="ru-RU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0</a:t>
                      </a:r>
                      <a:endParaRPr lang="ru-RU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0</a:t>
                      </a:r>
                      <a:endParaRPr lang="ru-RU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3317778"/>
                  </a:ext>
                </a:extLst>
              </a:tr>
              <a:tr h="204224">
                <a:tc>
                  <a:txBody>
                    <a:bodyPr/>
                    <a:lstStyle/>
                    <a:p>
                      <a:r>
                        <a:rPr lang="ru-RU" sz="700" dirty="0"/>
                        <a:t>2</a:t>
                      </a:r>
                      <a:r>
                        <a:rPr lang="en-US" sz="700"/>
                        <a:t>5</a:t>
                      </a:r>
                      <a:endParaRPr lang="ru-RU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49</a:t>
                      </a:r>
                      <a:endParaRPr lang="ru-RU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50</a:t>
                      </a:r>
                      <a:endParaRPr lang="ru-RU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0</a:t>
                      </a:r>
                      <a:endParaRPr lang="ru-RU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324978"/>
                  </a:ext>
                </a:extLst>
              </a:tr>
              <a:tr h="204224">
                <a:tc>
                  <a:txBody>
                    <a:bodyPr/>
                    <a:lstStyle/>
                    <a:p>
                      <a:r>
                        <a:rPr lang="ru-RU" sz="700" dirty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398887"/>
                  </a:ext>
                </a:extLst>
              </a:tr>
              <a:tr h="204224">
                <a:tc>
                  <a:txBody>
                    <a:bodyPr/>
                    <a:lstStyle/>
                    <a:p>
                      <a:r>
                        <a:rPr lang="ru-RU" sz="700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4686460"/>
                  </a:ext>
                </a:extLst>
              </a:tr>
              <a:tr h="204224">
                <a:tc>
                  <a:txBody>
                    <a:bodyPr/>
                    <a:lstStyle/>
                    <a:p>
                      <a:r>
                        <a:rPr lang="ru-RU" sz="700" b="1" dirty="0"/>
                        <a:t>Всего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/>
                        <a:t>188</a:t>
                      </a:r>
                      <a:endParaRPr lang="ru-RU" sz="700" b="1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/>
                        <a:t>87</a:t>
                      </a:r>
                      <a:endParaRPr lang="ru-RU" sz="700" b="1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 b="1" dirty="0"/>
                        <a:t>0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 b="1" dirty="0"/>
                        <a:t>-18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963764"/>
                  </a:ext>
                </a:extLst>
              </a:tr>
              <a:tr h="204224">
                <a:tc>
                  <a:txBody>
                    <a:bodyPr/>
                    <a:lstStyle/>
                    <a:p>
                      <a:r>
                        <a:rPr lang="ru-RU" sz="700" dirty="0"/>
                        <a:t>Привл.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153</a:t>
                      </a:r>
                      <a:endParaRPr lang="ru-RU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476105"/>
                  </a:ext>
                </a:extLst>
              </a:tr>
              <a:tr h="204224">
                <a:tc>
                  <a:txBody>
                    <a:bodyPr/>
                    <a:lstStyle/>
                    <a:p>
                      <a:r>
                        <a:rPr lang="ru-RU" sz="700" dirty="0"/>
                        <a:t>Соб.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35</a:t>
                      </a:r>
                      <a:endParaRPr lang="ru-RU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 dirty="0"/>
                        <a:t>-18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671681"/>
                  </a:ext>
                </a:extLst>
              </a:tr>
            </a:tbl>
          </a:graphicData>
        </a:graphic>
      </p:graphicFrame>
      <p:graphicFrame>
        <p:nvGraphicFramePr>
          <p:cNvPr id="28" name="Таблица 27">
            <a:extLst>
              <a:ext uri="{FF2B5EF4-FFF2-40B4-BE49-F238E27FC236}">
                <a16:creationId xmlns:a16="http://schemas.microsoft.com/office/drawing/2014/main" id="{5F996151-146C-262C-5251-5E69B2369C86}"/>
              </a:ext>
            </a:extLst>
          </p:cNvPr>
          <p:cNvGraphicFramePr>
            <a:graphicFrameLocks noGrp="1"/>
          </p:cNvGraphicFramePr>
          <p:nvPr/>
        </p:nvGraphicFramePr>
        <p:xfrm>
          <a:off x="3778039" y="4063915"/>
          <a:ext cx="2395449" cy="594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27584">
                  <a:extLst>
                    <a:ext uri="{9D8B030D-6E8A-4147-A177-3AD203B41FA5}">
                      <a16:colId xmlns:a16="http://schemas.microsoft.com/office/drawing/2014/main" val="3839312374"/>
                    </a:ext>
                  </a:extLst>
                </a:gridCol>
                <a:gridCol w="1167865">
                  <a:extLst>
                    <a:ext uri="{9D8B030D-6E8A-4147-A177-3AD203B41FA5}">
                      <a16:colId xmlns:a16="http://schemas.microsoft.com/office/drawing/2014/main" val="3488754927"/>
                    </a:ext>
                  </a:extLst>
                </a:gridCol>
              </a:tblGrid>
              <a:tr h="161419">
                <a:tc>
                  <a:txBody>
                    <a:bodyPr/>
                    <a:lstStyle/>
                    <a:p>
                      <a:r>
                        <a:rPr lang="ru-RU" sz="700" dirty="0"/>
                        <a:t>Итого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8693932"/>
                  </a:ext>
                </a:extLst>
              </a:tr>
              <a:tr h="161419">
                <a:tc>
                  <a:txBody>
                    <a:bodyPr/>
                    <a:lstStyle/>
                    <a:p>
                      <a:r>
                        <a:rPr lang="ru-RU" sz="700" dirty="0"/>
                        <a:t>Собственные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 dirty="0"/>
                        <a:t>173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734795"/>
                  </a:ext>
                </a:extLst>
              </a:tr>
              <a:tr h="161419">
                <a:tc>
                  <a:txBody>
                    <a:bodyPr/>
                    <a:lstStyle/>
                    <a:p>
                      <a:r>
                        <a:rPr lang="ru-RU" sz="700" dirty="0"/>
                        <a:t>Привлеченные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898</a:t>
                      </a:r>
                      <a:endParaRPr lang="ru-RU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866302"/>
                  </a:ext>
                </a:extLst>
              </a:tr>
            </a:tbl>
          </a:graphicData>
        </a:graphic>
      </p:graphicFrame>
      <p:graphicFrame>
        <p:nvGraphicFramePr>
          <p:cNvPr id="29" name="Таблица 28">
            <a:extLst>
              <a:ext uri="{FF2B5EF4-FFF2-40B4-BE49-F238E27FC236}">
                <a16:creationId xmlns:a16="http://schemas.microsoft.com/office/drawing/2014/main" id="{276F890F-6390-1E53-B90F-B8A0DF47FBF4}"/>
              </a:ext>
            </a:extLst>
          </p:cNvPr>
          <p:cNvGraphicFramePr>
            <a:graphicFrameLocks noGrp="1"/>
          </p:cNvGraphicFramePr>
          <p:nvPr/>
        </p:nvGraphicFramePr>
        <p:xfrm>
          <a:off x="3778039" y="1001181"/>
          <a:ext cx="2395449" cy="7924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94076">
                  <a:extLst>
                    <a:ext uri="{9D8B030D-6E8A-4147-A177-3AD203B41FA5}">
                      <a16:colId xmlns:a16="http://schemas.microsoft.com/office/drawing/2014/main" val="3598813576"/>
                    </a:ext>
                  </a:extLst>
                </a:gridCol>
                <a:gridCol w="398740">
                  <a:extLst>
                    <a:ext uri="{9D8B030D-6E8A-4147-A177-3AD203B41FA5}">
                      <a16:colId xmlns:a16="http://schemas.microsoft.com/office/drawing/2014/main" val="2929176991"/>
                    </a:ext>
                  </a:extLst>
                </a:gridCol>
                <a:gridCol w="518149">
                  <a:extLst>
                    <a:ext uri="{9D8B030D-6E8A-4147-A177-3AD203B41FA5}">
                      <a16:colId xmlns:a16="http://schemas.microsoft.com/office/drawing/2014/main" val="2693117904"/>
                    </a:ext>
                  </a:extLst>
                </a:gridCol>
                <a:gridCol w="492242">
                  <a:extLst>
                    <a:ext uri="{9D8B030D-6E8A-4147-A177-3AD203B41FA5}">
                      <a16:colId xmlns:a16="http://schemas.microsoft.com/office/drawing/2014/main" val="207331916"/>
                    </a:ext>
                  </a:extLst>
                </a:gridCol>
                <a:gridCol w="492242">
                  <a:extLst>
                    <a:ext uri="{9D8B030D-6E8A-4147-A177-3AD203B41FA5}">
                      <a16:colId xmlns:a16="http://schemas.microsoft.com/office/drawing/2014/main" val="2189323517"/>
                    </a:ext>
                  </a:extLst>
                </a:gridCol>
              </a:tblGrid>
              <a:tr h="161776">
                <a:tc>
                  <a:txBody>
                    <a:bodyPr/>
                    <a:lstStyle/>
                    <a:p>
                      <a:r>
                        <a:rPr lang="ru-RU" sz="700" dirty="0"/>
                        <a:t>Неделя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700" dirty="0"/>
                        <a:t>ВРП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700" dirty="0"/>
                        <a:t>Экспорт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700" dirty="0"/>
                        <a:t>Импорт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700" dirty="0"/>
                        <a:t>Аренда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083031"/>
                  </a:ext>
                </a:extLst>
              </a:tr>
              <a:tr h="161776">
                <a:tc>
                  <a:txBody>
                    <a:bodyPr/>
                    <a:lstStyle/>
                    <a:p>
                      <a:r>
                        <a:rPr lang="ru-RU" sz="700" b="1" dirty="0"/>
                        <a:t>Всего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 b="1" dirty="0"/>
                        <a:t>331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 b="1" dirty="0"/>
                        <a:t>362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 b="1" dirty="0"/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218986"/>
                  </a:ext>
                </a:extLst>
              </a:tr>
              <a:tr h="161776">
                <a:tc>
                  <a:txBody>
                    <a:bodyPr/>
                    <a:lstStyle/>
                    <a:p>
                      <a:r>
                        <a:rPr lang="ru-RU" sz="700" dirty="0"/>
                        <a:t>Привл.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 dirty="0"/>
                        <a:t>324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 dirty="0"/>
                        <a:t>362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01443"/>
                  </a:ext>
                </a:extLst>
              </a:tr>
              <a:tr h="161776">
                <a:tc>
                  <a:txBody>
                    <a:bodyPr/>
                    <a:lstStyle/>
                    <a:p>
                      <a:r>
                        <a:rPr lang="ru-RU" sz="700" dirty="0"/>
                        <a:t>Соб.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 dirty="0"/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476218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4F7C745A-D136-A87F-7777-5A7BE26A1800}"/>
              </a:ext>
            </a:extLst>
          </p:cNvPr>
          <p:cNvGraphicFramePr>
            <a:graphicFrameLocks noGrp="1"/>
          </p:cNvGraphicFramePr>
          <p:nvPr/>
        </p:nvGraphicFramePr>
        <p:xfrm>
          <a:off x="6322447" y="1015898"/>
          <a:ext cx="2641270" cy="3962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701283">
                  <a:extLst>
                    <a:ext uri="{9D8B030D-6E8A-4147-A177-3AD203B41FA5}">
                      <a16:colId xmlns:a16="http://schemas.microsoft.com/office/drawing/2014/main" val="2917119170"/>
                    </a:ext>
                  </a:extLst>
                </a:gridCol>
                <a:gridCol w="348324">
                  <a:extLst>
                    <a:ext uri="{9D8B030D-6E8A-4147-A177-3AD203B41FA5}">
                      <a16:colId xmlns:a16="http://schemas.microsoft.com/office/drawing/2014/main" val="926376407"/>
                    </a:ext>
                  </a:extLst>
                </a:gridCol>
                <a:gridCol w="369283">
                  <a:extLst>
                    <a:ext uri="{9D8B030D-6E8A-4147-A177-3AD203B41FA5}">
                      <a16:colId xmlns:a16="http://schemas.microsoft.com/office/drawing/2014/main" val="2745775470"/>
                    </a:ext>
                  </a:extLst>
                </a:gridCol>
                <a:gridCol w="369283">
                  <a:extLst>
                    <a:ext uri="{9D8B030D-6E8A-4147-A177-3AD203B41FA5}">
                      <a16:colId xmlns:a16="http://schemas.microsoft.com/office/drawing/2014/main" val="1087451742"/>
                    </a:ext>
                  </a:extLst>
                </a:gridCol>
                <a:gridCol w="369283">
                  <a:extLst>
                    <a:ext uri="{9D8B030D-6E8A-4147-A177-3AD203B41FA5}">
                      <a16:colId xmlns:a16="http://schemas.microsoft.com/office/drawing/2014/main" val="1309181359"/>
                    </a:ext>
                  </a:extLst>
                </a:gridCol>
                <a:gridCol w="483814">
                  <a:extLst>
                    <a:ext uri="{9D8B030D-6E8A-4147-A177-3AD203B41FA5}">
                      <a16:colId xmlns:a16="http://schemas.microsoft.com/office/drawing/2014/main" val="1441409473"/>
                    </a:ext>
                  </a:extLst>
                </a:gridCol>
              </a:tblGrid>
              <a:tr h="142301">
                <a:tc>
                  <a:txBody>
                    <a:bodyPr/>
                    <a:lstStyle/>
                    <a:p>
                      <a:r>
                        <a:rPr lang="ru-RU" sz="700" dirty="0"/>
                        <a:t>Нед.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700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7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700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25</a:t>
                      </a:r>
                      <a:endParaRPr lang="ru-RU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700" dirty="0"/>
                        <a:t>Месяц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974461"/>
                  </a:ext>
                </a:extLst>
              </a:tr>
              <a:tr h="142301">
                <a:tc>
                  <a:txBody>
                    <a:bodyPr/>
                    <a:lstStyle/>
                    <a:p>
                      <a:r>
                        <a:rPr lang="ru-RU" sz="700" dirty="0"/>
                        <a:t>Кол-во суток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1</a:t>
                      </a:r>
                      <a:r>
                        <a:rPr lang="ru-RU" sz="7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1</a:t>
                      </a:r>
                      <a:r>
                        <a:rPr lang="ru-RU" sz="7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11</a:t>
                      </a:r>
                      <a:endParaRPr lang="ru-RU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15</a:t>
                      </a:r>
                      <a:endParaRPr lang="ru-RU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b="1" dirty="0"/>
                        <a:t>12</a:t>
                      </a:r>
                      <a:endParaRPr lang="ru-RU" sz="7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069385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F076B59-E9C4-91F6-0759-C3F24EF7BB51}"/>
              </a:ext>
            </a:extLst>
          </p:cNvPr>
          <p:cNvSpPr txBox="1"/>
          <p:nvPr/>
        </p:nvSpPr>
        <p:spPr>
          <a:xfrm>
            <a:off x="3548383" y="3884356"/>
            <a:ext cx="17326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00" b="1" dirty="0"/>
              <a:t>      КТК в оперировании</a:t>
            </a:r>
            <a:r>
              <a:rPr lang="ru-RU" sz="900" dirty="0"/>
              <a:t>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9063" y="1521249"/>
            <a:ext cx="29351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800" b="1" dirty="0">
                <a:latin typeface="Circe Light"/>
              </a:rPr>
              <a:t>Квота в КП ВРП МАЙ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057B63-396A-40E2-173B-2E3224968615}"/>
              </a:ext>
            </a:extLst>
          </p:cNvPr>
          <p:cNvSpPr txBox="1"/>
          <p:nvPr/>
        </p:nvSpPr>
        <p:spPr bwMode="auto">
          <a:xfrm>
            <a:off x="9660467" y="869151"/>
            <a:ext cx="19455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900" b="1" dirty="0">
                <a:latin typeface="Circe Light"/>
              </a:rPr>
              <a:t>Динамика отправок </a:t>
            </a:r>
            <a:r>
              <a:rPr lang="en-US" sz="900" b="1" dirty="0">
                <a:latin typeface="Circe Light"/>
              </a:rPr>
              <a:t> </a:t>
            </a:r>
            <a:r>
              <a:rPr lang="ru-RU" sz="900" b="1" dirty="0">
                <a:latin typeface="Circe Light"/>
              </a:rPr>
              <a:t>ВРП 2026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38910A-DAC8-155A-C3D7-E113E7D52ADF}"/>
              </a:ext>
            </a:extLst>
          </p:cNvPr>
          <p:cNvSpPr txBox="1"/>
          <p:nvPr/>
        </p:nvSpPr>
        <p:spPr bwMode="auto">
          <a:xfrm>
            <a:off x="3695631" y="1829979"/>
            <a:ext cx="29351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900" b="1" dirty="0">
                <a:latin typeface="Calibri" panose="020F0502020204030204" pitchFamily="34" charset="0"/>
                <a:cs typeface="Calibri" panose="020F0502020204030204" pitchFamily="34" charset="0"/>
              </a:rPr>
              <a:t>Использовано </a:t>
            </a:r>
            <a:r>
              <a:rPr lang="ru-RU" sz="900" b="1" dirty="0" err="1">
                <a:latin typeface="Calibri" panose="020F0502020204030204" pitchFamily="34" charset="0"/>
                <a:cs typeface="Calibri" panose="020F0502020204030204" pitchFamily="34" charset="0"/>
              </a:rPr>
              <a:t>ктк</a:t>
            </a:r>
            <a:r>
              <a:rPr lang="ru-RU" sz="900" b="1" dirty="0">
                <a:latin typeface="Calibri" panose="020F0502020204030204" pitchFamily="34" charset="0"/>
                <a:cs typeface="Calibri" panose="020F0502020204030204" pitchFamily="34" charset="0"/>
              </a:rPr>
              <a:t> ИЮНЬ: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FFACB6-C44C-8463-44A0-A65CC7B99E2F}"/>
              </a:ext>
            </a:extLst>
          </p:cNvPr>
          <p:cNvSpPr txBox="1"/>
          <p:nvPr/>
        </p:nvSpPr>
        <p:spPr bwMode="auto">
          <a:xfrm>
            <a:off x="3682495" y="794627"/>
            <a:ext cx="29351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900" b="1" dirty="0">
                <a:latin typeface="Calibri" panose="020F0502020204030204" pitchFamily="34" charset="0"/>
                <a:cs typeface="Calibri" panose="020F0502020204030204" pitchFamily="34" charset="0"/>
              </a:rPr>
              <a:t>Использовано </a:t>
            </a:r>
            <a:r>
              <a:rPr lang="ru-RU" sz="900" b="1" dirty="0" err="1">
                <a:latin typeface="Calibri" panose="020F0502020204030204" pitchFamily="34" charset="0"/>
                <a:cs typeface="Calibri" panose="020F0502020204030204" pitchFamily="34" charset="0"/>
              </a:rPr>
              <a:t>ктк</a:t>
            </a:r>
            <a:r>
              <a:rPr lang="ru-RU" sz="900" b="1" dirty="0">
                <a:latin typeface="Calibri" panose="020F0502020204030204" pitchFamily="34" charset="0"/>
                <a:cs typeface="Calibri" panose="020F0502020204030204" pitchFamily="34" charset="0"/>
              </a:rPr>
              <a:t> МАЙ :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A1D6C4E-1247-45C1-5FB5-9415F1927D68}"/>
              </a:ext>
            </a:extLst>
          </p:cNvPr>
          <p:cNvSpPr txBox="1"/>
          <p:nvPr/>
        </p:nvSpPr>
        <p:spPr bwMode="auto">
          <a:xfrm>
            <a:off x="6236683" y="3296594"/>
            <a:ext cx="29351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800" b="1" dirty="0">
                <a:latin typeface="Circe Light"/>
              </a:rPr>
              <a:t>ВРП ИЮНЬ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63852F-6903-5CCD-DF19-73AAEFC72F6D}"/>
              </a:ext>
            </a:extLst>
          </p:cNvPr>
          <p:cNvSpPr txBox="1"/>
          <p:nvPr/>
        </p:nvSpPr>
        <p:spPr bwMode="auto">
          <a:xfrm>
            <a:off x="6227694" y="769003"/>
            <a:ext cx="29351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900" b="1" dirty="0">
                <a:latin typeface="Calibri" panose="020F0502020204030204" pitchFamily="34" charset="0"/>
                <a:cs typeface="Calibri" panose="020F0502020204030204" pitchFamily="34" charset="0"/>
              </a:rPr>
              <a:t>Ожидание погрузки, сут.: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9EB06C9B-4FD9-B006-1A0E-66A31815C747}"/>
              </a:ext>
            </a:extLst>
          </p:cNvPr>
          <p:cNvGraphicFramePr>
            <a:graphicFrameLocks noGrp="1"/>
          </p:cNvGraphicFramePr>
          <p:nvPr/>
        </p:nvGraphicFramePr>
        <p:xfrm>
          <a:off x="3778039" y="4707965"/>
          <a:ext cx="2395449" cy="3962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27584">
                  <a:extLst>
                    <a:ext uri="{9D8B030D-6E8A-4147-A177-3AD203B41FA5}">
                      <a16:colId xmlns:a16="http://schemas.microsoft.com/office/drawing/2014/main" val="3839312374"/>
                    </a:ext>
                  </a:extLst>
                </a:gridCol>
                <a:gridCol w="1167865">
                  <a:extLst>
                    <a:ext uri="{9D8B030D-6E8A-4147-A177-3AD203B41FA5}">
                      <a16:colId xmlns:a16="http://schemas.microsoft.com/office/drawing/2014/main" val="3488754927"/>
                    </a:ext>
                  </a:extLst>
                </a:gridCol>
              </a:tblGrid>
              <a:tr h="161419">
                <a:tc>
                  <a:txBody>
                    <a:bodyPr/>
                    <a:lstStyle/>
                    <a:p>
                      <a:r>
                        <a:rPr lang="ru-RU" sz="700" dirty="0"/>
                        <a:t>Итого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 dirty="0"/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8693932"/>
                  </a:ext>
                </a:extLst>
              </a:tr>
              <a:tr h="161419">
                <a:tc>
                  <a:txBody>
                    <a:bodyPr/>
                    <a:lstStyle/>
                    <a:p>
                      <a:r>
                        <a:rPr lang="ru-RU" sz="700" dirty="0"/>
                        <a:t>Собственные в аренде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00" dirty="0"/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632073"/>
                  </a:ext>
                </a:extLst>
              </a:tr>
            </a:tbl>
          </a:graphicData>
        </a:graphic>
      </p:graphicFrame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EBF42A69-D387-25FD-E20F-4713554BF50D}"/>
              </a:ext>
            </a:extLst>
          </p:cNvPr>
          <p:cNvGraphicFramePr>
            <a:graphicFrameLocks noGrp="1"/>
          </p:cNvGraphicFramePr>
          <p:nvPr/>
        </p:nvGraphicFramePr>
        <p:xfrm>
          <a:off x="6307957" y="1737369"/>
          <a:ext cx="2667494" cy="1395429"/>
        </p:xfrm>
        <a:graphic>
          <a:graphicData uri="http://schemas.openxmlformats.org/drawingml/2006/table">
            <a:tbl>
              <a:tblPr/>
              <a:tblGrid>
                <a:gridCol w="444582">
                  <a:extLst>
                    <a:ext uri="{9D8B030D-6E8A-4147-A177-3AD203B41FA5}">
                      <a16:colId xmlns:a16="http://schemas.microsoft.com/office/drawing/2014/main" val="2005922950"/>
                    </a:ext>
                  </a:extLst>
                </a:gridCol>
                <a:gridCol w="862623">
                  <a:extLst>
                    <a:ext uri="{9D8B030D-6E8A-4147-A177-3AD203B41FA5}">
                      <a16:colId xmlns:a16="http://schemas.microsoft.com/office/drawing/2014/main" val="3763023694"/>
                    </a:ext>
                  </a:extLst>
                </a:gridCol>
                <a:gridCol w="331779">
                  <a:extLst>
                    <a:ext uri="{9D8B030D-6E8A-4147-A177-3AD203B41FA5}">
                      <a16:colId xmlns:a16="http://schemas.microsoft.com/office/drawing/2014/main" val="672837200"/>
                    </a:ext>
                  </a:extLst>
                </a:gridCol>
                <a:gridCol w="325141">
                  <a:extLst>
                    <a:ext uri="{9D8B030D-6E8A-4147-A177-3AD203B41FA5}">
                      <a16:colId xmlns:a16="http://schemas.microsoft.com/office/drawing/2014/main" val="1178556493"/>
                    </a:ext>
                  </a:extLst>
                </a:gridCol>
                <a:gridCol w="358320">
                  <a:extLst>
                    <a:ext uri="{9D8B030D-6E8A-4147-A177-3AD203B41FA5}">
                      <a16:colId xmlns:a16="http://schemas.microsoft.com/office/drawing/2014/main" val="1458795946"/>
                    </a:ext>
                  </a:extLst>
                </a:gridCol>
                <a:gridCol w="345049">
                  <a:extLst>
                    <a:ext uri="{9D8B030D-6E8A-4147-A177-3AD203B41FA5}">
                      <a16:colId xmlns:a16="http://schemas.microsoft.com/office/drawing/2014/main" val="2318212981"/>
                    </a:ext>
                  </a:extLst>
                </a:gridCol>
              </a:tblGrid>
              <a:tr h="135463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dirty="0">
                          <a:effectLst/>
                        </a:rPr>
                        <a:t>Период</a:t>
                      </a: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dirty="0">
                          <a:effectLst/>
                        </a:rPr>
                        <a:t>Май</a:t>
                      </a: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ru-RU" sz="800" dirty="0">
                          <a:effectLst/>
                        </a:rPr>
                        <a:t>Бронь</a:t>
                      </a: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A7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ru-RU" sz="800">
                          <a:effectLst/>
                        </a:rPr>
                        <a:t>Факт</a:t>
                      </a: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7B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7789352"/>
                  </a:ext>
                </a:extLst>
              </a:tr>
              <a:tr h="135463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>
                          <a:effectLst/>
                        </a:rPr>
                        <a:t>п/п</a:t>
                      </a: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dirty="0">
                          <a:effectLst/>
                        </a:rPr>
                        <a:t>Направление</a:t>
                      </a: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PT" sz="800">
                          <a:effectLst/>
                        </a:rPr>
                        <a:t>SOC</a:t>
                      </a: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>
                          <a:effectLst/>
                        </a:rPr>
                        <a:t>СОС</a:t>
                      </a: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PT" sz="800">
                          <a:effectLst/>
                        </a:rPr>
                        <a:t>SOC</a:t>
                      </a: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>
                          <a:effectLst/>
                        </a:rPr>
                        <a:t>СОС</a:t>
                      </a: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7B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031517"/>
                  </a:ext>
                </a:extLst>
              </a:tr>
              <a:tr h="135463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>
                          <a:effectLst/>
                        </a:rPr>
                        <a:t>1</a:t>
                      </a: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ru-RU" sz="800" dirty="0">
                          <a:effectLst/>
                        </a:rPr>
                        <a:t>МСК-КРСН</a:t>
                      </a: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dirty="0">
                          <a:effectLst/>
                        </a:rPr>
                        <a:t>294</a:t>
                      </a: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ru-RU" sz="800" dirty="0">
                          <a:effectLst/>
                        </a:rPr>
                        <a:t>      1</a:t>
                      </a: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dirty="0">
                          <a:effectLst/>
                        </a:rPr>
                        <a:t>291</a:t>
                      </a: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ru-RU" sz="800" dirty="0">
                          <a:effectLst/>
                        </a:rPr>
                        <a:t>      1</a:t>
                      </a: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9689940"/>
                  </a:ext>
                </a:extLst>
              </a:tr>
              <a:tr h="135463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>
                          <a:effectLst/>
                        </a:rPr>
                        <a:t>2</a:t>
                      </a: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ru-RU" sz="800">
                          <a:effectLst/>
                        </a:rPr>
                        <a:t>МСК-ХАБ</a:t>
                      </a: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ru-RU" sz="800" dirty="0">
                        <a:effectLst/>
                      </a:endParaRP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ru-RU" sz="800" dirty="0">
                        <a:effectLst/>
                      </a:endParaRP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ru-RU" sz="800" dirty="0">
                        <a:effectLst/>
                      </a:endParaRP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ru-RU" sz="800">
                        <a:effectLst/>
                      </a:endParaRP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6271251"/>
                  </a:ext>
                </a:extLst>
              </a:tr>
              <a:tr h="135463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>
                          <a:effectLst/>
                        </a:rPr>
                        <a:t>3</a:t>
                      </a: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ru-RU" sz="800">
                          <a:effectLst/>
                        </a:rPr>
                        <a:t>МСК-ОМСК</a:t>
                      </a: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ru-RU" sz="800">
                        <a:effectLst/>
                      </a:endParaRP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ru-RU" sz="800" dirty="0">
                        <a:effectLst/>
                      </a:endParaRP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ru-RU" sz="800" dirty="0">
                        <a:effectLst/>
                      </a:endParaRP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ru-RU" sz="800">
                        <a:effectLst/>
                      </a:endParaRP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9363697"/>
                  </a:ext>
                </a:extLst>
              </a:tr>
              <a:tr h="152615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>
                          <a:effectLst/>
                        </a:rPr>
                        <a:t>4</a:t>
                      </a: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ru-RU" sz="800">
                          <a:effectLst/>
                        </a:rPr>
                        <a:t>КРСН-ВЛД/ПСЖВС</a:t>
                      </a: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ru-RU" sz="800">
                        <a:effectLst/>
                      </a:endParaRP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dirty="0">
                          <a:effectLst/>
                        </a:rPr>
                        <a:t>16</a:t>
                      </a: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ru-RU" sz="800" dirty="0">
                        <a:effectLst/>
                      </a:endParaRP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dirty="0">
                          <a:effectLst/>
                        </a:rPr>
                        <a:t>16</a:t>
                      </a: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4098971"/>
                  </a:ext>
                </a:extLst>
              </a:tr>
              <a:tr h="140486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>
                          <a:effectLst/>
                        </a:rPr>
                        <a:t>5</a:t>
                      </a: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ru-RU" sz="800">
                          <a:effectLst/>
                        </a:rPr>
                        <a:t>МСК-ВЛД/ПСЖВС</a:t>
                      </a: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ru-RU" sz="800">
                        <a:effectLst/>
                      </a:endParaRP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>
                          <a:effectLst/>
                        </a:rPr>
                        <a:t>1</a:t>
                      </a: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ru-RU" sz="800" dirty="0">
                        <a:effectLst/>
                      </a:endParaRP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dirty="0">
                          <a:effectLst/>
                        </a:rPr>
                        <a:t>1</a:t>
                      </a: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5491725"/>
                  </a:ext>
                </a:extLst>
              </a:tr>
              <a:tr h="135463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>
                          <a:effectLst/>
                        </a:rPr>
                        <a:t>6</a:t>
                      </a: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ru-RU" sz="800">
                          <a:effectLst/>
                        </a:rPr>
                        <a:t>МСК-НСК</a:t>
                      </a: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ru-RU" sz="800">
                        <a:effectLst/>
                      </a:endParaRP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ru-RU" sz="800">
                        <a:effectLst/>
                      </a:endParaRP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ru-RU" sz="800" dirty="0">
                        <a:effectLst/>
                      </a:endParaRP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ru-RU" sz="800">
                        <a:effectLst/>
                      </a:endParaRP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2204973"/>
                  </a:ext>
                </a:extLst>
              </a:tr>
              <a:tr h="264932">
                <a:tc>
                  <a:txBody>
                    <a:bodyPr/>
                    <a:lstStyle/>
                    <a:p>
                      <a:pPr rtl="0" fontAlgn="b"/>
                      <a:r>
                        <a:rPr lang="ru-RU" sz="800">
                          <a:effectLst/>
                        </a:rPr>
                        <a:t>Выполнение</a:t>
                      </a: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dirty="0">
                          <a:solidFill>
                            <a:srgbClr val="38761D"/>
                          </a:solidFill>
                          <a:effectLst/>
                        </a:rPr>
                        <a:t>99,04%</a:t>
                      </a: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ru-RU" sz="800" b="1" dirty="0">
                          <a:effectLst/>
                        </a:rPr>
                        <a:t>294</a:t>
                      </a: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ru-RU" sz="800" b="1" dirty="0">
                          <a:effectLst/>
                        </a:rPr>
                        <a:t>18</a:t>
                      </a: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ru-RU" sz="800" b="1" dirty="0">
                          <a:effectLst/>
                        </a:rPr>
                        <a:t>291</a:t>
                      </a: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ru-RU" sz="800" b="1" dirty="0">
                          <a:effectLst/>
                        </a:rPr>
                        <a:t>18</a:t>
                      </a:r>
                    </a:p>
                  </a:txBody>
                  <a:tcPr marL="13234" marR="13234" marT="8823" marB="8823" anchor="b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188203"/>
                  </a:ext>
                </a:extLst>
              </a:tr>
            </a:tbl>
          </a:graphicData>
        </a:graphic>
      </p:graphicFrame>
      <p:graphicFrame>
        <p:nvGraphicFramePr>
          <p:cNvPr id="32" name="Диаграмма 31"/>
          <p:cNvGraphicFramePr>
            <a:graphicFrameLocks/>
          </p:cNvGraphicFramePr>
          <p:nvPr/>
        </p:nvGraphicFramePr>
        <p:xfrm>
          <a:off x="9114954" y="1071790"/>
          <a:ext cx="3002698" cy="18150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3" name="Диаграмма 32"/>
          <p:cNvGraphicFramePr>
            <a:graphicFrameLocks/>
          </p:cNvGraphicFramePr>
          <p:nvPr/>
        </p:nvGraphicFramePr>
        <p:xfrm>
          <a:off x="9083714" y="2976308"/>
          <a:ext cx="3040678" cy="1881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16A08BBE-2B73-8438-FEAE-0293D3F044E6}"/>
              </a:ext>
            </a:extLst>
          </p:cNvPr>
          <p:cNvGraphicFramePr>
            <a:graphicFrameLocks noGrp="1"/>
          </p:cNvGraphicFramePr>
          <p:nvPr/>
        </p:nvGraphicFramePr>
        <p:xfrm>
          <a:off x="6307957" y="3485237"/>
          <a:ext cx="2655758" cy="1602482"/>
        </p:xfrm>
        <a:graphic>
          <a:graphicData uri="http://schemas.openxmlformats.org/drawingml/2006/table">
            <a:tbl>
              <a:tblPr/>
              <a:tblGrid>
                <a:gridCol w="442626">
                  <a:extLst>
                    <a:ext uri="{9D8B030D-6E8A-4147-A177-3AD203B41FA5}">
                      <a16:colId xmlns:a16="http://schemas.microsoft.com/office/drawing/2014/main" val="868124858"/>
                    </a:ext>
                  </a:extLst>
                </a:gridCol>
                <a:gridCol w="858827">
                  <a:extLst>
                    <a:ext uri="{9D8B030D-6E8A-4147-A177-3AD203B41FA5}">
                      <a16:colId xmlns:a16="http://schemas.microsoft.com/office/drawing/2014/main" val="1732677703"/>
                    </a:ext>
                  </a:extLst>
                </a:gridCol>
                <a:gridCol w="330318">
                  <a:extLst>
                    <a:ext uri="{9D8B030D-6E8A-4147-A177-3AD203B41FA5}">
                      <a16:colId xmlns:a16="http://schemas.microsoft.com/office/drawing/2014/main" val="3727905510"/>
                    </a:ext>
                  </a:extLst>
                </a:gridCol>
                <a:gridCol w="323712">
                  <a:extLst>
                    <a:ext uri="{9D8B030D-6E8A-4147-A177-3AD203B41FA5}">
                      <a16:colId xmlns:a16="http://schemas.microsoft.com/office/drawing/2014/main" val="2908445885"/>
                    </a:ext>
                  </a:extLst>
                </a:gridCol>
                <a:gridCol w="356744">
                  <a:extLst>
                    <a:ext uri="{9D8B030D-6E8A-4147-A177-3AD203B41FA5}">
                      <a16:colId xmlns:a16="http://schemas.microsoft.com/office/drawing/2014/main" val="1393925472"/>
                    </a:ext>
                  </a:extLst>
                </a:gridCol>
                <a:gridCol w="343531">
                  <a:extLst>
                    <a:ext uri="{9D8B030D-6E8A-4147-A177-3AD203B41FA5}">
                      <a16:colId xmlns:a16="http://schemas.microsoft.com/office/drawing/2014/main" val="3903467072"/>
                    </a:ext>
                  </a:extLst>
                </a:gridCol>
              </a:tblGrid>
              <a:tr h="140556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dirty="0">
                          <a:effectLst/>
                        </a:rPr>
                        <a:t>Период</a:t>
                      </a: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dirty="0">
                          <a:effectLst/>
                        </a:rPr>
                        <a:t>Июнь</a:t>
                      </a: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ru-RU" sz="800">
                          <a:effectLst/>
                        </a:rPr>
                        <a:t>Бронь</a:t>
                      </a: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A7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"/>
                      <a:r>
                        <a:rPr lang="ru-RU" sz="800">
                          <a:effectLst/>
                        </a:rPr>
                        <a:t>Факт</a:t>
                      </a: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7B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5085976"/>
                  </a:ext>
                </a:extLst>
              </a:tr>
              <a:tr h="140556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>
                          <a:effectLst/>
                        </a:rPr>
                        <a:t>п/п</a:t>
                      </a: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dirty="0">
                          <a:effectLst/>
                        </a:rPr>
                        <a:t>Направление</a:t>
                      </a: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PT" sz="800">
                          <a:effectLst/>
                        </a:rPr>
                        <a:t>SOC</a:t>
                      </a: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>
                          <a:effectLst/>
                        </a:rPr>
                        <a:t>СОС</a:t>
                      </a: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PT" sz="800">
                          <a:effectLst/>
                        </a:rPr>
                        <a:t>SOC</a:t>
                      </a: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>
                          <a:effectLst/>
                        </a:rPr>
                        <a:t>СОС</a:t>
                      </a: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7B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282781"/>
                  </a:ext>
                </a:extLst>
              </a:tr>
              <a:tr h="140556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>
                          <a:effectLst/>
                        </a:rPr>
                        <a:t>1</a:t>
                      </a: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ru-RU" sz="800" dirty="0">
                          <a:effectLst/>
                        </a:rPr>
                        <a:t>МСК-КРС</a:t>
                      </a: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dirty="0">
                          <a:effectLst/>
                        </a:rPr>
                        <a:t>256</a:t>
                      </a: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dirty="0">
                          <a:effectLst/>
                        </a:rPr>
                        <a:t>26</a:t>
                      </a: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dirty="0">
                          <a:effectLst/>
                        </a:rPr>
                        <a:t>193</a:t>
                      </a: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dirty="0">
                          <a:effectLst/>
                        </a:rPr>
                        <a:t>24</a:t>
                      </a: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845441"/>
                  </a:ext>
                </a:extLst>
              </a:tr>
              <a:tr h="140556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>
                          <a:effectLst/>
                        </a:rPr>
                        <a:t>2</a:t>
                      </a: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ru-RU" sz="800" dirty="0">
                          <a:effectLst/>
                        </a:rPr>
                        <a:t>МСК-ХАБ</a:t>
                      </a: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ru-RU" sz="800" dirty="0">
                        <a:effectLst/>
                      </a:endParaRP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ru-RU" sz="800">
                        <a:effectLst/>
                      </a:endParaRP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ru-RU" sz="800">
                        <a:effectLst/>
                      </a:endParaRP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ru-RU" sz="800" dirty="0">
                        <a:effectLst/>
                      </a:endParaRP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3591566"/>
                  </a:ext>
                </a:extLst>
              </a:tr>
              <a:tr h="140556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>
                          <a:effectLst/>
                        </a:rPr>
                        <a:t>3</a:t>
                      </a: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ru-RU" sz="800">
                          <a:effectLst/>
                        </a:rPr>
                        <a:t>МСК-ОМСК</a:t>
                      </a: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ru-RU" sz="800" dirty="0">
                        <a:effectLst/>
                      </a:endParaRP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ru-RU" sz="800">
                        <a:effectLst/>
                      </a:endParaRP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ru-RU" sz="800">
                        <a:effectLst/>
                      </a:endParaRP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ru-RU" sz="800" dirty="0">
                        <a:effectLst/>
                      </a:endParaRP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948324"/>
                  </a:ext>
                </a:extLst>
              </a:tr>
              <a:tr h="197655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>
                          <a:effectLst/>
                        </a:rPr>
                        <a:t>4</a:t>
                      </a: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ru-RU" sz="800">
                          <a:effectLst/>
                        </a:rPr>
                        <a:t>КРСН-ВЛД/ПСЖВС</a:t>
                      </a: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ru-RU" sz="800" dirty="0">
                        <a:effectLst/>
                      </a:endParaRP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dirty="0">
                          <a:effectLst/>
                        </a:rPr>
                        <a:t>6</a:t>
                      </a: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ru-RU" sz="800">
                        <a:effectLst/>
                      </a:endParaRP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dirty="0">
                          <a:effectLst/>
                        </a:rPr>
                        <a:t>6</a:t>
                      </a: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188289"/>
                  </a:ext>
                </a:extLst>
              </a:tr>
              <a:tr h="197655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>
                          <a:effectLst/>
                        </a:rPr>
                        <a:t>5</a:t>
                      </a: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ru-RU" sz="800">
                          <a:effectLst/>
                        </a:rPr>
                        <a:t>МСК-ВЛД/ПСЖВС</a:t>
                      </a: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ru-RU" sz="800">
                        <a:effectLst/>
                      </a:endParaRP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ru-RU" sz="800" dirty="0">
                        <a:effectLst/>
                      </a:endParaRP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ru-RU" sz="800" dirty="0">
                        <a:effectLst/>
                      </a:endParaRP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ru-RU" sz="800" dirty="0">
                        <a:effectLst/>
                      </a:endParaRP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1620275"/>
                  </a:ext>
                </a:extLst>
              </a:tr>
              <a:tr h="140556"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>
                          <a:effectLst/>
                        </a:rPr>
                        <a:t>6</a:t>
                      </a: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ru-RU" sz="800">
                          <a:effectLst/>
                        </a:rPr>
                        <a:t>МСК-НСК</a:t>
                      </a: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ru-RU" sz="800">
                        <a:effectLst/>
                      </a:endParaRP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ru-RU" sz="800" dirty="0">
                          <a:effectLst/>
                        </a:rPr>
                        <a:t>     1</a:t>
                      </a: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ru-RU" sz="800" dirty="0">
                        <a:effectLst/>
                      </a:endParaRP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ru-RU" sz="800">
                        <a:effectLst/>
                      </a:endParaRP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8159940"/>
                  </a:ext>
                </a:extLst>
              </a:tr>
              <a:tr h="251088">
                <a:tc>
                  <a:txBody>
                    <a:bodyPr/>
                    <a:lstStyle/>
                    <a:p>
                      <a:pPr rtl="0" fontAlgn="b"/>
                      <a:r>
                        <a:rPr lang="ru-RU" sz="800">
                          <a:effectLst/>
                        </a:rPr>
                        <a:t>Выполнение</a:t>
                      </a: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1" dirty="0">
                          <a:solidFill>
                            <a:srgbClr val="38761D"/>
                          </a:solidFill>
                          <a:effectLst/>
                        </a:rPr>
                        <a:t>77%</a:t>
                      </a: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ru-RU" sz="800" b="1" dirty="0">
                          <a:effectLst/>
                        </a:rPr>
                        <a:t>256</a:t>
                      </a: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ru-RU" sz="800" b="1" dirty="0">
                          <a:effectLst/>
                        </a:rPr>
                        <a:t>33</a:t>
                      </a: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ru-RU" sz="800" b="1" dirty="0">
                          <a:effectLst/>
                        </a:rPr>
                        <a:t>193</a:t>
                      </a: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ru-RU" sz="800" b="1" dirty="0">
                          <a:effectLst/>
                        </a:rPr>
                        <a:t>30</a:t>
                      </a:r>
                    </a:p>
                  </a:txBody>
                  <a:tcPr marL="24836" marR="24836" marT="16558" marB="16558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04279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C10975EA-BDF7-425F-A07F-D7FD991E93B8}"/>
              </a:ext>
            </a:extLst>
          </p:cNvPr>
          <p:cNvSpPr txBox="1">
            <a:spLocks/>
          </p:cNvSpPr>
          <p:nvPr/>
        </p:nvSpPr>
        <p:spPr>
          <a:xfrm>
            <a:off x="26634" y="-1"/>
            <a:ext cx="12192000" cy="470517"/>
          </a:xfrm>
          <a:prstGeom prst="rect">
            <a:avLst/>
          </a:prstGeom>
          <a:solidFill>
            <a:srgbClr val="1C125C"/>
          </a:solidFill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solidFill>
                  <a:schemeClr val="bg1"/>
                </a:solidFill>
                <a:latin typeface="Circe Light" panose="020B0402020203020203" pitchFamily="34" charset="-52"/>
              </a:rPr>
              <a:t>ПЭО</a:t>
            </a:r>
            <a:r>
              <a:rPr lang="en-US" sz="3600" dirty="0">
                <a:solidFill>
                  <a:schemeClr val="bg1"/>
                </a:solidFill>
                <a:latin typeface="Circe Light" panose="020B0402020203020203" pitchFamily="34" charset="-52"/>
              </a:rPr>
              <a:t>– </a:t>
            </a:r>
            <a:r>
              <a:rPr lang="ru-RU" sz="3600" dirty="0">
                <a:solidFill>
                  <a:schemeClr val="bg1"/>
                </a:solidFill>
                <a:latin typeface="Circe Light" panose="020B0402020203020203" pitchFamily="34" charset="-52"/>
              </a:rPr>
              <a:t>Коротков А. </a:t>
            </a:r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-1" y="470517"/>
            <a:ext cx="5956916" cy="429627"/>
          </a:xfrm>
          <a:solidFill>
            <a:srgbClr val="9E89C1"/>
          </a:solidFill>
        </p:spPr>
        <p:txBody>
          <a:bodyPr>
            <a:normAutofit fontScale="90000"/>
          </a:bodyPr>
          <a:lstStyle/>
          <a:p>
            <a:pPr algn="ctr"/>
            <a:r>
              <a:rPr lang="ru-RU" sz="2400" dirty="0">
                <a:latin typeface="Circe Light"/>
              </a:rPr>
              <a:t>Ключевые события прошлой недели:</a:t>
            </a:r>
          </a:p>
        </p:txBody>
      </p:sp>
      <p:sp>
        <p:nvSpPr>
          <p:cNvPr id="12" name="Заголовок 5"/>
          <p:cNvSpPr txBox="1">
            <a:spLocks/>
          </p:cNvSpPr>
          <p:nvPr/>
        </p:nvSpPr>
        <p:spPr>
          <a:xfrm>
            <a:off x="-3" y="2792963"/>
            <a:ext cx="5965795" cy="429627"/>
          </a:xfrm>
          <a:prstGeom prst="rect">
            <a:avLst/>
          </a:prstGeom>
          <a:solidFill>
            <a:srgbClr val="9E89C1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>
                <a:latin typeface="Circe Light"/>
              </a:rPr>
              <a:t>Ключевые планы новой недели:</a:t>
            </a:r>
          </a:p>
        </p:txBody>
      </p:sp>
      <p:sp>
        <p:nvSpPr>
          <p:cNvPr id="13" name="Заголовок 5"/>
          <p:cNvSpPr txBox="1">
            <a:spLocks/>
          </p:cNvSpPr>
          <p:nvPr/>
        </p:nvSpPr>
        <p:spPr>
          <a:xfrm>
            <a:off x="17754" y="900143"/>
            <a:ext cx="5956916" cy="18769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dirty="0">
                <a:solidFill>
                  <a:schemeClr val="bg2">
                    <a:lumMod val="75000"/>
                  </a:schemeClr>
                </a:solidFill>
                <a:latin typeface="Circe Light"/>
              </a:rPr>
              <a:t>Пишем сюда события прошлой недели, пунктами, кратко, основы:</a:t>
            </a:r>
            <a:endParaRPr lang="en-US" sz="1600" dirty="0">
              <a:solidFill>
                <a:schemeClr val="bg2">
                  <a:lumMod val="75000"/>
                </a:schemeClr>
              </a:solidFill>
              <a:latin typeface="Circe Light"/>
            </a:endParaRPr>
          </a:p>
          <a:p>
            <a:pPr marL="342900" indent="-342900">
              <a:buAutoNum type="arabicParenR"/>
            </a:pPr>
            <a:endParaRPr lang="ru-RU" sz="1600" dirty="0">
              <a:latin typeface="Circe Light"/>
            </a:endParaRPr>
          </a:p>
          <a:p>
            <a:pPr marL="342900" indent="-342900">
              <a:buAutoNum type="arabicParenR"/>
            </a:pPr>
            <a:r>
              <a:rPr lang="ru-RU" sz="1600" dirty="0">
                <a:latin typeface="Circe Light"/>
              </a:rPr>
              <a:t>Еженедельной сбор управленческой отчетности</a:t>
            </a:r>
          </a:p>
          <a:p>
            <a:pPr marL="342900" indent="-342900">
              <a:buFontTx/>
              <a:buAutoNum type="arabicParenR"/>
            </a:pPr>
            <a:r>
              <a:rPr lang="ru-RU" sz="1600" dirty="0">
                <a:latin typeface="Circe Light"/>
              </a:rPr>
              <a:t>Подведение окончательных итогов БДР за май</a:t>
            </a:r>
          </a:p>
          <a:p>
            <a:pPr marL="342900" indent="-342900">
              <a:buAutoNum type="arabicParenR"/>
            </a:pPr>
            <a:r>
              <a:rPr lang="ru-RU" sz="1600" dirty="0">
                <a:latin typeface="Circe Light"/>
              </a:rPr>
              <a:t>Тестирование консолидированной базы 1С</a:t>
            </a:r>
            <a:endParaRPr lang="en-US" sz="1600" dirty="0">
              <a:latin typeface="Circe Light"/>
            </a:endParaRPr>
          </a:p>
          <a:p>
            <a:pPr marL="342900" indent="-342900">
              <a:buAutoNum type="arabicParenR"/>
            </a:pPr>
            <a:endParaRPr lang="ru-RU" sz="1600" dirty="0">
              <a:latin typeface="Circe Light"/>
            </a:endParaRPr>
          </a:p>
          <a:p>
            <a:endParaRPr lang="ru-RU" sz="1600" dirty="0">
              <a:latin typeface="Circe Light"/>
            </a:endParaRPr>
          </a:p>
          <a:p>
            <a:pPr marL="342900" indent="-342900">
              <a:buAutoNum type="arabicParenR"/>
            </a:pPr>
            <a:endParaRPr lang="ru-RU" sz="100" dirty="0">
              <a:latin typeface="Circe Light"/>
            </a:endParaRPr>
          </a:p>
        </p:txBody>
      </p:sp>
      <p:sp>
        <p:nvSpPr>
          <p:cNvPr id="16" name="Заголовок 5"/>
          <p:cNvSpPr txBox="1">
            <a:spLocks/>
          </p:cNvSpPr>
          <p:nvPr/>
        </p:nvSpPr>
        <p:spPr>
          <a:xfrm>
            <a:off x="-3" y="5709270"/>
            <a:ext cx="12183121" cy="11772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dirty="0">
                <a:solidFill>
                  <a:schemeClr val="bg2">
                    <a:lumMod val="75000"/>
                  </a:schemeClr>
                </a:solidFill>
                <a:latin typeface="Circe Light"/>
              </a:rPr>
              <a:t>Болеет:</a:t>
            </a:r>
            <a:endParaRPr lang="ru-RU" sz="1600" dirty="0">
              <a:latin typeface="Circe Light"/>
            </a:endParaRPr>
          </a:p>
          <a:p>
            <a:r>
              <a:rPr lang="ru-RU" sz="1600" dirty="0">
                <a:solidFill>
                  <a:schemeClr val="bg2">
                    <a:lumMod val="75000"/>
                  </a:schemeClr>
                </a:solidFill>
                <a:latin typeface="Circe Light"/>
              </a:rPr>
              <a:t>В командировке:</a:t>
            </a:r>
          </a:p>
          <a:p>
            <a:r>
              <a:rPr lang="ru-RU" sz="1600" dirty="0">
                <a:solidFill>
                  <a:schemeClr val="bg2">
                    <a:lumMod val="75000"/>
                  </a:schemeClr>
                </a:solidFill>
                <a:latin typeface="Circe Light"/>
              </a:rPr>
              <a:t>Увольняются:</a:t>
            </a:r>
            <a:r>
              <a:rPr lang="en-US" sz="1600">
                <a:solidFill>
                  <a:schemeClr val="bg2">
                    <a:lumMod val="75000"/>
                  </a:schemeClr>
                </a:solidFill>
                <a:latin typeface="Circe Light"/>
              </a:rPr>
              <a:t> </a:t>
            </a:r>
            <a:endParaRPr lang="ru-RU" sz="1600" dirty="0">
              <a:latin typeface="Circe Light"/>
            </a:endParaRPr>
          </a:p>
          <a:p>
            <a:r>
              <a:rPr lang="ru-RU" sz="1600" dirty="0">
                <a:solidFill>
                  <a:schemeClr val="bg2">
                    <a:lumMod val="75000"/>
                  </a:schemeClr>
                </a:solidFill>
                <a:latin typeface="Circe Light"/>
              </a:rPr>
              <a:t>Прием на работу : </a:t>
            </a:r>
            <a:endParaRPr lang="ru-RU" sz="1600" dirty="0">
              <a:latin typeface="Circe Light"/>
            </a:endParaRPr>
          </a:p>
          <a:p>
            <a:r>
              <a:rPr lang="ru-RU" sz="1600" dirty="0">
                <a:solidFill>
                  <a:schemeClr val="bg2">
                    <a:lumMod val="75000"/>
                  </a:schemeClr>
                </a:solidFill>
                <a:latin typeface="Circe Light"/>
              </a:rPr>
              <a:t>Еще не наняты: </a:t>
            </a:r>
            <a:endParaRPr lang="ru-RU" sz="1600" dirty="0">
              <a:latin typeface="Circe Light"/>
            </a:endParaRPr>
          </a:p>
        </p:txBody>
      </p:sp>
      <p:sp>
        <p:nvSpPr>
          <p:cNvPr id="17" name="Заголовок 5"/>
          <p:cNvSpPr txBox="1">
            <a:spLocks/>
          </p:cNvSpPr>
          <p:nvPr/>
        </p:nvSpPr>
        <p:spPr>
          <a:xfrm>
            <a:off x="0" y="5263763"/>
            <a:ext cx="12191998" cy="281273"/>
          </a:xfrm>
          <a:prstGeom prst="rect">
            <a:avLst/>
          </a:prstGeom>
          <a:solidFill>
            <a:srgbClr val="9E89C1"/>
          </a:solidFill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>
                <a:latin typeface="Circe Light"/>
              </a:rPr>
              <a:t>Отпуск, отсутствия в отделе :</a:t>
            </a:r>
          </a:p>
        </p:txBody>
      </p:sp>
      <p:sp>
        <p:nvSpPr>
          <p:cNvPr id="18" name="Заголовок 5"/>
          <p:cNvSpPr txBox="1">
            <a:spLocks/>
          </p:cNvSpPr>
          <p:nvPr/>
        </p:nvSpPr>
        <p:spPr>
          <a:xfrm>
            <a:off x="5965794" y="470516"/>
            <a:ext cx="6226204" cy="429627"/>
          </a:xfrm>
          <a:prstGeom prst="rect">
            <a:avLst/>
          </a:prstGeom>
          <a:solidFill>
            <a:srgbClr val="9E89C1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>
                <a:latin typeface="Circe Light"/>
              </a:rPr>
              <a:t>Метрики, достижения, показатели:</a:t>
            </a:r>
          </a:p>
        </p:txBody>
      </p:sp>
      <p:sp>
        <p:nvSpPr>
          <p:cNvPr id="19" name="Заголовок 5"/>
          <p:cNvSpPr txBox="1">
            <a:spLocks/>
          </p:cNvSpPr>
          <p:nvPr/>
        </p:nvSpPr>
        <p:spPr>
          <a:xfrm>
            <a:off x="5965792" y="900143"/>
            <a:ext cx="6217329" cy="18769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dirty="0">
                <a:solidFill>
                  <a:schemeClr val="bg2">
                    <a:lumMod val="75000"/>
                  </a:schemeClr>
                </a:solidFill>
                <a:latin typeface="Circe Light"/>
              </a:rPr>
              <a:t>Пишем сюда цифры, проценты, показатели</a:t>
            </a:r>
          </a:p>
        </p:txBody>
      </p:sp>
      <p:sp>
        <p:nvSpPr>
          <p:cNvPr id="20" name="Заголовок 5"/>
          <p:cNvSpPr txBox="1">
            <a:spLocks/>
          </p:cNvSpPr>
          <p:nvPr/>
        </p:nvSpPr>
        <p:spPr>
          <a:xfrm>
            <a:off x="5965792" y="2792963"/>
            <a:ext cx="6217329" cy="429627"/>
          </a:xfrm>
          <a:prstGeom prst="rect">
            <a:avLst/>
          </a:prstGeom>
          <a:solidFill>
            <a:srgbClr val="9E89C1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>
                <a:latin typeface="Circe Light"/>
              </a:rPr>
              <a:t>Риски, просьбы:</a:t>
            </a:r>
          </a:p>
        </p:txBody>
      </p:sp>
      <p:sp>
        <p:nvSpPr>
          <p:cNvPr id="21" name="Заголовок 5"/>
          <p:cNvSpPr txBox="1">
            <a:spLocks/>
          </p:cNvSpPr>
          <p:nvPr/>
        </p:nvSpPr>
        <p:spPr>
          <a:xfrm>
            <a:off x="5974671" y="3233343"/>
            <a:ext cx="6208449" cy="20056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dirty="0">
                <a:solidFill>
                  <a:schemeClr val="bg2">
                    <a:lumMod val="75000"/>
                  </a:schemeClr>
                </a:solidFill>
                <a:latin typeface="Circe Light"/>
              </a:rPr>
              <a:t>Пишем сюда риски, которые хотим подсветить перед коллегами, просьбы, на которых сфокусировать внимание:</a:t>
            </a:r>
          </a:p>
          <a:p>
            <a:endParaRPr lang="ru-RU" sz="1600" dirty="0">
              <a:latin typeface="Circe Light"/>
            </a:endParaRPr>
          </a:p>
        </p:txBody>
      </p:sp>
      <p:sp>
        <p:nvSpPr>
          <p:cNvPr id="23" name="Заголовок 5"/>
          <p:cNvSpPr txBox="1">
            <a:spLocks/>
          </p:cNvSpPr>
          <p:nvPr/>
        </p:nvSpPr>
        <p:spPr>
          <a:xfrm>
            <a:off x="26634" y="3222590"/>
            <a:ext cx="5956915" cy="20304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dirty="0">
                <a:solidFill>
                  <a:schemeClr val="bg2">
                    <a:lumMod val="75000"/>
                  </a:schemeClr>
                </a:solidFill>
                <a:latin typeface="Circe Light"/>
              </a:rPr>
              <a:t>Пишем сюда ключевые задачи и фокусы новой недели:</a:t>
            </a:r>
            <a:endParaRPr lang="en-US" sz="1600" dirty="0">
              <a:solidFill>
                <a:schemeClr val="bg2">
                  <a:lumMod val="75000"/>
                </a:schemeClr>
              </a:solidFill>
              <a:latin typeface="Circe Light"/>
            </a:endParaRPr>
          </a:p>
          <a:p>
            <a:endParaRPr lang="ru-RU" sz="1600" dirty="0">
              <a:latin typeface="Circe Light"/>
            </a:endParaRPr>
          </a:p>
          <a:p>
            <a:pPr marL="342900" indent="-342900">
              <a:buFontTx/>
              <a:buAutoNum type="arabicParenR"/>
            </a:pPr>
            <a:r>
              <a:rPr lang="ru-RU" sz="1600" dirty="0">
                <a:latin typeface="Circe Light"/>
              </a:rPr>
              <a:t>Еженедельный сбор управленческой отчетности</a:t>
            </a:r>
          </a:p>
          <a:p>
            <a:pPr marL="342900" indent="-342900">
              <a:buFontTx/>
              <a:buAutoNum type="arabicParenR"/>
            </a:pPr>
            <a:r>
              <a:rPr lang="ru-RU" sz="1600" dirty="0">
                <a:latin typeface="Circe Light"/>
              </a:rPr>
              <a:t>Сбор данных плана ДДС </a:t>
            </a:r>
            <a:r>
              <a:rPr lang="ru-RU" sz="1600">
                <a:latin typeface="Circe Light"/>
              </a:rPr>
              <a:t>на июль</a:t>
            </a:r>
            <a:endParaRPr lang="ru-RU" sz="1600" dirty="0">
              <a:latin typeface="Circe Light"/>
            </a:endParaRPr>
          </a:p>
          <a:p>
            <a:pPr marL="342900" indent="-342900">
              <a:buAutoNum type="arabicParenR"/>
            </a:pPr>
            <a:r>
              <a:rPr lang="ru-RU" sz="1600" dirty="0">
                <a:latin typeface="Circe Light"/>
              </a:rPr>
              <a:t>Тестирование консолидированной базы 1С</a:t>
            </a:r>
            <a:endParaRPr lang="en-US" sz="1600" dirty="0">
              <a:latin typeface="Circe Light"/>
            </a:endParaRPr>
          </a:p>
          <a:p>
            <a:pPr marL="342900" indent="-342900">
              <a:buFontTx/>
              <a:buAutoNum type="arabicParenR"/>
            </a:pPr>
            <a:endParaRPr lang="ru-RU" sz="100" dirty="0">
              <a:latin typeface="Circe Light"/>
            </a:endParaRPr>
          </a:p>
          <a:p>
            <a:pPr marL="342900" indent="-342900">
              <a:buAutoNum type="arabicParenR"/>
            </a:pPr>
            <a:endParaRPr lang="ru-RU" sz="100" dirty="0">
              <a:latin typeface="Circe Light"/>
            </a:endParaRPr>
          </a:p>
        </p:txBody>
      </p:sp>
    </p:spTree>
    <p:extLst>
      <p:ext uri="{BB962C8B-B14F-4D97-AF65-F5344CB8AC3E}">
        <p14:creationId xmlns:p14="http://schemas.microsoft.com/office/powerpoint/2010/main" val="271005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C10975EA-BDF7-425F-A07F-D7FD991E93B8}"/>
              </a:ext>
            </a:extLst>
          </p:cNvPr>
          <p:cNvSpPr txBox="1">
            <a:spLocks/>
          </p:cNvSpPr>
          <p:nvPr/>
        </p:nvSpPr>
        <p:spPr>
          <a:xfrm>
            <a:off x="-8880" y="0"/>
            <a:ext cx="12192000" cy="470517"/>
          </a:xfrm>
          <a:prstGeom prst="rect">
            <a:avLst/>
          </a:prstGeom>
          <a:solidFill>
            <a:srgbClr val="1C125C"/>
          </a:solidFill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solidFill>
                  <a:schemeClr val="bg1"/>
                </a:solidFill>
                <a:latin typeface="Circe Light" panose="020B0402020203020203" pitchFamily="34" charset="-52"/>
              </a:rPr>
              <a:t>Юридический отдел</a:t>
            </a:r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7755" y="478457"/>
            <a:ext cx="5956916" cy="413746"/>
          </a:xfrm>
          <a:solidFill>
            <a:srgbClr val="9E89C1"/>
          </a:solidFill>
        </p:spPr>
        <p:txBody>
          <a:bodyPr anchor="t">
            <a:normAutofit fontScale="90000"/>
          </a:bodyPr>
          <a:lstStyle/>
          <a:p>
            <a:pPr algn="ctr"/>
            <a:r>
              <a:rPr lang="ru-RU" sz="2400" dirty="0">
                <a:latin typeface="Circe Light"/>
              </a:rPr>
              <a:t>Судебные дела</a:t>
            </a:r>
            <a:br>
              <a:rPr lang="ru-RU" sz="2400" dirty="0">
                <a:latin typeface="Circe Light"/>
              </a:rPr>
            </a:br>
            <a:endParaRPr lang="ru-RU" sz="2400" dirty="0">
              <a:latin typeface="Circe Light"/>
            </a:endParaRPr>
          </a:p>
        </p:txBody>
      </p:sp>
      <p:sp>
        <p:nvSpPr>
          <p:cNvPr id="12" name="Заголовок 5"/>
          <p:cNvSpPr txBox="1">
            <a:spLocks/>
          </p:cNvSpPr>
          <p:nvPr/>
        </p:nvSpPr>
        <p:spPr>
          <a:xfrm>
            <a:off x="-3" y="2792963"/>
            <a:ext cx="8682276" cy="429627"/>
          </a:xfrm>
          <a:prstGeom prst="rect">
            <a:avLst/>
          </a:prstGeom>
          <a:solidFill>
            <a:srgbClr val="9E89C1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ru-RU" sz="2400" dirty="0">
              <a:latin typeface="Circe Light"/>
            </a:endParaRPr>
          </a:p>
        </p:txBody>
      </p:sp>
      <p:sp>
        <p:nvSpPr>
          <p:cNvPr id="13" name="Заголовок 5"/>
          <p:cNvSpPr txBox="1">
            <a:spLocks/>
          </p:cNvSpPr>
          <p:nvPr/>
        </p:nvSpPr>
        <p:spPr>
          <a:xfrm>
            <a:off x="26633" y="884262"/>
            <a:ext cx="5930281" cy="18928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spcBef>
                <a:spcPts val="600"/>
              </a:spcBef>
              <a:buFontTx/>
              <a:buChar char="-"/>
            </a:pPr>
            <a:r>
              <a:rPr lang="ru-RU" sz="1800" dirty="0">
                <a:latin typeface="Circe Light"/>
              </a:rPr>
              <a:t>Принято к производству исковое заявление </a:t>
            </a:r>
            <a:r>
              <a:rPr lang="ru-RU" sz="1800" dirty="0" err="1">
                <a:latin typeface="Circe Light"/>
              </a:rPr>
              <a:t>Волоткевичус</a:t>
            </a:r>
            <a:r>
              <a:rPr lang="ru-RU" sz="1800" dirty="0">
                <a:latin typeface="Circe Light"/>
              </a:rPr>
              <a:t> О.В. к ООО «СИГИР ЛОДЖИСТИКС» о взыскании неосновательного обогащения. Судебное заседание назначено на 08.07.2026;</a:t>
            </a:r>
          </a:p>
          <a:p>
            <a:pPr marL="285750" indent="-285750">
              <a:spcBef>
                <a:spcPts val="600"/>
              </a:spcBef>
              <a:buFontTx/>
              <a:buChar char="-"/>
            </a:pPr>
            <a:r>
              <a:rPr lang="ru-RU" sz="1800" dirty="0">
                <a:latin typeface="Circe Light"/>
              </a:rPr>
              <a:t>26.06.2026г. судебное заседание по делу об обжаловании действий судебного пристава</a:t>
            </a:r>
          </a:p>
        </p:txBody>
      </p:sp>
      <p:sp>
        <p:nvSpPr>
          <p:cNvPr id="16" name="Заголовок 5"/>
          <p:cNvSpPr txBox="1">
            <a:spLocks/>
          </p:cNvSpPr>
          <p:nvPr/>
        </p:nvSpPr>
        <p:spPr>
          <a:xfrm>
            <a:off x="26634" y="5569794"/>
            <a:ext cx="12183121" cy="11772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dirty="0">
                <a:solidFill>
                  <a:schemeClr val="bg2">
                    <a:lumMod val="75000"/>
                  </a:schemeClr>
                </a:solidFill>
                <a:latin typeface="Circe Light"/>
              </a:rPr>
              <a:t>Болеет: нет</a:t>
            </a:r>
          </a:p>
          <a:p>
            <a:r>
              <a:rPr lang="ru-RU" sz="1600" dirty="0">
                <a:solidFill>
                  <a:schemeClr val="bg2">
                    <a:lumMod val="75000"/>
                  </a:schemeClr>
                </a:solidFill>
                <a:latin typeface="Circe Light"/>
              </a:rPr>
              <a:t>В отпуске: нет </a:t>
            </a:r>
          </a:p>
          <a:p>
            <a:r>
              <a:rPr lang="ru-RU" sz="1600" dirty="0">
                <a:solidFill>
                  <a:schemeClr val="bg2">
                    <a:lumMod val="75000"/>
                  </a:schemeClr>
                </a:solidFill>
                <a:latin typeface="Circe Light"/>
              </a:rPr>
              <a:t>В командировке: Красноярская И.В. 26.06. с целью рассмотрения материалов налоговой проверки и участия в </a:t>
            </a:r>
            <a:r>
              <a:rPr lang="ru-RU" sz="1600">
                <a:solidFill>
                  <a:schemeClr val="bg2">
                    <a:lumMod val="75000"/>
                  </a:schemeClr>
                </a:solidFill>
                <a:latin typeface="Circe Light"/>
              </a:rPr>
              <a:t>судебном заседании</a:t>
            </a:r>
            <a:endParaRPr lang="ru-RU" sz="1600" dirty="0">
              <a:solidFill>
                <a:schemeClr val="bg2">
                  <a:lumMod val="75000"/>
                </a:schemeClr>
              </a:solidFill>
              <a:latin typeface="Circe Light"/>
            </a:endParaRPr>
          </a:p>
          <a:p>
            <a:r>
              <a:rPr lang="ru-RU" sz="1600" dirty="0">
                <a:solidFill>
                  <a:schemeClr val="bg2">
                    <a:lumMod val="75000"/>
                  </a:schemeClr>
                </a:solidFill>
                <a:latin typeface="Circe Light"/>
              </a:rPr>
              <a:t>Увольняются:  нет</a:t>
            </a:r>
          </a:p>
          <a:p>
            <a:r>
              <a:rPr lang="ru-RU" sz="1600" dirty="0">
                <a:solidFill>
                  <a:schemeClr val="bg2">
                    <a:lumMod val="75000"/>
                  </a:schemeClr>
                </a:solidFill>
                <a:latin typeface="Circe Light"/>
              </a:rPr>
              <a:t>Еще не наняты: нет.</a:t>
            </a:r>
          </a:p>
        </p:txBody>
      </p:sp>
      <p:sp>
        <p:nvSpPr>
          <p:cNvPr id="17" name="Заголовок 5"/>
          <p:cNvSpPr txBox="1">
            <a:spLocks/>
          </p:cNvSpPr>
          <p:nvPr/>
        </p:nvSpPr>
        <p:spPr>
          <a:xfrm>
            <a:off x="0" y="5115409"/>
            <a:ext cx="12191998" cy="429627"/>
          </a:xfrm>
          <a:prstGeom prst="rect">
            <a:avLst/>
          </a:prstGeom>
          <a:solidFill>
            <a:srgbClr val="9E89C1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>
                <a:latin typeface="Circe Light"/>
              </a:rPr>
              <a:t>Отпуск, отсутствия в отделе :</a:t>
            </a:r>
          </a:p>
        </p:txBody>
      </p:sp>
      <p:sp>
        <p:nvSpPr>
          <p:cNvPr id="18" name="Заголовок 5"/>
          <p:cNvSpPr txBox="1">
            <a:spLocks/>
          </p:cNvSpPr>
          <p:nvPr/>
        </p:nvSpPr>
        <p:spPr>
          <a:xfrm>
            <a:off x="5965794" y="470516"/>
            <a:ext cx="6226204" cy="429627"/>
          </a:xfrm>
          <a:prstGeom prst="rect">
            <a:avLst/>
          </a:prstGeom>
          <a:solidFill>
            <a:srgbClr val="9E89C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>
                <a:latin typeface="Circe Light"/>
              </a:rPr>
              <a:t>Итоги недели</a:t>
            </a:r>
          </a:p>
        </p:txBody>
      </p:sp>
      <p:sp>
        <p:nvSpPr>
          <p:cNvPr id="19" name="Заголовок 5"/>
          <p:cNvSpPr txBox="1">
            <a:spLocks/>
          </p:cNvSpPr>
          <p:nvPr/>
        </p:nvSpPr>
        <p:spPr>
          <a:xfrm>
            <a:off x="5965792" y="900143"/>
            <a:ext cx="6217329" cy="18769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just">
              <a:buFontTx/>
              <a:buChar char="-"/>
            </a:pPr>
            <a:r>
              <a:rPr lang="ru-RU" sz="1500" dirty="0">
                <a:latin typeface="Circe Light"/>
              </a:rPr>
              <a:t>Изменен адрес регистрации АО «СИГИР ГРУПП»</a:t>
            </a:r>
          </a:p>
        </p:txBody>
      </p:sp>
      <p:sp>
        <p:nvSpPr>
          <p:cNvPr id="20" name="Заголовок 5"/>
          <p:cNvSpPr txBox="1">
            <a:spLocks/>
          </p:cNvSpPr>
          <p:nvPr/>
        </p:nvSpPr>
        <p:spPr>
          <a:xfrm>
            <a:off x="26634" y="2792963"/>
            <a:ext cx="12156488" cy="429627"/>
          </a:xfrm>
          <a:prstGeom prst="rect">
            <a:avLst/>
          </a:prstGeom>
          <a:solidFill>
            <a:srgbClr val="9E89C1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dirty="0">
                <a:latin typeface="Circe Light"/>
              </a:rPr>
              <a:t>Важное:</a:t>
            </a:r>
          </a:p>
        </p:txBody>
      </p:sp>
      <p:sp>
        <p:nvSpPr>
          <p:cNvPr id="21" name="Заголовок 5"/>
          <p:cNvSpPr txBox="1">
            <a:spLocks/>
          </p:cNvSpPr>
          <p:nvPr/>
        </p:nvSpPr>
        <p:spPr>
          <a:xfrm>
            <a:off x="5974671" y="3233343"/>
            <a:ext cx="6208449" cy="18661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endParaRPr lang="ru-RU" sz="1600" dirty="0">
              <a:solidFill>
                <a:schemeClr val="bg2">
                  <a:lumMod val="75000"/>
                </a:schemeClr>
              </a:solidFill>
              <a:latin typeface="Circe Light"/>
            </a:endParaRPr>
          </a:p>
          <a:p>
            <a:pPr algn="just"/>
            <a:endParaRPr lang="ru-RU" sz="1600" dirty="0">
              <a:solidFill>
                <a:schemeClr val="bg2">
                  <a:lumMod val="75000"/>
                </a:schemeClr>
              </a:solidFill>
              <a:latin typeface="Circe Light"/>
            </a:endParaRPr>
          </a:p>
        </p:txBody>
      </p:sp>
      <p:sp>
        <p:nvSpPr>
          <p:cNvPr id="23" name="Заголовок 5"/>
          <p:cNvSpPr txBox="1">
            <a:spLocks/>
          </p:cNvSpPr>
          <p:nvPr/>
        </p:nvSpPr>
        <p:spPr>
          <a:xfrm>
            <a:off x="26634" y="3206708"/>
            <a:ext cx="12156486" cy="18661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1700" dirty="0">
                <a:latin typeface="Circe Light"/>
              </a:rPr>
              <a:t>Получен ответ от Ространснадзора на обращение по вопросу регистрации ООО «СИГИР ЛОДЖИСТИКС» в </a:t>
            </a:r>
            <a:r>
              <a:rPr lang="ru-RU" sz="1700" dirty="0" err="1">
                <a:latin typeface="Circe Light"/>
              </a:rPr>
              <a:t>ГосЛоге</a:t>
            </a:r>
            <a:r>
              <a:rPr lang="ru-RU" sz="1700" dirty="0">
                <a:latin typeface="Circe Light"/>
              </a:rPr>
              <a:t>. По итогу рассмотрения планируется направить пакет документов в МТУ по ЦФО для решения вопроса об исправлении технического сбоя и внесения записи в реестр </a:t>
            </a:r>
          </a:p>
        </p:txBody>
      </p:sp>
    </p:spTree>
    <p:extLst>
      <p:ext uri="{BB962C8B-B14F-4D97-AF65-F5344CB8AC3E}">
        <p14:creationId xmlns:p14="http://schemas.microsoft.com/office/powerpoint/2010/main" val="2628039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A946D49A-3400-487E-A392-F53D05FCBF29}"/>
              </a:ext>
            </a:extLst>
          </p:cNvPr>
          <p:cNvSpPr txBox="1">
            <a:spLocks/>
          </p:cNvSpPr>
          <p:nvPr/>
        </p:nvSpPr>
        <p:spPr>
          <a:xfrm>
            <a:off x="88776" y="417997"/>
            <a:ext cx="12014448" cy="58940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10000" b="1">
                <a:solidFill>
                  <a:srgbClr val="1C125C"/>
                </a:solidFill>
                <a:latin typeface="Circe Light" panose="020B0402020203020203"/>
                <a:cs typeface="Calibri Light" panose="020F0302020204030204" pitchFamily="34" charset="0"/>
              </a:rPr>
              <a:t>Главный бухгалтер</a:t>
            </a:r>
            <a:endParaRPr lang="ru-RU" sz="10000" b="1" dirty="0">
              <a:solidFill>
                <a:srgbClr val="1C125C"/>
              </a:solidFill>
              <a:latin typeface="Circe Light" panose="020B0402020203020203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2923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5"/>
          <p:cNvSpPr txBox="1">
            <a:spLocks/>
          </p:cNvSpPr>
          <p:nvPr/>
        </p:nvSpPr>
        <p:spPr>
          <a:xfrm>
            <a:off x="414027" y="3865178"/>
            <a:ext cx="1259969" cy="42962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F15E23"/>
                </a:solidFill>
                <a:effectLst/>
                <a:uLnTx/>
                <a:uFillTx/>
                <a:latin typeface="Circe Light" panose="020B0402020203020203" pitchFamily="34" charset="-52"/>
                <a:ea typeface="+mj-ea"/>
                <a:cs typeface="+mj-cs"/>
              </a:rPr>
              <a:t>Важные события: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6335363B-45DF-9751-4BD6-4C5E24766429}"/>
              </a:ext>
            </a:extLst>
          </p:cNvPr>
          <p:cNvSpPr/>
          <p:nvPr/>
        </p:nvSpPr>
        <p:spPr>
          <a:xfrm>
            <a:off x="1347794" y="5726648"/>
            <a:ext cx="3554132" cy="81480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700" b="1" dirty="0">
                <a:solidFill>
                  <a:srgbClr val="1C125C"/>
                </a:solidFill>
                <a:latin typeface="Circe Light" panose="020B0402020203020203" pitchFamily="34" charset="-52"/>
                <a:ea typeface="+mj-ea"/>
                <a:cs typeface="+mj-cs"/>
              </a:rPr>
              <a:t>отсутствие:</a:t>
            </a:r>
          </a:p>
        </p:txBody>
      </p: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52CEA26A-7F52-3B88-DA76-5BD16F089AB3}"/>
              </a:ext>
            </a:extLst>
          </p:cNvPr>
          <p:cNvCxnSpPr>
            <a:cxnSpLocks/>
          </p:cNvCxnSpPr>
          <p:nvPr/>
        </p:nvCxnSpPr>
        <p:spPr>
          <a:xfrm flipV="1">
            <a:off x="932873" y="5807667"/>
            <a:ext cx="11219411" cy="23912"/>
          </a:xfrm>
          <a:prstGeom prst="line">
            <a:avLst/>
          </a:prstGeom>
          <a:ln w="762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Заголовок 5">
            <a:extLst>
              <a:ext uri="{FF2B5EF4-FFF2-40B4-BE49-F238E27FC236}">
                <a16:creationId xmlns:a16="http://schemas.microsoft.com/office/drawing/2014/main" id="{4A4D1A42-7213-7676-C6E8-EC6269A27A08}"/>
              </a:ext>
            </a:extLst>
          </p:cNvPr>
          <p:cNvSpPr txBox="1">
            <a:spLocks/>
          </p:cNvSpPr>
          <p:nvPr/>
        </p:nvSpPr>
        <p:spPr>
          <a:xfrm>
            <a:off x="401949" y="769951"/>
            <a:ext cx="3106839" cy="42962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00" b="1" i="0" u="none" strike="noStrike" kern="1200" cap="none" spc="0" normalizeH="0" baseline="0" noProof="0" dirty="0">
                <a:ln>
                  <a:noFill/>
                </a:ln>
                <a:solidFill>
                  <a:srgbClr val="1C125C"/>
                </a:solidFill>
                <a:effectLst/>
                <a:uLnTx/>
                <a:uFillTx/>
                <a:latin typeface="Circe Light" panose="020B0402020203020203" pitchFamily="34" charset="-52"/>
                <a:ea typeface="+mj-ea"/>
                <a:cs typeface="+mj-cs"/>
              </a:rPr>
              <a:t>Открытые вакансии:</a:t>
            </a:r>
          </a:p>
        </p:txBody>
      </p:sp>
      <p:sp>
        <p:nvSpPr>
          <p:cNvPr id="67" name="Заголовок 5">
            <a:extLst>
              <a:ext uri="{FF2B5EF4-FFF2-40B4-BE49-F238E27FC236}">
                <a16:creationId xmlns:a16="http://schemas.microsoft.com/office/drawing/2014/main" id="{1D13394D-344E-A521-4F29-07FCB464C04C}"/>
              </a:ext>
            </a:extLst>
          </p:cNvPr>
          <p:cNvSpPr txBox="1">
            <a:spLocks/>
          </p:cNvSpPr>
          <p:nvPr/>
        </p:nvSpPr>
        <p:spPr>
          <a:xfrm>
            <a:off x="368394" y="442791"/>
            <a:ext cx="2119357" cy="42962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15E23"/>
                </a:solidFill>
                <a:effectLst/>
                <a:uLnTx/>
                <a:uFillTx/>
                <a:latin typeface="Circe Light" panose="020B0402020203020203" pitchFamily="34" charset="-52"/>
                <a:ea typeface="+mj-ea"/>
                <a:cs typeface="+mj-cs"/>
              </a:rPr>
              <a:t>Персонал:</a:t>
            </a:r>
          </a:p>
        </p:txBody>
      </p:sp>
      <p:sp>
        <p:nvSpPr>
          <p:cNvPr id="75" name="Заголовок 5">
            <a:extLst>
              <a:ext uri="{FF2B5EF4-FFF2-40B4-BE49-F238E27FC236}">
                <a16:creationId xmlns:a16="http://schemas.microsoft.com/office/drawing/2014/main" id="{A7AD4376-F2C2-6E62-2B55-2326376B2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650" y="7114"/>
            <a:ext cx="12196650" cy="366155"/>
          </a:xfrm>
          <a:solidFill>
            <a:srgbClr val="002060"/>
          </a:solidFill>
          <a:ln>
            <a:noFill/>
          </a:ln>
        </p:spPr>
        <p:txBody>
          <a:bodyPr anchor="t">
            <a:normAutofit fontScale="90000"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Circe Light"/>
              </a:rPr>
              <a:t>HR – </a:t>
            </a:r>
            <a:r>
              <a:rPr lang="ru-RU" sz="2400" dirty="0">
                <a:solidFill>
                  <a:schemeClr val="bg1"/>
                </a:solidFill>
                <a:latin typeface="Circe Light"/>
              </a:rPr>
              <a:t>Пласковицкая Екатерина</a:t>
            </a:r>
          </a:p>
        </p:txBody>
      </p:sp>
      <p:cxnSp>
        <p:nvCxnSpPr>
          <p:cNvPr id="79" name="Прямая соединительная линия 78">
            <a:extLst>
              <a:ext uri="{FF2B5EF4-FFF2-40B4-BE49-F238E27FC236}">
                <a16:creationId xmlns:a16="http://schemas.microsoft.com/office/drawing/2014/main" id="{3AD8CAEE-62BF-0D1B-E8AF-23C2572425DD}"/>
              </a:ext>
            </a:extLst>
          </p:cNvPr>
          <p:cNvCxnSpPr>
            <a:cxnSpLocks/>
          </p:cNvCxnSpPr>
          <p:nvPr/>
        </p:nvCxnSpPr>
        <p:spPr>
          <a:xfrm>
            <a:off x="269264" y="5504219"/>
            <a:ext cx="11835681" cy="0"/>
          </a:xfrm>
          <a:prstGeom prst="line">
            <a:avLst/>
          </a:prstGeom>
          <a:ln>
            <a:solidFill>
              <a:srgbClr val="1C125C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D6F2013-4181-64AF-AF19-79E5900DC304}"/>
              </a:ext>
            </a:extLst>
          </p:cNvPr>
          <p:cNvCxnSpPr>
            <a:cxnSpLocks/>
          </p:cNvCxnSpPr>
          <p:nvPr/>
        </p:nvCxnSpPr>
        <p:spPr>
          <a:xfrm>
            <a:off x="276027" y="3399737"/>
            <a:ext cx="11915973" cy="7784"/>
          </a:xfrm>
          <a:prstGeom prst="line">
            <a:avLst/>
          </a:prstGeom>
          <a:ln>
            <a:solidFill>
              <a:srgbClr val="1C125C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86348FEB-EFA5-F6D6-C2BD-F1DA0BF45C94}"/>
              </a:ext>
            </a:extLst>
          </p:cNvPr>
          <p:cNvCxnSpPr>
            <a:cxnSpLocks/>
          </p:cNvCxnSpPr>
          <p:nvPr/>
        </p:nvCxnSpPr>
        <p:spPr>
          <a:xfrm>
            <a:off x="4487154" y="490794"/>
            <a:ext cx="0" cy="2895777"/>
          </a:xfrm>
          <a:prstGeom prst="line">
            <a:avLst/>
          </a:prstGeom>
          <a:ln>
            <a:solidFill>
              <a:srgbClr val="1C125C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E2B95324-6347-24A6-2D5C-87C35209D55C}"/>
              </a:ext>
            </a:extLst>
          </p:cNvPr>
          <p:cNvCxnSpPr>
            <a:cxnSpLocks/>
          </p:cNvCxnSpPr>
          <p:nvPr/>
        </p:nvCxnSpPr>
        <p:spPr>
          <a:xfrm>
            <a:off x="8107155" y="490794"/>
            <a:ext cx="0" cy="2895777"/>
          </a:xfrm>
          <a:prstGeom prst="line">
            <a:avLst/>
          </a:prstGeom>
          <a:ln>
            <a:solidFill>
              <a:srgbClr val="1C125C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Заголовок 5">
            <a:extLst>
              <a:ext uri="{FF2B5EF4-FFF2-40B4-BE49-F238E27FC236}">
                <a16:creationId xmlns:a16="http://schemas.microsoft.com/office/drawing/2014/main" id="{BFADFF54-176D-0E92-F82A-650845714D4F}"/>
              </a:ext>
            </a:extLst>
          </p:cNvPr>
          <p:cNvSpPr txBox="1">
            <a:spLocks/>
          </p:cNvSpPr>
          <p:nvPr/>
        </p:nvSpPr>
        <p:spPr>
          <a:xfrm>
            <a:off x="4736496" y="747656"/>
            <a:ext cx="2780496" cy="42962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00" b="1" i="0" u="none" strike="noStrike" kern="1200" cap="none" spc="0" normalizeH="0" baseline="0" noProof="0" dirty="0">
                <a:ln>
                  <a:noFill/>
                </a:ln>
                <a:solidFill>
                  <a:srgbClr val="1C125C"/>
                </a:solidFill>
                <a:effectLst/>
                <a:uLnTx/>
                <a:uFillTx/>
                <a:latin typeface="Circe Light" panose="020B0402020203020203" pitchFamily="34" charset="-52"/>
                <a:ea typeface="+mj-ea"/>
                <a:cs typeface="+mj-cs"/>
              </a:rPr>
              <a:t>Выходят на работу:</a:t>
            </a:r>
          </a:p>
        </p:txBody>
      </p:sp>
      <p:sp>
        <p:nvSpPr>
          <p:cNvPr id="11" name="Заголовок 5">
            <a:extLst>
              <a:ext uri="{FF2B5EF4-FFF2-40B4-BE49-F238E27FC236}">
                <a16:creationId xmlns:a16="http://schemas.microsoft.com/office/drawing/2014/main" id="{9A9C7892-CBA3-30E8-9A9A-470785CCCB87}"/>
              </a:ext>
            </a:extLst>
          </p:cNvPr>
          <p:cNvSpPr txBox="1">
            <a:spLocks/>
          </p:cNvSpPr>
          <p:nvPr/>
        </p:nvSpPr>
        <p:spPr>
          <a:xfrm>
            <a:off x="8377131" y="747656"/>
            <a:ext cx="2780496" cy="42962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irce Light" panose="020B0402020203020203" pitchFamily="34" charset="-52"/>
                <a:ea typeface="+mj-ea"/>
                <a:cs typeface="+mj-cs"/>
              </a:rPr>
              <a:t>Увольнения: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CCAE628-25A1-C8D1-2929-CE50262A03F9}"/>
              </a:ext>
            </a:extLst>
          </p:cNvPr>
          <p:cNvSpPr/>
          <p:nvPr/>
        </p:nvSpPr>
        <p:spPr>
          <a:xfrm>
            <a:off x="324448" y="1159842"/>
            <a:ext cx="3494933" cy="1727689"/>
          </a:xfrm>
          <a:prstGeom prst="rect">
            <a:avLst/>
          </a:prstGeom>
          <a:noFill/>
          <a:ln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B2EE167-B82D-4316-EDEE-1BD4A151BE0D}"/>
              </a:ext>
            </a:extLst>
          </p:cNvPr>
          <p:cNvSpPr/>
          <p:nvPr/>
        </p:nvSpPr>
        <p:spPr>
          <a:xfrm>
            <a:off x="4350275" y="1159842"/>
            <a:ext cx="3494933" cy="1727689"/>
          </a:xfrm>
          <a:prstGeom prst="rect">
            <a:avLst/>
          </a:prstGeom>
          <a:noFill/>
          <a:ln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AAD16E4B-2CC4-9C72-AC68-9FBE27A8E59B}"/>
              </a:ext>
            </a:extLst>
          </p:cNvPr>
          <p:cNvSpPr/>
          <p:nvPr/>
        </p:nvSpPr>
        <p:spPr>
          <a:xfrm>
            <a:off x="8508095" y="1159842"/>
            <a:ext cx="3494933" cy="1727689"/>
          </a:xfrm>
          <a:prstGeom prst="rect">
            <a:avLst/>
          </a:prstGeom>
          <a:noFill/>
          <a:ln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Заголовок 5">
            <a:extLst>
              <a:ext uri="{FF2B5EF4-FFF2-40B4-BE49-F238E27FC236}">
                <a16:creationId xmlns:a16="http://schemas.microsoft.com/office/drawing/2014/main" id="{85AC5F8C-5388-6DFF-D4A5-CF538CE6C8D2}"/>
              </a:ext>
            </a:extLst>
          </p:cNvPr>
          <p:cNvSpPr txBox="1">
            <a:spLocks/>
          </p:cNvSpPr>
          <p:nvPr/>
        </p:nvSpPr>
        <p:spPr>
          <a:xfrm>
            <a:off x="414027" y="5710562"/>
            <a:ext cx="1259969" cy="42962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15E23"/>
                </a:solidFill>
                <a:effectLst/>
                <a:uLnTx/>
                <a:uFillTx/>
                <a:latin typeface="Circe Light" panose="020B0402020203020203" pitchFamily="34" charset="-52"/>
                <a:ea typeface="+mj-ea"/>
                <a:cs typeface="+mj-cs"/>
              </a:rPr>
              <a:t>Отдел: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0A3E1C9-DFCC-4972-B55F-F5ED340C4EBE}"/>
              </a:ext>
            </a:extLst>
          </p:cNvPr>
          <p:cNvSpPr/>
          <p:nvPr/>
        </p:nvSpPr>
        <p:spPr>
          <a:xfrm>
            <a:off x="1347794" y="6014866"/>
            <a:ext cx="5509852" cy="753274"/>
          </a:xfrm>
          <a:prstGeom prst="rect">
            <a:avLst/>
          </a:prstGeom>
          <a:noFill/>
          <a:ln w="317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>
                <a:solidFill>
                  <a:prstClr val="black"/>
                </a:solidFill>
                <a:latin typeface="Circe Light" panose="020B0402020203020203" pitchFamily="34" charset="-52"/>
              </a:rPr>
              <a:t>Все на месте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irce Light" panose="020B0402020203020203" pitchFamily="34" charset="-52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irce Light" panose="020B0402020203020203" pitchFamily="34" charset="-52"/>
              <a:ea typeface="+mn-ea"/>
              <a:cs typeface="+mn-cs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85143B1-96B7-BD5B-9344-E59BF70D58B2}"/>
              </a:ext>
            </a:extLst>
          </p:cNvPr>
          <p:cNvSpPr/>
          <p:nvPr/>
        </p:nvSpPr>
        <p:spPr>
          <a:xfrm>
            <a:off x="4929067" y="6159431"/>
            <a:ext cx="10840257" cy="753274"/>
          </a:xfrm>
          <a:prstGeom prst="rect">
            <a:avLst/>
          </a:prstGeom>
          <a:noFill/>
          <a:ln w="317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irce Light" panose="020B0402020203020203" pitchFamily="34" charset="-52"/>
              <a:ea typeface="+mn-ea"/>
              <a:cs typeface="+mn-cs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FEAD1E0-6EA0-4004-2831-D3BDC29AFF3E}"/>
              </a:ext>
            </a:extLst>
          </p:cNvPr>
          <p:cNvSpPr/>
          <p:nvPr/>
        </p:nvSpPr>
        <p:spPr>
          <a:xfrm>
            <a:off x="1351743" y="6552935"/>
            <a:ext cx="3327784" cy="753274"/>
          </a:xfrm>
          <a:prstGeom prst="rect">
            <a:avLst/>
          </a:prstGeom>
          <a:noFill/>
          <a:ln w="317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irce Light" panose="020B0402020203020203" pitchFamily="34" charset="-52"/>
                <a:ea typeface="+mn-ea"/>
                <a:cs typeface="+mn-cs"/>
              </a:rPr>
            </a:b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irce Light" panose="020B0402020203020203" pitchFamily="34" charset="-52"/>
              <a:ea typeface="+mn-ea"/>
              <a:cs typeface="+mn-cs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83DB462-8946-018C-1B08-592DA54969AC}"/>
              </a:ext>
            </a:extLst>
          </p:cNvPr>
          <p:cNvSpPr/>
          <p:nvPr/>
        </p:nvSpPr>
        <p:spPr>
          <a:xfrm>
            <a:off x="1162771" y="3797818"/>
            <a:ext cx="10840257" cy="941866"/>
          </a:xfrm>
          <a:prstGeom prst="rect">
            <a:avLst/>
          </a:prstGeom>
          <a:noFill/>
          <a:ln w="317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irce Light" panose="020B0402020203020203" pitchFamily="34" charset="-52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irce Light" panose="020B0402020203020203" pitchFamily="34" charset="-52"/>
                <a:ea typeface="+mn-ea"/>
                <a:cs typeface="+mn-cs"/>
              </a:rPr>
              <a:t> 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irce Light" panose="020B0402020203020203" pitchFamily="34" charset="-52"/>
              <a:ea typeface="+mn-ea"/>
              <a:cs typeface="+mn-cs"/>
            </a:endParaRP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84204810-4CFE-312B-9754-F1D1240D3930}"/>
              </a:ext>
            </a:extLst>
          </p:cNvPr>
          <p:cNvSpPr/>
          <p:nvPr/>
        </p:nvSpPr>
        <p:spPr>
          <a:xfrm>
            <a:off x="1264688" y="3898777"/>
            <a:ext cx="10840257" cy="1211090"/>
          </a:xfrm>
          <a:prstGeom prst="rect">
            <a:avLst/>
          </a:prstGeom>
          <a:noFill/>
          <a:ln w="317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sz="1200" dirty="0">
                <a:solidFill>
                  <a:prstClr val="black"/>
                </a:solidFill>
                <a:latin typeface="Circe Light" panose="020B0402020203020203" pitchFamily="34" charset="-52"/>
              </a:rPr>
              <a:t>Текущие активности </a:t>
            </a:r>
          </a:p>
          <a:p>
            <a:endParaRPr lang="ru-RU" sz="1200" dirty="0">
              <a:solidFill>
                <a:prstClr val="black"/>
              </a:solidFill>
              <a:latin typeface="Circe Light" panose="020B0402020203020203" pitchFamily="34" charset="-52"/>
            </a:endParaRPr>
          </a:p>
          <a:p>
            <a:endParaRPr lang="ru-RU" sz="1200" dirty="0">
              <a:solidFill>
                <a:prstClr val="black"/>
              </a:solidFill>
              <a:latin typeface="Circe Light" panose="020B0402020203020203" pitchFamily="34" charset="-52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8BFDF6B-4671-201D-1CF5-543DB835324A}"/>
              </a:ext>
            </a:extLst>
          </p:cNvPr>
          <p:cNvSpPr/>
          <p:nvPr/>
        </p:nvSpPr>
        <p:spPr>
          <a:xfrm>
            <a:off x="437379" y="1032265"/>
            <a:ext cx="3874506" cy="753274"/>
          </a:xfrm>
          <a:prstGeom prst="rect">
            <a:avLst/>
          </a:prstGeom>
          <a:noFill/>
          <a:ln w="317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ru-RU" sz="1200" dirty="0">
                <a:solidFill>
                  <a:prstClr val="black"/>
                </a:solidFill>
                <a:latin typeface="Circe Light" panose="020B0402020203020203" pitchFamily="34" charset="-52"/>
              </a:rPr>
            </a:b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irce Light" panose="020B0402020203020203" pitchFamily="34" charset="-52"/>
              <a:ea typeface="+mn-ea"/>
              <a:cs typeface="+mn-cs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E909BCD-73F0-8011-6473-2FEE2266594E}"/>
              </a:ext>
            </a:extLst>
          </p:cNvPr>
          <p:cNvSpPr/>
          <p:nvPr/>
        </p:nvSpPr>
        <p:spPr>
          <a:xfrm>
            <a:off x="4487154" y="1288368"/>
            <a:ext cx="3705283" cy="753274"/>
          </a:xfrm>
          <a:prstGeom prst="rect">
            <a:avLst/>
          </a:prstGeom>
          <a:noFill/>
          <a:ln w="317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/>
            </a:pPr>
            <a:r>
              <a:rPr lang="ru-RU" sz="1200" dirty="0">
                <a:solidFill>
                  <a:prstClr val="black"/>
                </a:solidFill>
                <a:latin typeface="Circe Light" panose="020B0402020203020203" pitchFamily="34" charset="-52"/>
              </a:rPr>
              <a:t>Бухгалтер – </a:t>
            </a:r>
            <a:r>
              <a:rPr lang="ru-RU" sz="1200">
                <a:solidFill>
                  <a:prstClr val="black"/>
                </a:solidFill>
                <a:latin typeface="Circe Light" panose="020B0402020203020203" pitchFamily="34" charset="-52"/>
              </a:rPr>
              <a:t>Куанышева </a:t>
            </a:r>
            <a:r>
              <a:rPr lang="ru-RU" sz="1200" dirty="0">
                <a:solidFill>
                  <a:prstClr val="black"/>
                </a:solidFill>
                <a:latin typeface="Circe Light" panose="020B0402020203020203" pitchFamily="34" charset="-52"/>
              </a:rPr>
              <a:t>Айгуль  22.06 </a:t>
            </a:r>
            <a:br>
              <a:rPr lang="ru-RU" sz="1200" dirty="0">
                <a:solidFill>
                  <a:prstClr val="black"/>
                </a:solidFill>
                <a:latin typeface="Circe Light" panose="020B0402020203020203" pitchFamily="34" charset="-52"/>
              </a:rPr>
            </a:br>
            <a:r>
              <a:rPr lang="ru-RU" sz="1200" dirty="0">
                <a:solidFill>
                  <a:prstClr val="black"/>
                </a:solidFill>
                <a:latin typeface="Circe Light" panose="020B0402020203020203" pitchFamily="34" charset="-52"/>
              </a:rPr>
              <a:t>Главный механик (</a:t>
            </a:r>
            <a:r>
              <a:rPr lang="ru-RU" sz="1050" dirty="0">
                <a:solidFill>
                  <a:prstClr val="black"/>
                </a:solidFill>
                <a:latin typeface="Circe Light" panose="020B0402020203020203" pitchFamily="34" charset="-52"/>
              </a:rPr>
              <a:t>МСК</a:t>
            </a:r>
            <a:r>
              <a:rPr lang="ru-RU" sz="1200" dirty="0">
                <a:solidFill>
                  <a:prstClr val="black"/>
                </a:solidFill>
                <a:latin typeface="Circe Light" panose="020B0402020203020203" pitchFamily="34" charset="-52"/>
              </a:rPr>
              <a:t>) - Качурин Алексей 22.06</a:t>
            </a:r>
            <a:br>
              <a:rPr lang="ru-RU" sz="1200" dirty="0">
                <a:solidFill>
                  <a:prstClr val="black"/>
                </a:solidFill>
                <a:latin typeface="Circe Light" panose="020B0402020203020203" pitchFamily="34" charset="-52"/>
              </a:rPr>
            </a:br>
            <a:r>
              <a:rPr lang="ru-RU" sz="1200" dirty="0">
                <a:solidFill>
                  <a:prstClr val="black"/>
                </a:solidFill>
                <a:latin typeface="Circe Light" panose="020B0402020203020203" pitchFamily="34" charset="-52"/>
              </a:rPr>
              <a:t>Зам исполнительного директора терминала - Ковалев Борис 25.06 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E9C5C3A-8D05-DF18-9D93-3668EB055E9B}"/>
              </a:ext>
            </a:extLst>
          </p:cNvPr>
          <p:cNvSpPr/>
          <p:nvPr/>
        </p:nvSpPr>
        <p:spPr>
          <a:xfrm>
            <a:off x="519904" y="1288368"/>
            <a:ext cx="3705283" cy="753274"/>
          </a:xfrm>
          <a:prstGeom prst="rect">
            <a:avLst/>
          </a:prstGeom>
          <a:noFill/>
          <a:ln w="317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/>
            </a:pPr>
            <a:r>
              <a:rPr lang="ru-RU" sz="1200" dirty="0">
                <a:solidFill>
                  <a:prstClr val="black"/>
                </a:solidFill>
                <a:latin typeface="Circe Light" panose="020B0402020203020203" pitchFamily="34" charset="-52"/>
              </a:rPr>
              <a:t>Составитель</a:t>
            </a:r>
          </a:p>
          <a:p>
            <a:pPr>
              <a:defRPr/>
            </a:pPr>
            <a:r>
              <a:rPr lang="ru-RU" sz="1200" dirty="0">
                <a:solidFill>
                  <a:prstClr val="black"/>
                </a:solidFill>
                <a:latin typeface="Circe Light" panose="020B0402020203020203" pitchFamily="34" charset="-52"/>
              </a:rPr>
              <a:t>Водитель категории Е (Москва)</a:t>
            </a:r>
          </a:p>
          <a:p>
            <a:pPr>
              <a:defRPr/>
            </a:pPr>
            <a:r>
              <a:rPr lang="ru-RU" sz="1200" dirty="0">
                <a:solidFill>
                  <a:prstClr val="black"/>
                </a:solidFill>
                <a:latin typeface="Circe Light" panose="020B0402020203020203" pitchFamily="34" charset="-52"/>
              </a:rPr>
              <a:t>Руководитель отдела логистики</a:t>
            </a:r>
          </a:p>
          <a:p>
            <a:pPr>
              <a:defRPr/>
            </a:pPr>
            <a:r>
              <a:rPr lang="ru-RU" sz="1200" dirty="0">
                <a:solidFill>
                  <a:prstClr val="black"/>
                </a:solidFill>
                <a:latin typeface="Circe Light" panose="020B0402020203020203" pitchFamily="34" charset="-52"/>
              </a:rPr>
              <a:t>Логист (диспетчер)</a:t>
            </a:r>
          </a:p>
          <a:p>
            <a:pPr>
              <a:defRPr/>
            </a:pPr>
            <a:r>
              <a:rPr lang="ru-RU" sz="1200" dirty="0">
                <a:solidFill>
                  <a:prstClr val="black"/>
                </a:solidFill>
                <a:latin typeface="Circe Light" panose="020B0402020203020203" pitchFamily="34" charset="-52"/>
              </a:rPr>
              <a:t>Специалист по учету ТМЦ</a:t>
            </a:r>
            <a:br>
              <a:rPr lang="ru-RU" sz="1200" dirty="0">
                <a:solidFill>
                  <a:prstClr val="black"/>
                </a:solidFill>
                <a:latin typeface="Circe Light" panose="020B0402020203020203" pitchFamily="34" charset="-52"/>
              </a:rPr>
            </a:br>
            <a:endParaRPr lang="ru-RU" sz="1200" dirty="0">
              <a:solidFill>
                <a:prstClr val="black"/>
              </a:solidFill>
              <a:latin typeface="Circe Light" panose="020B0402020203020203" pitchFamily="34" charset="-52"/>
            </a:endParaRPr>
          </a:p>
          <a:p>
            <a:pPr>
              <a:defRPr/>
            </a:pPr>
            <a:endParaRPr lang="ru-RU" sz="1200" dirty="0">
              <a:solidFill>
                <a:prstClr val="black"/>
              </a:solidFill>
              <a:latin typeface="Circe Light" panose="020B0402020203020203" pitchFamily="34" charset="-52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1A1B90B-1CAD-63D6-5D61-A3D88969AAF6}"/>
              </a:ext>
            </a:extLst>
          </p:cNvPr>
          <p:cNvSpPr/>
          <p:nvPr/>
        </p:nvSpPr>
        <p:spPr>
          <a:xfrm>
            <a:off x="8297745" y="1265663"/>
            <a:ext cx="3600107" cy="788110"/>
          </a:xfrm>
          <a:prstGeom prst="rect">
            <a:avLst/>
          </a:prstGeom>
          <a:noFill/>
          <a:ln w="317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/>
            </a:pPr>
            <a:endParaRPr lang="ru-RU" sz="1200" dirty="0">
              <a:solidFill>
                <a:prstClr val="black"/>
              </a:solidFill>
              <a:latin typeface="Circe Light" panose="020B0402020203020203" pitchFamily="34" charset="-52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CEAAD10-24E9-A45B-072C-1E09BFC7F8A5}"/>
              </a:ext>
            </a:extLst>
          </p:cNvPr>
          <p:cNvSpPr/>
          <p:nvPr/>
        </p:nvSpPr>
        <p:spPr>
          <a:xfrm>
            <a:off x="8297745" y="1270412"/>
            <a:ext cx="3705283" cy="753274"/>
          </a:xfrm>
          <a:prstGeom prst="rect">
            <a:avLst/>
          </a:prstGeom>
          <a:noFill/>
          <a:ln w="3175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/>
            </a:pPr>
            <a:r>
              <a:rPr lang="ru-RU" sz="1200" dirty="0">
                <a:solidFill>
                  <a:prstClr val="black"/>
                </a:solidFill>
                <a:latin typeface="Circe Light" panose="020B0402020203020203" pitchFamily="34" charset="-52"/>
              </a:rPr>
              <a:t>Руководитель отдела логистики – Федоренко Александр 22.06</a:t>
            </a:r>
          </a:p>
          <a:p>
            <a:pPr>
              <a:defRPr/>
            </a:pPr>
            <a:r>
              <a:rPr lang="ru-RU" sz="1200" dirty="0">
                <a:solidFill>
                  <a:prstClr val="black"/>
                </a:solidFill>
                <a:latin typeface="Circe Light" panose="020B0402020203020203" pitchFamily="34" charset="-52"/>
              </a:rPr>
              <a:t>Специалист по документообороту – Леонтьева Любовь 24.06</a:t>
            </a:r>
          </a:p>
          <a:p>
            <a:pPr>
              <a:defRPr/>
            </a:pPr>
            <a:r>
              <a:rPr lang="ru-RU" sz="1200" dirty="0">
                <a:solidFill>
                  <a:prstClr val="black"/>
                </a:solidFill>
                <a:latin typeface="Circe Light" panose="020B0402020203020203" pitchFamily="34" charset="-52"/>
              </a:rPr>
              <a:t>Бухгалтер – Карпенко Елена 30.06</a:t>
            </a:r>
          </a:p>
          <a:p>
            <a:pPr>
              <a:defRPr/>
            </a:pPr>
            <a:r>
              <a:rPr lang="ru-RU" sz="1200" dirty="0">
                <a:solidFill>
                  <a:prstClr val="black"/>
                </a:solidFill>
                <a:latin typeface="Circe Light" panose="020B0402020203020203" pitchFamily="34" charset="-5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89353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F4CB820B-6CC7-5820-D75C-F37F30594B39}"/>
              </a:ext>
            </a:extLst>
          </p:cNvPr>
          <p:cNvSpPr/>
          <p:nvPr/>
        </p:nvSpPr>
        <p:spPr>
          <a:xfrm>
            <a:off x="1256053" y="1409630"/>
            <a:ext cx="2683335" cy="3810529"/>
          </a:xfrm>
          <a:prstGeom prst="roundRect">
            <a:avLst/>
          </a:prstGeom>
          <a:solidFill>
            <a:srgbClr val="6F2EF0">
              <a:alpha val="15686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400" b="1" dirty="0">
                <a:solidFill>
                  <a:srgbClr val="002060"/>
                </a:solidFill>
                <a:latin typeface="Circe Light" panose="020B0402020203020203" pitchFamily="34" charset="-52"/>
              </a:rPr>
              <a:t>ЭПД</a:t>
            </a: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98CEE422-74AF-15F6-721E-6432B5A5BE0D}"/>
              </a:ext>
            </a:extLst>
          </p:cNvPr>
          <p:cNvSpPr/>
          <p:nvPr/>
        </p:nvSpPr>
        <p:spPr>
          <a:xfrm>
            <a:off x="3993685" y="1409630"/>
            <a:ext cx="2683335" cy="3810529"/>
          </a:xfrm>
          <a:prstGeom prst="roundRect">
            <a:avLst/>
          </a:prstGeom>
          <a:solidFill>
            <a:srgbClr val="6F2EF0">
              <a:alpha val="15686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400" b="1" dirty="0">
                <a:solidFill>
                  <a:srgbClr val="002060"/>
                </a:solidFill>
                <a:latin typeface="Circe Light" panose="020B0402020203020203" pitchFamily="34" charset="-52"/>
              </a:rPr>
              <a:t>1С</a:t>
            </a: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07E9B90F-8060-4A01-7FF5-D694C21F12EF}"/>
              </a:ext>
            </a:extLst>
          </p:cNvPr>
          <p:cNvSpPr/>
          <p:nvPr/>
        </p:nvSpPr>
        <p:spPr>
          <a:xfrm>
            <a:off x="6731317" y="1409630"/>
            <a:ext cx="2683335" cy="3810529"/>
          </a:xfrm>
          <a:prstGeom prst="roundRect">
            <a:avLst/>
          </a:prstGeom>
          <a:solidFill>
            <a:srgbClr val="6F2EF0">
              <a:alpha val="15686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400" b="1" dirty="0">
                <a:solidFill>
                  <a:srgbClr val="002060"/>
                </a:solidFill>
                <a:latin typeface="Circe Light" panose="020B0402020203020203" pitchFamily="34" charset="-52"/>
              </a:rPr>
              <a:t>ИТ и сети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8972BDA6-DF01-1002-255B-40A6B84D1374}"/>
              </a:ext>
            </a:extLst>
          </p:cNvPr>
          <p:cNvSpPr/>
          <p:nvPr/>
        </p:nvSpPr>
        <p:spPr>
          <a:xfrm>
            <a:off x="9468949" y="1385651"/>
            <a:ext cx="2683335" cy="3810529"/>
          </a:xfrm>
          <a:prstGeom prst="roundRect">
            <a:avLst/>
          </a:prstGeom>
          <a:solidFill>
            <a:srgbClr val="6F2EF0">
              <a:alpha val="15686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1400" b="1" dirty="0">
                <a:solidFill>
                  <a:srgbClr val="002060"/>
                </a:solidFill>
                <a:latin typeface="Circe Light" panose="020B0402020203020203" pitchFamily="34" charset="-52"/>
              </a:rPr>
              <a:t>Прочее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6335363B-45DF-9751-4BD6-4C5E24766429}"/>
              </a:ext>
            </a:extLst>
          </p:cNvPr>
          <p:cNvSpPr/>
          <p:nvPr/>
        </p:nvSpPr>
        <p:spPr>
          <a:xfrm>
            <a:off x="1257206" y="6055313"/>
            <a:ext cx="3554132" cy="81480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dirty="0">
                <a:solidFill>
                  <a:srgbClr val="573D8C"/>
                </a:solidFill>
                <a:latin typeface="Circe Bold" panose="020B0602020203020203" pitchFamily="34" charset="-52"/>
              </a:rPr>
              <a:t>Отпуск/больничный:</a:t>
            </a:r>
          </a:p>
          <a:p>
            <a:r>
              <a:rPr lang="ru-RU" sz="1100" b="1" dirty="0">
                <a:solidFill>
                  <a:schemeClr val="accent1"/>
                </a:solidFill>
                <a:latin typeface="Circe Light" panose="020B0402020203020203" pitchFamily="34" charset="-52"/>
              </a:rPr>
              <a:t>Кирилл до 24 Июня</a:t>
            </a:r>
            <a:br>
              <a:rPr lang="ru-RU" sz="1100" b="1" dirty="0">
                <a:solidFill>
                  <a:schemeClr val="accent1"/>
                </a:solidFill>
                <a:latin typeface="Circe Light" panose="020B0402020203020203" pitchFamily="34" charset="-52"/>
              </a:rPr>
            </a:br>
            <a:r>
              <a:rPr lang="ru-RU" sz="1100" b="1" dirty="0">
                <a:solidFill>
                  <a:schemeClr val="accent1"/>
                </a:solidFill>
                <a:latin typeface="Circe Light" panose="020B0402020203020203" pitchFamily="34" charset="-52"/>
              </a:rPr>
              <a:t>Вова до 5 июля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BCF1F14A-6FDA-24E9-7C51-8933152CBD72}"/>
              </a:ext>
            </a:extLst>
          </p:cNvPr>
          <p:cNvSpPr/>
          <p:nvPr/>
        </p:nvSpPr>
        <p:spPr>
          <a:xfrm>
            <a:off x="4915032" y="6055313"/>
            <a:ext cx="3586637" cy="81480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dirty="0">
                <a:solidFill>
                  <a:srgbClr val="573D8C"/>
                </a:solidFill>
                <a:latin typeface="Circe Bold" panose="020B0602020203020203" pitchFamily="34" charset="-52"/>
              </a:rPr>
              <a:t>Командировка: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EBB6B4EE-9212-B926-F679-9088D90F2025}"/>
              </a:ext>
            </a:extLst>
          </p:cNvPr>
          <p:cNvSpPr/>
          <p:nvPr/>
        </p:nvSpPr>
        <p:spPr>
          <a:xfrm>
            <a:off x="8585596" y="6075187"/>
            <a:ext cx="3606404" cy="79492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dirty="0">
                <a:solidFill>
                  <a:srgbClr val="573D8C"/>
                </a:solidFill>
                <a:latin typeface="Circe Bold" panose="020B0602020203020203" pitchFamily="34" charset="-52"/>
              </a:rPr>
              <a:t>Найм/увольнение:</a:t>
            </a:r>
          </a:p>
        </p:txBody>
      </p: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52CEA26A-7F52-3B88-DA76-5BD16F089AB3}"/>
              </a:ext>
            </a:extLst>
          </p:cNvPr>
          <p:cNvCxnSpPr>
            <a:cxnSpLocks/>
          </p:cNvCxnSpPr>
          <p:nvPr/>
        </p:nvCxnSpPr>
        <p:spPr>
          <a:xfrm flipV="1">
            <a:off x="932873" y="5807667"/>
            <a:ext cx="11219411" cy="23912"/>
          </a:xfrm>
          <a:prstGeom prst="line">
            <a:avLst/>
          </a:prstGeom>
          <a:ln w="762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218A6E05-E731-FBF1-0485-ACB8E97E97B8}"/>
              </a:ext>
            </a:extLst>
          </p:cNvPr>
          <p:cNvSpPr/>
          <p:nvPr/>
        </p:nvSpPr>
        <p:spPr>
          <a:xfrm>
            <a:off x="1238063" y="2354412"/>
            <a:ext cx="3590424" cy="16560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20000"/>
              </a:lnSpc>
            </a:pPr>
            <a:endParaRPr lang="ru-RU" sz="1400" dirty="0">
              <a:solidFill>
                <a:srgbClr val="1C125C"/>
              </a:solidFill>
              <a:latin typeface="Circe Light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ru-RU" sz="1400" dirty="0">
              <a:solidFill>
                <a:srgbClr val="1C125C"/>
              </a:solidFill>
              <a:latin typeface="Circe Light"/>
            </a:endParaRPr>
          </a:p>
        </p:txBody>
      </p:sp>
      <p:sp>
        <p:nvSpPr>
          <p:cNvPr id="41" name="Заголовок 5">
            <a:extLst>
              <a:ext uri="{FF2B5EF4-FFF2-40B4-BE49-F238E27FC236}">
                <a16:creationId xmlns:a16="http://schemas.microsoft.com/office/drawing/2014/main" id="{4A4D1A42-7213-7676-C6E8-EC6269A27A08}"/>
              </a:ext>
            </a:extLst>
          </p:cNvPr>
          <p:cNvSpPr txBox="1">
            <a:spLocks/>
          </p:cNvSpPr>
          <p:nvPr/>
        </p:nvSpPr>
        <p:spPr>
          <a:xfrm>
            <a:off x="1810" y="6043022"/>
            <a:ext cx="1227730" cy="42962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>
                <a:solidFill>
                  <a:srgbClr val="F15E23"/>
                </a:solidFill>
                <a:latin typeface="Circe Bold" panose="020B0602020203020203" pitchFamily="34" charset="-52"/>
              </a:rPr>
              <a:t>Отдел:</a:t>
            </a:r>
          </a:p>
        </p:txBody>
      </p:sp>
      <p:sp>
        <p:nvSpPr>
          <p:cNvPr id="45" name="Заголовок 5">
            <a:extLst>
              <a:ext uri="{FF2B5EF4-FFF2-40B4-BE49-F238E27FC236}">
                <a16:creationId xmlns:a16="http://schemas.microsoft.com/office/drawing/2014/main" id="{2686E590-86DC-F5FF-49A9-21FF1D41473E}"/>
              </a:ext>
            </a:extLst>
          </p:cNvPr>
          <p:cNvSpPr txBox="1">
            <a:spLocks/>
          </p:cNvSpPr>
          <p:nvPr/>
        </p:nvSpPr>
        <p:spPr>
          <a:xfrm>
            <a:off x="40398" y="1422145"/>
            <a:ext cx="1259968" cy="1258543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dirty="0">
                <a:solidFill>
                  <a:srgbClr val="F15E23"/>
                </a:solidFill>
                <a:latin typeface="Circe Bold" panose="020B0602020203020203" pitchFamily="34" charset="-52"/>
              </a:rPr>
              <a:t>События</a:t>
            </a:r>
          </a:p>
          <a:p>
            <a:r>
              <a:rPr lang="ru-RU" sz="1800" dirty="0">
                <a:solidFill>
                  <a:srgbClr val="F15E23"/>
                </a:solidFill>
                <a:latin typeface="Circe Bold" panose="020B0602020203020203" pitchFamily="34" charset="-52"/>
              </a:rPr>
              <a:t>и планы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639453A-68D9-D2DA-5E1E-82D333A9B95F}"/>
              </a:ext>
            </a:extLst>
          </p:cNvPr>
          <p:cNvSpPr txBox="1"/>
          <p:nvPr/>
        </p:nvSpPr>
        <p:spPr>
          <a:xfrm>
            <a:off x="1166243" y="483264"/>
            <a:ext cx="3554132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573D8C"/>
                </a:solidFill>
                <a:latin typeface="Circe Bold" panose="020B0602020203020203" pitchFamily="34" charset="-52"/>
              </a:rPr>
              <a:t>Цифровые системы: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01B3FEE-BF2C-B13F-8F3F-3864F24B06D3}"/>
              </a:ext>
            </a:extLst>
          </p:cNvPr>
          <p:cNvSpPr txBox="1"/>
          <p:nvPr/>
        </p:nvSpPr>
        <p:spPr>
          <a:xfrm>
            <a:off x="4887732" y="483264"/>
            <a:ext cx="3600000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573D8C"/>
                </a:solidFill>
                <a:latin typeface="Circe Bold" panose="020B0602020203020203" pitchFamily="34" charset="-52"/>
              </a:rPr>
              <a:t>IT</a:t>
            </a:r>
            <a:r>
              <a:rPr lang="ru-RU" dirty="0">
                <a:solidFill>
                  <a:srgbClr val="573D8C"/>
                </a:solidFill>
                <a:latin typeface="Circe Bold" panose="020B0602020203020203" pitchFamily="34" charset="-52"/>
              </a:rPr>
              <a:t>, сети, оборудование: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3AD73F8-C715-7FF8-5766-6041283BEAC9}"/>
              </a:ext>
            </a:extLst>
          </p:cNvPr>
          <p:cNvSpPr txBox="1"/>
          <p:nvPr/>
        </p:nvSpPr>
        <p:spPr>
          <a:xfrm>
            <a:off x="8552284" y="483264"/>
            <a:ext cx="3600000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573D8C"/>
                </a:solidFill>
                <a:latin typeface="Circe Bold" panose="020B0602020203020203" pitchFamily="34" charset="-52"/>
              </a:rPr>
              <a:t>Бизнес-процессы и стратегии:</a:t>
            </a:r>
          </a:p>
        </p:txBody>
      </p:sp>
      <p:sp>
        <p:nvSpPr>
          <p:cNvPr id="67" name="Заголовок 5">
            <a:extLst>
              <a:ext uri="{FF2B5EF4-FFF2-40B4-BE49-F238E27FC236}">
                <a16:creationId xmlns:a16="http://schemas.microsoft.com/office/drawing/2014/main" id="{1D13394D-344E-A521-4F29-07FCB464C04C}"/>
              </a:ext>
            </a:extLst>
          </p:cNvPr>
          <p:cNvSpPr txBox="1">
            <a:spLocks/>
          </p:cNvSpPr>
          <p:nvPr/>
        </p:nvSpPr>
        <p:spPr>
          <a:xfrm>
            <a:off x="-44366" y="462538"/>
            <a:ext cx="1299590" cy="42962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dirty="0">
                <a:solidFill>
                  <a:srgbClr val="F15E23"/>
                </a:solidFill>
                <a:latin typeface="Circe Bold" panose="020B0602020203020203" pitchFamily="34" charset="-52"/>
              </a:rPr>
              <a:t>Метрики:</a:t>
            </a:r>
          </a:p>
        </p:txBody>
      </p:sp>
      <p:sp>
        <p:nvSpPr>
          <p:cNvPr id="72" name="Прямоугольник 71">
            <a:extLst>
              <a:ext uri="{FF2B5EF4-FFF2-40B4-BE49-F238E27FC236}">
                <a16:creationId xmlns:a16="http://schemas.microsoft.com/office/drawing/2014/main" id="{680E0B42-B90B-7AB9-12E3-6630F31D602E}"/>
              </a:ext>
            </a:extLst>
          </p:cNvPr>
          <p:cNvSpPr/>
          <p:nvPr/>
        </p:nvSpPr>
        <p:spPr>
          <a:xfrm>
            <a:off x="1208027" y="824529"/>
            <a:ext cx="3559323" cy="5040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20000"/>
              </a:lnSpc>
            </a:pPr>
            <a:r>
              <a:rPr lang="ru-RU" sz="1400" dirty="0">
                <a:solidFill>
                  <a:srgbClr val="1C125C"/>
                </a:solidFill>
                <a:latin typeface="Circe Light"/>
              </a:rPr>
              <a:t>Скорость разработки: </a:t>
            </a:r>
            <a:r>
              <a:rPr lang="ru-RU" sz="1400" dirty="0">
                <a:solidFill>
                  <a:srgbClr val="92D050"/>
                </a:solidFill>
                <a:latin typeface="Circe Light"/>
              </a:rPr>
              <a:t>99%</a:t>
            </a:r>
          </a:p>
          <a:p>
            <a:pPr>
              <a:lnSpc>
                <a:spcPct val="120000"/>
              </a:lnSpc>
            </a:pPr>
            <a:endParaRPr lang="ru-RU" sz="1400" dirty="0">
              <a:solidFill>
                <a:srgbClr val="1C125C"/>
              </a:solidFill>
              <a:latin typeface="Circe Light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ru-RU" sz="1400" dirty="0">
              <a:solidFill>
                <a:srgbClr val="1C125C"/>
              </a:solidFill>
              <a:latin typeface="Circe Light"/>
            </a:endParaRPr>
          </a:p>
        </p:txBody>
      </p:sp>
      <p:sp>
        <p:nvSpPr>
          <p:cNvPr id="73" name="Прямоугольник 72">
            <a:extLst>
              <a:ext uri="{FF2B5EF4-FFF2-40B4-BE49-F238E27FC236}">
                <a16:creationId xmlns:a16="http://schemas.microsoft.com/office/drawing/2014/main" id="{9202416D-89BB-1642-6128-F69CD019E3A3}"/>
              </a:ext>
            </a:extLst>
          </p:cNvPr>
          <p:cNvSpPr/>
          <p:nvPr/>
        </p:nvSpPr>
        <p:spPr>
          <a:xfrm>
            <a:off x="4859585" y="824529"/>
            <a:ext cx="3600000" cy="5040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sz="1400" dirty="0">
                <a:solidFill>
                  <a:srgbClr val="002060"/>
                </a:solidFill>
                <a:latin typeface="Circe Light" panose="020B0402020203020203" pitchFamily="34" charset="-52"/>
              </a:rPr>
              <a:t>Просроченные </a:t>
            </a:r>
            <a:r>
              <a:rPr lang="en-US" sz="1400" dirty="0">
                <a:solidFill>
                  <a:srgbClr val="002060"/>
                </a:solidFill>
                <a:latin typeface="Circe Light" panose="020B0402020203020203" pitchFamily="34" charset="-52"/>
              </a:rPr>
              <a:t>Helpdesk</a:t>
            </a:r>
            <a:r>
              <a:rPr lang="ru-RU" sz="1400" dirty="0">
                <a:solidFill>
                  <a:srgbClr val="573D8C"/>
                </a:solidFill>
                <a:latin typeface="Circe Light" panose="020B0402020203020203" pitchFamily="34" charset="-52"/>
              </a:rPr>
              <a:t>: 2</a:t>
            </a:r>
            <a:endParaRPr lang="ru-RU" sz="1400" dirty="0">
              <a:solidFill>
                <a:srgbClr val="FF0000"/>
              </a:solidFill>
              <a:latin typeface="Circe Light" panose="020B0402020203020203" pitchFamily="34" charset="-52"/>
            </a:endParaRPr>
          </a:p>
          <a:p>
            <a:r>
              <a:rPr lang="ru-RU" sz="1400" dirty="0">
                <a:solidFill>
                  <a:srgbClr val="002060"/>
                </a:solidFill>
                <a:latin typeface="Circe Light" panose="020B0402020203020203" pitchFamily="34" charset="-52"/>
              </a:rPr>
              <a:t>Простой сервисов за неделю: 0</a:t>
            </a:r>
            <a:endParaRPr lang="en-US" sz="1400" dirty="0">
              <a:solidFill>
                <a:srgbClr val="FF0000"/>
              </a:solidFill>
              <a:latin typeface="Circe Bold" panose="020B0602020203020203" pitchFamily="34" charset="-52"/>
            </a:endParaRPr>
          </a:p>
          <a:p>
            <a:endParaRPr lang="ru-RU" sz="1400" dirty="0">
              <a:solidFill>
                <a:srgbClr val="573D8C"/>
              </a:solidFill>
              <a:latin typeface="Circe Bold" panose="020B0602020203020203" pitchFamily="34" charset="-52"/>
            </a:endParaRPr>
          </a:p>
        </p:txBody>
      </p:sp>
      <p:sp>
        <p:nvSpPr>
          <p:cNvPr id="74" name="Прямоугольник 73">
            <a:extLst>
              <a:ext uri="{FF2B5EF4-FFF2-40B4-BE49-F238E27FC236}">
                <a16:creationId xmlns:a16="http://schemas.microsoft.com/office/drawing/2014/main" id="{FC1FE93A-AAB5-7E00-DF13-51CF23A446B2}"/>
              </a:ext>
            </a:extLst>
          </p:cNvPr>
          <p:cNvSpPr/>
          <p:nvPr/>
        </p:nvSpPr>
        <p:spPr>
          <a:xfrm>
            <a:off x="8585596" y="824529"/>
            <a:ext cx="3600000" cy="5040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20000"/>
              </a:lnSpc>
            </a:pPr>
            <a:r>
              <a:rPr lang="ru-RU" sz="1400" dirty="0">
                <a:solidFill>
                  <a:srgbClr val="1C125C"/>
                </a:solidFill>
                <a:latin typeface="Circe Light"/>
              </a:rPr>
              <a:t>Прогресс оптимизации: </a:t>
            </a:r>
            <a:r>
              <a:rPr lang="ru-RU" sz="1400" dirty="0">
                <a:solidFill>
                  <a:srgbClr val="00B050"/>
                </a:solidFill>
                <a:latin typeface="Circe Light"/>
              </a:rPr>
              <a:t>100%</a:t>
            </a:r>
          </a:p>
        </p:txBody>
      </p:sp>
      <p:sp>
        <p:nvSpPr>
          <p:cNvPr id="75" name="Заголовок 5">
            <a:extLst>
              <a:ext uri="{FF2B5EF4-FFF2-40B4-BE49-F238E27FC236}">
                <a16:creationId xmlns:a16="http://schemas.microsoft.com/office/drawing/2014/main" id="{A7AD4376-F2C2-6E62-2B55-2326376B2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650" y="7114"/>
            <a:ext cx="12196650" cy="366155"/>
          </a:xfrm>
          <a:solidFill>
            <a:srgbClr val="002060"/>
          </a:solidFill>
          <a:ln>
            <a:noFill/>
          </a:ln>
        </p:spPr>
        <p:txBody>
          <a:bodyPr>
            <a:normAutofit fontScale="90000"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Circe Light"/>
              </a:rPr>
              <a:t>IT/IS – </a:t>
            </a:r>
            <a:r>
              <a:rPr lang="ru-RU" sz="2400" dirty="0">
                <a:solidFill>
                  <a:schemeClr val="bg1"/>
                </a:solidFill>
                <a:latin typeface="Circe Light"/>
              </a:rPr>
              <a:t>Михаил Дударев</a:t>
            </a:r>
          </a:p>
        </p:txBody>
      </p:sp>
      <p:cxnSp>
        <p:nvCxnSpPr>
          <p:cNvPr id="79" name="Прямая соединительная линия 78">
            <a:extLst>
              <a:ext uri="{FF2B5EF4-FFF2-40B4-BE49-F238E27FC236}">
                <a16:creationId xmlns:a16="http://schemas.microsoft.com/office/drawing/2014/main" id="{3AD8CAEE-62BF-0D1B-E8AF-23C2572425DD}"/>
              </a:ext>
            </a:extLst>
          </p:cNvPr>
          <p:cNvCxnSpPr>
            <a:cxnSpLocks/>
          </p:cNvCxnSpPr>
          <p:nvPr/>
        </p:nvCxnSpPr>
        <p:spPr>
          <a:xfrm>
            <a:off x="1238063" y="1358759"/>
            <a:ext cx="10840257" cy="0"/>
          </a:xfrm>
          <a:prstGeom prst="line">
            <a:avLst/>
          </a:prstGeom>
          <a:ln>
            <a:solidFill>
              <a:srgbClr val="1C125C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F76117EF-02F2-AFA0-093A-FE13039A1751}"/>
              </a:ext>
            </a:extLst>
          </p:cNvPr>
          <p:cNvCxnSpPr>
            <a:cxnSpLocks/>
          </p:cNvCxnSpPr>
          <p:nvPr/>
        </p:nvCxnSpPr>
        <p:spPr>
          <a:xfrm>
            <a:off x="4828486" y="466429"/>
            <a:ext cx="0" cy="892329"/>
          </a:xfrm>
          <a:prstGeom prst="line">
            <a:avLst/>
          </a:prstGeom>
          <a:ln>
            <a:solidFill>
              <a:srgbClr val="1C125C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2C0E626A-6E25-54D1-F696-A48E93F3954B}"/>
              </a:ext>
            </a:extLst>
          </p:cNvPr>
          <p:cNvCxnSpPr>
            <a:cxnSpLocks/>
          </p:cNvCxnSpPr>
          <p:nvPr/>
        </p:nvCxnSpPr>
        <p:spPr>
          <a:xfrm>
            <a:off x="8430668" y="466429"/>
            <a:ext cx="0" cy="892330"/>
          </a:xfrm>
          <a:prstGeom prst="line">
            <a:avLst/>
          </a:prstGeom>
          <a:ln>
            <a:solidFill>
              <a:srgbClr val="1C125C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8728B22D-EC83-F652-4AD4-06198D2CC12F}"/>
              </a:ext>
            </a:extLst>
          </p:cNvPr>
          <p:cNvCxnSpPr>
            <a:cxnSpLocks/>
          </p:cNvCxnSpPr>
          <p:nvPr/>
        </p:nvCxnSpPr>
        <p:spPr>
          <a:xfrm>
            <a:off x="125700" y="6043022"/>
            <a:ext cx="11952620" cy="0"/>
          </a:xfrm>
          <a:prstGeom prst="line">
            <a:avLst/>
          </a:prstGeom>
          <a:ln>
            <a:solidFill>
              <a:srgbClr val="1C125C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0DBFA9C5-CB50-0F0C-E1B5-5917174878FD}"/>
              </a:ext>
            </a:extLst>
          </p:cNvPr>
          <p:cNvSpPr txBox="1">
            <a:spLocks/>
          </p:cNvSpPr>
          <p:nvPr/>
        </p:nvSpPr>
        <p:spPr>
          <a:xfrm>
            <a:off x="2987" y="5296939"/>
            <a:ext cx="1259969" cy="42962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>
                <a:solidFill>
                  <a:srgbClr val="F15E23"/>
                </a:solidFill>
                <a:latin typeface="Circe Bold" panose="020B0602020203020203" pitchFamily="34" charset="-52"/>
              </a:rPr>
              <a:t>А еще: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DF45A09-AA2D-181C-933C-0B2EF2A19352}"/>
              </a:ext>
            </a:extLst>
          </p:cNvPr>
          <p:cNvSpPr/>
          <p:nvPr/>
        </p:nvSpPr>
        <p:spPr>
          <a:xfrm>
            <a:off x="1300366" y="6355435"/>
            <a:ext cx="2131350" cy="4645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ru-RU" sz="1100" dirty="0">
              <a:solidFill>
                <a:srgbClr val="002060"/>
              </a:solidFill>
              <a:latin typeface="Circe Light" panose="020B0402020203020203" pitchFamily="34" charset="-52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1BA30F7-83B9-A960-F86C-B53080FBEFF8}"/>
              </a:ext>
            </a:extLst>
          </p:cNvPr>
          <p:cNvSpPr/>
          <p:nvPr/>
        </p:nvSpPr>
        <p:spPr>
          <a:xfrm>
            <a:off x="4915032" y="6355435"/>
            <a:ext cx="2131350" cy="4645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ru-RU" sz="1100" dirty="0">
              <a:solidFill>
                <a:srgbClr val="002060"/>
              </a:solidFill>
              <a:latin typeface="Circe Light" panose="020B0402020203020203" pitchFamily="34" charset="-52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9600482-D829-2985-C3F1-D68EA4C4C401}"/>
              </a:ext>
            </a:extLst>
          </p:cNvPr>
          <p:cNvSpPr/>
          <p:nvPr/>
        </p:nvSpPr>
        <p:spPr>
          <a:xfrm>
            <a:off x="8605362" y="6355435"/>
            <a:ext cx="2678155" cy="4645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ru-RU" sz="1100" dirty="0">
              <a:solidFill>
                <a:srgbClr val="002060"/>
              </a:solidFill>
              <a:latin typeface="Circe Light" panose="020B0402020203020203" pitchFamily="34" charset="-52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D8B1034-1462-D00D-572D-016E41647EA9}"/>
              </a:ext>
            </a:extLst>
          </p:cNvPr>
          <p:cNvSpPr/>
          <p:nvPr/>
        </p:nvSpPr>
        <p:spPr>
          <a:xfrm>
            <a:off x="1355480" y="5294164"/>
            <a:ext cx="4113166" cy="481339"/>
          </a:xfrm>
          <a:prstGeom prst="rect">
            <a:avLst/>
          </a:prstGeom>
          <a:solidFill>
            <a:srgbClr val="FF0000">
              <a:alpha val="16078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sz="1400" b="1" dirty="0">
                <a:solidFill>
                  <a:srgbClr val="002060"/>
                </a:solidFill>
                <a:latin typeface="Circe Light" panose="020B0402020203020203" pitchFamily="34" charset="-52"/>
              </a:rPr>
              <a:t>ГОСЛОГ СЛ – нас пока нет, финишная прямая</a:t>
            </a:r>
          </a:p>
          <a:p>
            <a:r>
              <a:rPr lang="ru-RU" sz="1400" b="1" dirty="0">
                <a:solidFill>
                  <a:srgbClr val="002060"/>
                </a:solidFill>
                <a:latin typeface="Circe Light" panose="020B0402020203020203" pitchFamily="34" charset="-52"/>
              </a:rPr>
              <a:t>+обращение в </a:t>
            </a:r>
            <a:r>
              <a:rPr lang="ru-RU" sz="1400" b="1" dirty="0" err="1">
                <a:solidFill>
                  <a:srgbClr val="002060"/>
                </a:solidFill>
                <a:latin typeface="Circe Light" panose="020B0402020203020203" pitchFamily="34" charset="-52"/>
              </a:rPr>
              <a:t>ространснадзор</a:t>
            </a:r>
            <a:endParaRPr lang="ru-RU" sz="1400" dirty="0">
              <a:solidFill>
                <a:srgbClr val="002060"/>
              </a:solidFill>
              <a:latin typeface="Circe Light" panose="020B0402020203020203" pitchFamily="34" charset="-52"/>
            </a:endParaRP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6C47E306-56C5-EB87-7452-FA940BCB503E}"/>
              </a:ext>
            </a:extLst>
          </p:cNvPr>
          <p:cNvSpPr/>
          <p:nvPr/>
        </p:nvSpPr>
        <p:spPr>
          <a:xfrm>
            <a:off x="4092295" y="1962472"/>
            <a:ext cx="2484481" cy="860450"/>
          </a:xfrm>
          <a:prstGeom prst="rect">
            <a:avLst/>
          </a:prstGeom>
          <a:solidFill>
            <a:srgbClr val="6F2EF0">
              <a:alpha val="16078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200" dirty="0">
                <a:solidFill>
                  <a:srgbClr val="002060"/>
                </a:solidFill>
                <a:latin typeface="Circe Light" panose="020B0402020203020203" pitchFamily="34" charset="-52"/>
              </a:rPr>
              <a:t>АТ 1.5 –перенос в ПРОД и наблюдение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936C554-587C-906E-3C23-EF8AFBB52D66}"/>
              </a:ext>
            </a:extLst>
          </p:cNvPr>
          <p:cNvSpPr/>
          <p:nvPr/>
        </p:nvSpPr>
        <p:spPr>
          <a:xfrm>
            <a:off x="6830743" y="1932326"/>
            <a:ext cx="2484481" cy="1073524"/>
          </a:xfrm>
          <a:prstGeom prst="rect">
            <a:avLst/>
          </a:prstGeom>
          <a:solidFill>
            <a:srgbClr val="6F2EF0">
              <a:alpha val="16078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rgbClr val="002060"/>
                </a:solidFill>
                <a:latin typeface="Circe Light" panose="020B0402020203020203" pitchFamily="34" charset="-52"/>
              </a:rPr>
              <a:t>Подключен резервный оператор Билайн для офиса СПб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A5329D4-9019-AB56-CBFC-88F34E98623F}"/>
              </a:ext>
            </a:extLst>
          </p:cNvPr>
          <p:cNvSpPr/>
          <p:nvPr/>
        </p:nvSpPr>
        <p:spPr>
          <a:xfrm>
            <a:off x="1408959" y="2823520"/>
            <a:ext cx="2484482" cy="758346"/>
          </a:xfrm>
          <a:prstGeom prst="rect">
            <a:avLst/>
          </a:prstGeom>
          <a:solidFill>
            <a:srgbClr val="7030A0">
              <a:alpha val="16078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sz="1200" dirty="0">
                <a:solidFill>
                  <a:srgbClr val="002060"/>
                </a:solidFill>
                <a:latin typeface="Circe Light" panose="020B0402020203020203" pitchFamily="34" charset="-52"/>
              </a:rPr>
              <a:t>Сен-</a:t>
            </a:r>
            <a:r>
              <a:rPr lang="ru-RU" sz="1200" dirty="0" err="1">
                <a:solidFill>
                  <a:srgbClr val="002060"/>
                </a:solidFill>
                <a:latin typeface="Circe Light" panose="020B0402020203020203" pitchFamily="34" charset="-52"/>
              </a:rPr>
              <a:t>Гобен</a:t>
            </a:r>
            <a:r>
              <a:rPr lang="ru-RU" sz="1200" dirty="0">
                <a:solidFill>
                  <a:srgbClr val="002060"/>
                </a:solidFill>
                <a:latin typeface="Circe Light" panose="020B0402020203020203" pitchFamily="34" charset="-52"/>
              </a:rPr>
              <a:t> – делаем тестовую перевозку 23 июня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79FB358-E6EC-1608-33BB-D0F5713B5E47}"/>
              </a:ext>
            </a:extLst>
          </p:cNvPr>
          <p:cNvSpPr/>
          <p:nvPr/>
        </p:nvSpPr>
        <p:spPr>
          <a:xfrm>
            <a:off x="1408959" y="1967215"/>
            <a:ext cx="2484482" cy="758346"/>
          </a:xfrm>
          <a:prstGeom prst="rect">
            <a:avLst/>
          </a:prstGeom>
          <a:solidFill>
            <a:srgbClr val="7030A0">
              <a:alpha val="16078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sz="1200" dirty="0">
                <a:solidFill>
                  <a:srgbClr val="002060"/>
                </a:solidFill>
                <a:latin typeface="Circe Light" panose="020B0402020203020203" pitchFamily="34" charset="-52"/>
              </a:rPr>
              <a:t>Озон – проблемы с концепцией </a:t>
            </a:r>
            <a:r>
              <a:rPr lang="ru-RU" sz="1200" dirty="0" err="1">
                <a:solidFill>
                  <a:srgbClr val="002060"/>
                </a:solidFill>
                <a:latin typeface="Circe Light" panose="020B0402020203020203" pitchFamily="34" charset="-52"/>
              </a:rPr>
              <a:t>мультимодалки</a:t>
            </a:r>
            <a:r>
              <a:rPr lang="ru-RU" sz="1200" dirty="0">
                <a:solidFill>
                  <a:srgbClr val="002060"/>
                </a:solidFill>
                <a:latin typeface="Circe Light" panose="020B0402020203020203" pitchFamily="34" charset="-52"/>
              </a:rPr>
              <a:t>, на самом деле не готовы к переходу</a:t>
            </a:r>
          </a:p>
          <a:p>
            <a:endParaRPr lang="ru-RU" sz="1200" dirty="0">
              <a:solidFill>
                <a:srgbClr val="002060"/>
              </a:solidFill>
              <a:latin typeface="Circe Light" panose="020B0402020203020203" pitchFamily="34" charset="-52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A2C3640-557D-6406-0BA5-361F3915EE58}"/>
              </a:ext>
            </a:extLst>
          </p:cNvPr>
          <p:cNvSpPr/>
          <p:nvPr/>
        </p:nvSpPr>
        <p:spPr>
          <a:xfrm>
            <a:off x="4092295" y="2903060"/>
            <a:ext cx="2484481" cy="860450"/>
          </a:xfrm>
          <a:prstGeom prst="rect">
            <a:avLst/>
          </a:prstGeom>
          <a:solidFill>
            <a:srgbClr val="6F2EF0">
              <a:alpha val="16078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100" dirty="0">
                <a:solidFill>
                  <a:srgbClr val="002060"/>
                </a:solidFill>
                <a:latin typeface="Circe Light" panose="020B0402020203020203" pitchFamily="34" charset="-52"/>
              </a:rPr>
              <a:t>УАТ – Перенесен новый АРМ. Кирилл и Вова поддерживают оперативное решение недочетов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FF2D551-83DC-B819-395E-B803CCB4E871}"/>
              </a:ext>
            </a:extLst>
          </p:cNvPr>
          <p:cNvSpPr/>
          <p:nvPr/>
        </p:nvSpPr>
        <p:spPr>
          <a:xfrm>
            <a:off x="4092295" y="3920793"/>
            <a:ext cx="2484481" cy="860450"/>
          </a:xfrm>
          <a:prstGeom prst="rect">
            <a:avLst/>
          </a:prstGeom>
          <a:solidFill>
            <a:srgbClr val="6F2EF0">
              <a:alpha val="16078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100" dirty="0">
                <a:solidFill>
                  <a:srgbClr val="002060"/>
                </a:solidFill>
                <a:latin typeface="Circe Light" panose="020B0402020203020203" pitchFamily="34" charset="-52"/>
              </a:rPr>
              <a:t>ДО – поменяли ЮР Адрес СГ.</a:t>
            </a:r>
          </a:p>
          <a:p>
            <a:r>
              <a:rPr lang="ru-RU" sz="1100" dirty="0">
                <a:solidFill>
                  <a:srgbClr val="002060"/>
                </a:solidFill>
                <a:latin typeface="Circe Light" panose="020B0402020203020203" pitchFamily="34" charset="-52"/>
              </a:rPr>
              <a:t>Катя работает над обновлением шаблонов ДО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0919B99-C107-A70F-3D02-43111F3818FB}"/>
              </a:ext>
            </a:extLst>
          </p:cNvPr>
          <p:cNvSpPr/>
          <p:nvPr/>
        </p:nvSpPr>
        <p:spPr>
          <a:xfrm>
            <a:off x="9549448" y="1936526"/>
            <a:ext cx="2484482" cy="1984267"/>
          </a:xfrm>
          <a:prstGeom prst="rect">
            <a:avLst/>
          </a:prstGeom>
          <a:solidFill>
            <a:srgbClr val="7030A0">
              <a:alpha val="16078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ru-RU" sz="1200" dirty="0">
              <a:solidFill>
                <a:srgbClr val="002060"/>
              </a:solidFill>
              <a:latin typeface="Circe Light" panose="020B0402020203020203" pitchFamily="34" charset="-52"/>
            </a:endParaRPr>
          </a:p>
          <a:p>
            <a:r>
              <a:rPr lang="ru-RU" sz="1200" dirty="0">
                <a:solidFill>
                  <a:srgbClr val="002060"/>
                </a:solidFill>
                <a:latin typeface="Circe Light" panose="020B0402020203020203" pitchFamily="34" charset="-52"/>
              </a:rPr>
              <a:t>Ситуация с Астрал. Подпись</a:t>
            </a:r>
          </a:p>
          <a:p>
            <a:endParaRPr lang="ru-RU" sz="1200" dirty="0">
              <a:solidFill>
                <a:srgbClr val="002060"/>
              </a:solidFill>
              <a:latin typeface="Circe Light" panose="020B0402020203020203" pitchFamily="34" charset="-52"/>
            </a:endParaRPr>
          </a:p>
          <a:p>
            <a:r>
              <a:rPr lang="ru-RU" sz="1200" dirty="0">
                <a:solidFill>
                  <a:srgbClr val="002060"/>
                </a:solidFill>
                <a:latin typeface="Circe Light" panose="020B0402020203020203" pitchFamily="34" charset="-52"/>
              </a:rPr>
              <a:t>Почти все вопросы закрыты, кроме МП ЭПД и выпуска новых подписей для УКЭП УНЭП</a:t>
            </a:r>
          </a:p>
          <a:p>
            <a:endParaRPr lang="ru-RU" sz="1200" dirty="0">
              <a:solidFill>
                <a:srgbClr val="002060"/>
              </a:solidFill>
              <a:latin typeface="Circe Light" panose="020B0402020203020203" pitchFamily="34" charset="-52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3548368-6770-3DF3-8544-D7C0909F86B8}"/>
              </a:ext>
            </a:extLst>
          </p:cNvPr>
          <p:cNvSpPr/>
          <p:nvPr/>
        </p:nvSpPr>
        <p:spPr>
          <a:xfrm>
            <a:off x="1408959" y="3712340"/>
            <a:ext cx="2484482" cy="1152198"/>
          </a:xfrm>
          <a:prstGeom prst="rect">
            <a:avLst/>
          </a:prstGeom>
          <a:solidFill>
            <a:srgbClr val="7030A0">
              <a:alpha val="16078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sz="1200" dirty="0">
                <a:solidFill>
                  <a:srgbClr val="002060"/>
                </a:solidFill>
                <a:latin typeface="Circe Light" panose="020B0402020203020203" pitchFamily="34" charset="-52"/>
              </a:rPr>
              <a:t>ЭПД – вышел релиз с ЛОП оформитель, протестировали, нашли ошибки – ждем исправления.</a:t>
            </a:r>
          </a:p>
          <a:p>
            <a:r>
              <a:rPr lang="ru-RU" sz="1200" dirty="0">
                <a:solidFill>
                  <a:srgbClr val="002060"/>
                </a:solidFill>
                <a:latin typeface="Circe Light" panose="020B0402020203020203" pitchFamily="34" charset="-52"/>
              </a:rPr>
              <a:t>Также, ждем решения проблем Астрал с МП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A02FC96-EAA2-849D-A851-7ACB4A3DD96D}"/>
              </a:ext>
            </a:extLst>
          </p:cNvPr>
          <p:cNvSpPr/>
          <p:nvPr/>
        </p:nvSpPr>
        <p:spPr>
          <a:xfrm>
            <a:off x="6830743" y="3089008"/>
            <a:ext cx="2484481" cy="1073524"/>
          </a:xfrm>
          <a:prstGeom prst="rect">
            <a:avLst/>
          </a:prstGeom>
          <a:solidFill>
            <a:srgbClr val="6F2EF0">
              <a:alpha val="16078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rgbClr val="002060"/>
                </a:solidFill>
                <a:latin typeface="Circe Light" panose="020B0402020203020203" pitchFamily="34" charset="-52"/>
              </a:rPr>
              <a:t>Установлен новый коммутатор для 5 этажа</a:t>
            </a:r>
          </a:p>
        </p:txBody>
      </p:sp>
    </p:spTree>
    <p:extLst>
      <p:ext uri="{BB962C8B-B14F-4D97-AF65-F5344CB8AC3E}">
        <p14:creationId xmlns:p14="http://schemas.microsoft.com/office/powerpoint/2010/main" val="7342761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A946D49A-3400-487E-A392-F53D05FCBF29}"/>
              </a:ext>
            </a:extLst>
          </p:cNvPr>
          <p:cNvSpPr txBox="1">
            <a:spLocks/>
          </p:cNvSpPr>
          <p:nvPr/>
        </p:nvSpPr>
        <p:spPr>
          <a:xfrm>
            <a:off x="0" y="231566"/>
            <a:ext cx="12014448" cy="58940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10000" b="1" dirty="0">
                <a:solidFill>
                  <a:srgbClr val="1C125C"/>
                </a:solidFill>
                <a:latin typeface="Circe Light" panose="020B0402020203020203" pitchFamily="34" charset="-52"/>
                <a:cs typeface="Calibri Light" panose="020F0302020204030204" pitchFamily="34" charset="0"/>
              </a:rPr>
              <a:t>Исполнительный Директор</a:t>
            </a:r>
          </a:p>
          <a:p>
            <a:pPr>
              <a:lnSpc>
                <a:spcPct val="100000"/>
              </a:lnSpc>
            </a:pPr>
            <a:r>
              <a:rPr lang="ru-RU" sz="10000" b="1" dirty="0">
                <a:solidFill>
                  <a:srgbClr val="1C125C"/>
                </a:solidFill>
                <a:latin typeface="Circe Light" panose="020B0402020203020203" pitchFamily="34" charset="-52"/>
                <a:cs typeface="Calibri Light" panose="020F0302020204030204" pitchFamily="34" charset="0"/>
              </a:rPr>
              <a:t>Генеральный Директор</a:t>
            </a:r>
            <a:endParaRPr lang="en-US" sz="10000" b="1" dirty="0">
              <a:solidFill>
                <a:srgbClr val="FD5000"/>
              </a:solidFill>
              <a:latin typeface="Circe Light" panose="020B0402020203020203" pitchFamily="34" charset="-52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806598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14703</TotalTime>
  <Words>2574</Words>
  <Application>Microsoft Office PowerPoint</Application>
  <PresentationFormat>Широкоэкранный</PresentationFormat>
  <Paragraphs>714</Paragraphs>
  <Slides>16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8" baseType="lpstr">
      <vt:lpstr>Arial</vt:lpstr>
      <vt:lpstr>Calibri</vt:lpstr>
      <vt:lpstr>Calibri Light</vt:lpstr>
      <vt:lpstr>Circe</vt:lpstr>
      <vt:lpstr>Circe Bold</vt:lpstr>
      <vt:lpstr>Circe Light</vt:lpstr>
      <vt:lpstr>Courier New</vt:lpstr>
      <vt:lpstr>Segoe UI</vt:lpstr>
      <vt:lpstr>system-ui</vt:lpstr>
      <vt:lpstr>Times New Roman</vt:lpstr>
      <vt:lpstr>Wingdings</vt:lpstr>
      <vt:lpstr>Тема Office</vt:lpstr>
      <vt:lpstr>Презентация PowerPoint</vt:lpstr>
      <vt:lpstr>Директор по Перевозкам</vt:lpstr>
      <vt:lpstr>Соколовская А.</vt:lpstr>
      <vt:lpstr>Ключевые события прошлой недели:</vt:lpstr>
      <vt:lpstr>Ключевые события прошлой недели:</vt:lpstr>
      <vt:lpstr>Ключевые события прошлой недели:</vt:lpstr>
      <vt:lpstr>Ключевые события прошлой недели:</vt:lpstr>
      <vt:lpstr>КС СЛ</vt:lpstr>
      <vt:lpstr>Презентация PowerPoint</vt:lpstr>
      <vt:lpstr>Ключевые события 25 недели:</vt:lpstr>
      <vt:lpstr>Ключевые события прошлой недели:</vt:lpstr>
      <vt:lpstr>Судебные дела </vt:lpstr>
      <vt:lpstr>Презентация PowerPoint</vt:lpstr>
      <vt:lpstr>HR – Пласковицкая Екатерина</vt:lpstr>
      <vt:lpstr>IT/IS – Михаил Дударев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Родион Лещенко</dc:creator>
  <cp:lastModifiedBy>Михаил Дударев</cp:lastModifiedBy>
  <cp:revision>950</cp:revision>
  <cp:lastPrinted>2025-03-17T06:37:51Z</cp:lastPrinted>
  <dcterms:created xsi:type="dcterms:W3CDTF">2023-05-16T12:09:13Z</dcterms:created>
  <dcterms:modified xsi:type="dcterms:W3CDTF">2026-06-22T06:57:06Z</dcterms:modified>
</cp:coreProperties>
</file>